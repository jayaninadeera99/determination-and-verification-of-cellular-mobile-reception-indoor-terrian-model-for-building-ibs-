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sldIdLst>
    <p:sldId id="256" r:id="rId3"/>
    <p:sldId id="257" r:id="rId4"/>
    <p:sldId id="258" r:id="rId5"/>
    <p:sldId id="263" r:id="rId6"/>
    <p:sldId id="264" r:id="rId7"/>
    <p:sldId id="265" r:id="rId8"/>
    <p:sldId id="266" r:id="rId9"/>
    <p:sldId id="280" r:id="rId10"/>
    <p:sldId id="267" r:id="rId11"/>
    <p:sldId id="268" r:id="rId12"/>
    <p:sldId id="269" r:id="rId13"/>
    <p:sldId id="270" r:id="rId14"/>
    <p:sldId id="271" r:id="rId15"/>
    <p:sldId id="272" r:id="rId16"/>
    <p:sldId id="273" r:id="rId17"/>
    <p:sldId id="274" r:id="rId18"/>
    <p:sldId id="275" r:id="rId19"/>
    <p:sldId id="276" r:id="rId20"/>
    <p:sldId id="277" r:id="rId21"/>
    <p:sldId id="278" r:id="rId22"/>
    <p:sldId id="279" r:id="rId2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70" d="100"/>
          <a:sy n="70" d="100"/>
        </p:scale>
        <p:origin x="738" y="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theme" Target="theme/theme1.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presProps" Target="pres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ADA62D-4E6E-E565-9991-723513000E1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75F92F23-6CD2-4D37-A3BF-C724EBA0583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CA60874B-5703-70DB-1460-A54D1BF6BB25}"/>
              </a:ext>
            </a:extLst>
          </p:cNvPr>
          <p:cNvSpPr>
            <a:spLocks noGrp="1"/>
          </p:cNvSpPr>
          <p:nvPr>
            <p:ph type="dt" sz="half" idx="10"/>
          </p:nvPr>
        </p:nvSpPr>
        <p:spPr/>
        <p:txBody>
          <a:bodyPr/>
          <a:lstStyle/>
          <a:p>
            <a:fld id="{ECC028D5-DD36-4811-A840-139161BBD398}" type="datetimeFigureOut">
              <a:rPr lang="en-GB" smtClean="0"/>
              <a:t>15/05/2024</a:t>
            </a:fld>
            <a:endParaRPr lang="en-GB"/>
          </a:p>
        </p:txBody>
      </p:sp>
      <p:sp>
        <p:nvSpPr>
          <p:cNvPr id="5" name="Footer Placeholder 4">
            <a:extLst>
              <a:ext uri="{FF2B5EF4-FFF2-40B4-BE49-F238E27FC236}">
                <a16:creationId xmlns:a16="http://schemas.microsoft.com/office/drawing/2014/main" id="{BDF746B7-A775-C8D4-3183-F98A2C0580F2}"/>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30DFACC2-4C0E-BE62-2C3C-89AF6F2A2B28}"/>
              </a:ext>
            </a:extLst>
          </p:cNvPr>
          <p:cNvSpPr>
            <a:spLocks noGrp="1"/>
          </p:cNvSpPr>
          <p:nvPr>
            <p:ph type="sldNum" sz="quarter" idx="12"/>
          </p:nvPr>
        </p:nvSpPr>
        <p:spPr/>
        <p:txBody>
          <a:bodyPr/>
          <a:lstStyle/>
          <a:p>
            <a:fld id="{8F4D93C4-7774-47F4-893B-5B7ED65450B2}" type="slidenum">
              <a:rPr lang="en-GB" smtClean="0"/>
              <a:t>‹#›</a:t>
            </a:fld>
            <a:endParaRPr lang="en-GB"/>
          </a:p>
        </p:txBody>
      </p:sp>
    </p:spTree>
    <p:extLst>
      <p:ext uri="{BB962C8B-B14F-4D97-AF65-F5344CB8AC3E}">
        <p14:creationId xmlns:p14="http://schemas.microsoft.com/office/powerpoint/2010/main" val="24164220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B3216E-CE6A-6D8C-75BF-DFA2528DD673}"/>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1D043195-AD7D-717A-1BEC-911AE8994DC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34F8B172-8F0F-9E11-A46B-6E5A9558ADB8}"/>
              </a:ext>
            </a:extLst>
          </p:cNvPr>
          <p:cNvSpPr>
            <a:spLocks noGrp="1"/>
          </p:cNvSpPr>
          <p:nvPr>
            <p:ph type="dt" sz="half" idx="10"/>
          </p:nvPr>
        </p:nvSpPr>
        <p:spPr/>
        <p:txBody>
          <a:bodyPr/>
          <a:lstStyle/>
          <a:p>
            <a:fld id="{ECC028D5-DD36-4811-A840-139161BBD398}" type="datetimeFigureOut">
              <a:rPr lang="en-GB" smtClean="0"/>
              <a:t>15/05/2024</a:t>
            </a:fld>
            <a:endParaRPr lang="en-GB"/>
          </a:p>
        </p:txBody>
      </p:sp>
      <p:sp>
        <p:nvSpPr>
          <p:cNvPr id="5" name="Footer Placeholder 4">
            <a:extLst>
              <a:ext uri="{FF2B5EF4-FFF2-40B4-BE49-F238E27FC236}">
                <a16:creationId xmlns:a16="http://schemas.microsoft.com/office/drawing/2014/main" id="{1414F3B5-1513-ACE5-4FA3-12A8D9B37B1D}"/>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CF56E2B3-30F0-EA7F-08E0-89DA0057719E}"/>
              </a:ext>
            </a:extLst>
          </p:cNvPr>
          <p:cNvSpPr>
            <a:spLocks noGrp="1"/>
          </p:cNvSpPr>
          <p:nvPr>
            <p:ph type="sldNum" sz="quarter" idx="12"/>
          </p:nvPr>
        </p:nvSpPr>
        <p:spPr/>
        <p:txBody>
          <a:bodyPr/>
          <a:lstStyle/>
          <a:p>
            <a:fld id="{8F4D93C4-7774-47F4-893B-5B7ED65450B2}" type="slidenum">
              <a:rPr lang="en-GB" smtClean="0"/>
              <a:t>‹#›</a:t>
            </a:fld>
            <a:endParaRPr lang="en-GB"/>
          </a:p>
        </p:txBody>
      </p:sp>
    </p:spTree>
    <p:extLst>
      <p:ext uri="{BB962C8B-B14F-4D97-AF65-F5344CB8AC3E}">
        <p14:creationId xmlns:p14="http://schemas.microsoft.com/office/powerpoint/2010/main" val="156703510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F72524-9265-53FB-D353-BD925DADC6B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0170A762-FA2E-7829-92A3-3C4AA95DB69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162772B-C207-7A41-B684-C387EF3707F8}"/>
              </a:ext>
            </a:extLst>
          </p:cNvPr>
          <p:cNvSpPr>
            <a:spLocks noGrp="1"/>
          </p:cNvSpPr>
          <p:nvPr>
            <p:ph type="dt" sz="half" idx="10"/>
          </p:nvPr>
        </p:nvSpPr>
        <p:spPr/>
        <p:txBody>
          <a:bodyPr/>
          <a:lstStyle/>
          <a:p>
            <a:fld id="{ECC028D5-DD36-4811-A840-139161BBD398}" type="datetimeFigureOut">
              <a:rPr lang="en-GB" smtClean="0"/>
              <a:t>15/05/2024</a:t>
            </a:fld>
            <a:endParaRPr lang="en-GB"/>
          </a:p>
        </p:txBody>
      </p:sp>
      <p:sp>
        <p:nvSpPr>
          <p:cNvPr id="5" name="Footer Placeholder 4">
            <a:extLst>
              <a:ext uri="{FF2B5EF4-FFF2-40B4-BE49-F238E27FC236}">
                <a16:creationId xmlns:a16="http://schemas.microsoft.com/office/drawing/2014/main" id="{8329940D-8ED5-D14D-2313-5861EAB63506}"/>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FECCD374-7FCE-AE69-2817-9E995C98FBAE}"/>
              </a:ext>
            </a:extLst>
          </p:cNvPr>
          <p:cNvSpPr>
            <a:spLocks noGrp="1"/>
          </p:cNvSpPr>
          <p:nvPr>
            <p:ph type="sldNum" sz="quarter" idx="12"/>
          </p:nvPr>
        </p:nvSpPr>
        <p:spPr/>
        <p:txBody>
          <a:bodyPr/>
          <a:lstStyle/>
          <a:p>
            <a:fld id="{8F4D93C4-7774-47F4-893B-5B7ED65450B2}" type="slidenum">
              <a:rPr lang="en-GB" smtClean="0"/>
              <a:t>‹#›</a:t>
            </a:fld>
            <a:endParaRPr lang="en-GB"/>
          </a:p>
        </p:txBody>
      </p:sp>
    </p:spTree>
    <p:extLst>
      <p:ext uri="{BB962C8B-B14F-4D97-AF65-F5344CB8AC3E}">
        <p14:creationId xmlns:p14="http://schemas.microsoft.com/office/powerpoint/2010/main" val="191646675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6C4EB8-FB11-2F5E-16C3-2CB3CF3CB4B9}"/>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B31E3684-3E5C-84B0-7A85-BDB13A06D50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33CAE2AA-CA43-1889-EFD5-743E7EE49AF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F46B3C68-4F04-6C9B-06BD-658C7FD26768}"/>
              </a:ext>
            </a:extLst>
          </p:cNvPr>
          <p:cNvSpPr>
            <a:spLocks noGrp="1"/>
          </p:cNvSpPr>
          <p:nvPr>
            <p:ph type="dt" sz="half" idx="10"/>
          </p:nvPr>
        </p:nvSpPr>
        <p:spPr/>
        <p:txBody>
          <a:bodyPr/>
          <a:lstStyle/>
          <a:p>
            <a:fld id="{ECC028D5-DD36-4811-A840-139161BBD398}" type="datetimeFigureOut">
              <a:rPr lang="en-GB" smtClean="0"/>
              <a:t>15/05/2024</a:t>
            </a:fld>
            <a:endParaRPr lang="en-GB"/>
          </a:p>
        </p:txBody>
      </p:sp>
      <p:sp>
        <p:nvSpPr>
          <p:cNvPr id="6" name="Footer Placeholder 5">
            <a:extLst>
              <a:ext uri="{FF2B5EF4-FFF2-40B4-BE49-F238E27FC236}">
                <a16:creationId xmlns:a16="http://schemas.microsoft.com/office/drawing/2014/main" id="{F8F2D0DC-A347-EFDE-056E-3A7E034A73B5}"/>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FEA39A12-7E62-EDBB-FB20-EE4ECBA61A6D}"/>
              </a:ext>
            </a:extLst>
          </p:cNvPr>
          <p:cNvSpPr>
            <a:spLocks noGrp="1"/>
          </p:cNvSpPr>
          <p:nvPr>
            <p:ph type="sldNum" sz="quarter" idx="12"/>
          </p:nvPr>
        </p:nvSpPr>
        <p:spPr/>
        <p:txBody>
          <a:bodyPr/>
          <a:lstStyle/>
          <a:p>
            <a:fld id="{8F4D93C4-7774-47F4-893B-5B7ED65450B2}" type="slidenum">
              <a:rPr lang="en-GB" smtClean="0"/>
              <a:t>‹#›</a:t>
            </a:fld>
            <a:endParaRPr lang="en-GB"/>
          </a:p>
        </p:txBody>
      </p:sp>
    </p:spTree>
    <p:extLst>
      <p:ext uri="{BB962C8B-B14F-4D97-AF65-F5344CB8AC3E}">
        <p14:creationId xmlns:p14="http://schemas.microsoft.com/office/powerpoint/2010/main" val="1502252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DF70F9-28E6-F0B8-9563-FA87F9B775B1}"/>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F5BBB835-D63F-9EE3-F2CA-E32A06670FB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C747C72-382D-271A-B679-7BA36852E71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152AD35F-26A3-A21A-65BE-7F7CEDE4209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F199704-5A63-05F1-E5B8-242E9CF57EE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F54AB751-5EA4-1C07-AD26-ED820D2177FB}"/>
              </a:ext>
            </a:extLst>
          </p:cNvPr>
          <p:cNvSpPr>
            <a:spLocks noGrp="1"/>
          </p:cNvSpPr>
          <p:nvPr>
            <p:ph type="dt" sz="half" idx="10"/>
          </p:nvPr>
        </p:nvSpPr>
        <p:spPr/>
        <p:txBody>
          <a:bodyPr/>
          <a:lstStyle/>
          <a:p>
            <a:fld id="{ECC028D5-DD36-4811-A840-139161BBD398}" type="datetimeFigureOut">
              <a:rPr lang="en-GB" smtClean="0"/>
              <a:t>15/05/2024</a:t>
            </a:fld>
            <a:endParaRPr lang="en-GB"/>
          </a:p>
        </p:txBody>
      </p:sp>
      <p:sp>
        <p:nvSpPr>
          <p:cNvPr id="8" name="Footer Placeholder 7">
            <a:extLst>
              <a:ext uri="{FF2B5EF4-FFF2-40B4-BE49-F238E27FC236}">
                <a16:creationId xmlns:a16="http://schemas.microsoft.com/office/drawing/2014/main" id="{1F4115FF-5AE2-E323-14F3-F1D5FB92E3A5}"/>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F8AF4FFE-E349-3B35-D80C-4AD2E80DDC65}"/>
              </a:ext>
            </a:extLst>
          </p:cNvPr>
          <p:cNvSpPr>
            <a:spLocks noGrp="1"/>
          </p:cNvSpPr>
          <p:nvPr>
            <p:ph type="sldNum" sz="quarter" idx="12"/>
          </p:nvPr>
        </p:nvSpPr>
        <p:spPr/>
        <p:txBody>
          <a:bodyPr/>
          <a:lstStyle/>
          <a:p>
            <a:fld id="{8F4D93C4-7774-47F4-893B-5B7ED65450B2}" type="slidenum">
              <a:rPr lang="en-GB" smtClean="0"/>
              <a:t>‹#›</a:t>
            </a:fld>
            <a:endParaRPr lang="en-GB"/>
          </a:p>
        </p:txBody>
      </p:sp>
    </p:spTree>
    <p:extLst>
      <p:ext uri="{BB962C8B-B14F-4D97-AF65-F5344CB8AC3E}">
        <p14:creationId xmlns:p14="http://schemas.microsoft.com/office/powerpoint/2010/main" val="423527828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1CDCA7-6275-7FD1-AC2A-EE86CF227BCA}"/>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C0814EC3-3A32-390F-2D2A-D081FEDA77CC}"/>
              </a:ext>
            </a:extLst>
          </p:cNvPr>
          <p:cNvSpPr>
            <a:spLocks noGrp="1"/>
          </p:cNvSpPr>
          <p:nvPr>
            <p:ph type="dt" sz="half" idx="10"/>
          </p:nvPr>
        </p:nvSpPr>
        <p:spPr/>
        <p:txBody>
          <a:bodyPr/>
          <a:lstStyle/>
          <a:p>
            <a:fld id="{ECC028D5-DD36-4811-A840-139161BBD398}" type="datetimeFigureOut">
              <a:rPr lang="en-GB" smtClean="0"/>
              <a:t>15/05/2024</a:t>
            </a:fld>
            <a:endParaRPr lang="en-GB"/>
          </a:p>
        </p:txBody>
      </p:sp>
      <p:sp>
        <p:nvSpPr>
          <p:cNvPr id="4" name="Footer Placeholder 3">
            <a:extLst>
              <a:ext uri="{FF2B5EF4-FFF2-40B4-BE49-F238E27FC236}">
                <a16:creationId xmlns:a16="http://schemas.microsoft.com/office/drawing/2014/main" id="{11B060E4-C664-87E9-447D-29BAA02AB460}"/>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244B0F3C-30B3-139F-4E34-781600606C06}"/>
              </a:ext>
            </a:extLst>
          </p:cNvPr>
          <p:cNvSpPr>
            <a:spLocks noGrp="1"/>
          </p:cNvSpPr>
          <p:nvPr>
            <p:ph type="sldNum" sz="quarter" idx="12"/>
          </p:nvPr>
        </p:nvSpPr>
        <p:spPr/>
        <p:txBody>
          <a:bodyPr/>
          <a:lstStyle/>
          <a:p>
            <a:fld id="{8F4D93C4-7774-47F4-893B-5B7ED65450B2}" type="slidenum">
              <a:rPr lang="en-GB" smtClean="0"/>
              <a:t>‹#›</a:t>
            </a:fld>
            <a:endParaRPr lang="en-GB"/>
          </a:p>
        </p:txBody>
      </p:sp>
    </p:spTree>
    <p:extLst>
      <p:ext uri="{BB962C8B-B14F-4D97-AF65-F5344CB8AC3E}">
        <p14:creationId xmlns:p14="http://schemas.microsoft.com/office/powerpoint/2010/main" val="202020327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C5ACAB6-54F2-8850-C2C1-BE1AFB906EC5}"/>
              </a:ext>
            </a:extLst>
          </p:cNvPr>
          <p:cNvSpPr>
            <a:spLocks noGrp="1"/>
          </p:cNvSpPr>
          <p:nvPr>
            <p:ph type="dt" sz="half" idx="10"/>
          </p:nvPr>
        </p:nvSpPr>
        <p:spPr/>
        <p:txBody>
          <a:bodyPr/>
          <a:lstStyle/>
          <a:p>
            <a:fld id="{ECC028D5-DD36-4811-A840-139161BBD398}" type="datetimeFigureOut">
              <a:rPr lang="en-GB" smtClean="0"/>
              <a:t>15/05/2024</a:t>
            </a:fld>
            <a:endParaRPr lang="en-GB"/>
          </a:p>
        </p:txBody>
      </p:sp>
      <p:sp>
        <p:nvSpPr>
          <p:cNvPr id="3" name="Footer Placeholder 2">
            <a:extLst>
              <a:ext uri="{FF2B5EF4-FFF2-40B4-BE49-F238E27FC236}">
                <a16:creationId xmlns:a16="http://schemas.microsoft.com/office/drawing/2014/main" id="{E3C028D6-BBA0-E4CB-96F9-DC5157FD3B19}"/>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2D460432-30B9-6C56-F4E9-F8513252B4BC}"/>
              </a:ext>
            </a:extLst>
          </p:cNvPr>
          <p:cNvSpPr>
            <a:spLocks noGrp="1"/>
          </p:cNvSpPr>
          <p:nvPr>
            <p:ph type="sldNum" sz="quarter" idx="12"/>
          </p:nvPr>
        </p:nvSpPr>
        <p:spPr/>
        <p:txBody>
          <a:bodyPr/>
          <a:lstStyle/>
          <a:p>
            <a:fld id="{8F4D93C4-7774-47F4-893B-5B7ED65450B2}" type="slidenum">
              <a:rPr lang="en-GB" smtClean="0"/>
              <a:t>‹#›</a:t>
            </a:fld>
            <a:endParaRPr lang="en-GB"/>
          </a:p>
        </p:txBody>
      </p:sp>
    </p:spTree>
    <p:extLst>
      <p:ext uri="{BB962C8B-B14F-4D97-AF65-F5344CB8AC3E}">
        <p14:creationId xmlns:p14="http://schemas.microsoft.com/office/powerpoint/2010/main" val="32086367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7E4B02-D21E-EDC5-A444-691D1738AC1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88857977-A5F7-E003-58EE-EDA1C967655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C058EBB1-1904-CE4E-BBF5-B5107BF310A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CB439F3-BE4E-2770-236C-F89A4756EF6B}"/>
              </a:ext>
            </a:extLst>
          </p:cNvPr>
          <p:cNvSpPr>
            <a:spLocks noGrp="1"/>
          </p:cNvSpPr>
          <p:nvPr>
            <p:ph type="dt" sz="half" idx="10"/>
          </p:nvPr>
        </p:nvSpPr>
        <p:spPr/>
        <p:txBody>
          <a:bodyPr/>
          <a:lstStyle/>
          <a:p>
            <a:fld id="{ECC028D5-DD36-4811-A840-139161BBD398}" type="datetimeFigureOut">
              <a:rPr lang="en-GB" smtClean="0"/>
              <a:t>15/05/2024</a:t>
            </a:fld>
            <a:endParaRPr lang="en-GB"/>
          </a:p>
        </p:txBody>
      </p:sp>
      <p:sp>
        <p:nvSpPr>
          <p:cNvPr id="6" name="Footer Placeholder 5">
            <a:extLst>
              <a:ext uri="{FF2B5EF4-FFF2-40B4-BE49-F238E27FC236}">
                <a16:creationId xmlns:a16="http://schemas.microsoft.com/office/drawing/2014/main" id="{0264D4A2-B004-8B8E-500B-4590076DBFF6}"/>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31B53D03-3B2D-DAF9-A993-A5A8E0CA1578}"/>
              </a:ext>
            </a:extLst>
          </p:cNvPr>
          <p:cNvSpPr>
            <a:spLocks noGrp="1"/>
          </p:cNvSpPr>
          <p:nvPr>
            <p:ph type="sldNum" sz="quarter" idx="12"/>
          </p:nvPr>
        </p:nvSpPr>
        <p:spPr/>
        <p:txBody>
          <a:bodyPr/>
          <a:lstStyle/>
          <a:p>
            <a:fld id="{8F4D93C4-7774-47F4-893B-5B7ED65450B2}" type="slidenum">
              <a:rPr lang="en-GB" smtClean="0"/>
              <a:t>‹#›</a:t>
            </a:fld>
            <a:endParaRPr lang="en-GB"/>
          </a:p>
        </p:txBody>
      </p:sp>
    </p:spTree>
    <p:extLst>
      <p:ext uri="{BB962C8B-B14F-4D97-AF65-F5344CB8AC3E}">
        <p14:creationId xmlns:p14="http://schemas.microsoft.com/office/powerpoint/2010/main" val="80350101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5AF0F4-EAF0-AC8F-033F-8A892698D2E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71FF3596-C77E-14AB-7278-AF1B23FD03C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C375750B-D760-B71E-C932-2164FAB6C57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9AB5F19-1925-96FB-B524-6CB19ADDACBD}"/>
              </a:ext>
            </a:extLst>
          </p:cNvPr>
          <p:cNvSpPr>
            <a:spLocks noGrp="1"/>
          </p:cNvSpPr>
          <p:nvPr>
            <p:ph type="dt" sz="half" idx="10"/>
          </p:nvPr>
        </p:nvSpPr>
        <p:spPr/>
        <p:txBody>
          <a:bodyPr/>
          <a:lstStyle/>
          <a:p>
            <a:fld id="{ECC028D5-DD36-4811-A840-139161BBD398}" type="datetimeFigureOut">
              <a:rPr lang="en-GB" smtClean="0"/>
              <a:t>15/05/2024</a:t>
            </a:fld>
            <a:endParaRPr lang="en-GB"/>
          </a:p>
        </p:txBody>
      </p:sp>
      <p:sp>
        <p:nvSpPr>
          <p:cNvPr id="6" name="Footer Placeholder 5">
            <a:extLst>
              <a:ext uri="{FF2B5EF4-FFF2-40B4-BE49-F238E27FC236}">
                <a16:creationId xmlns:a16="http://schemas.microsoft.com/office/drawing/2014/main" id="{529FF7B5-2FCE-9A86-47EB-267450DCF849}"/>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0BDEC632-5112-DFA6-1920-A71BD62FA526}"/>
              </a:ext>
            </a:extLst>
          </p:cNvPr>
          <p:cNvSpPr>
            <a:spLocks noGrp="1"/>
          </p:cNvSpPr>
          <p:nvPr>
            <p:ph type="sldNum" sz="quarter" idx="12"/>
          </p:nvPr>
        </p:nvSpPr>
        <p:spPr/>
        <p:txBody>
          <a:bodyPr/>
          <a:lstStyle/>
          <a:p>
            <a:fld id="{8F4D93C4-7774-47F4-893B-5B7ED65450B2}" type="slidenum">
              <a:rPr lang="en-GB" smtClean="0"/>
              <a:t>‹#›</a:t>
            </a:fld>
            <a:endParaRPr lang="en-GB"/>
          </a:p>
        </p:txBody>
      </p:sp>
    </p:spTree>
    <p:extLst>
      <p:ext uri="{BB962C8B-B14F-4D97-AF65-F5344CB8AC3E}">
        <p14:creationId xmlns:p14="http://schemas.microsoft.com/office/powerpoint/2010/main" val="66296035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EFEAAF-0A1B-BB94-2016-A8E19EF72BFF}"/>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B1251A2F-2212-9CB1-5C37-A5D0F42CAB1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FB885651-1107-3428-8C60-314F4F4758A0}"/>
              </a:ext>
            </a:extLst>
          </p:cNvPr>
          <p:cNvSpPr>
            <a:spLocks noGrp="1"/>
          </p:cNvSpPr>
          <p:nvPr>
            <p:ph type="dt" sz="half" idx="10"/>
          </p:nvPr>
        </p:nvSpPr>
        <p:spPr/>
        <p:txBody>
          <a:bodyPr/>
          <a:lstStyle/>
          <a:p>
            <a:fld id="{ECC028D5-DD36-4811-A840-139161BBD398}" type="datetimeFigureOut">
              <a:rPr lang="en-GB" smtClean="0"/>
              <a:t>15/05/2024</a:t>
            </a:fld>
            <a:endParaRPr lang="en-GB"/>
          </a:p>
        </p:txBody>
      </p:sp>
      <p:sp>
        <p:nvSpPr>
          <p:cNvPr id="5" name="Footer Placeholder 4">
            <a:extLst>
              <a:ext uri="{FF2B5EF4-FFF2-40B4-BE49-F238E27FC236}">
                <a16:creationId xmlns:a16="http://schemas.microsoft.com/office/drawing/2014/main" id="{6121B2F9-703D-E2DC-B0D2-E2E51D78973C}"/>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C569A353-532A-FB0C-26AE-2C61589C7CD2}"/>
              </a:ext>
            </a:extLst>
          </p:cNvPr>
          <p:cNvSpPr>
            <a:spLocks noGrp="1"/>
          </p:cNvSpPr>
          <p:nvPr>
            <p:ph type="sldNum" sz="quarter" idx="12"/>
          </p:nvPr>
        </p:nvSpPr>
        <p:spPr/>
        <p:txBody>
          <a:bodyPr/>
          <a:lstStyle/>
          <a:p>
            <a:fld id="{8F4D93C4-7774-47F4-893B-5B7ED65450B2}" type="slidenum">
              <a:rPr lang="en-GB" smtClean="0"/>
              <a:t>‹#›</a:t>
            </a:fld>
            <a:endParaRPr lang="en-GB"/>
          </a:p>
        </p:txBody>
      </p:sp>
    </p:spTree>
    <p:extLst>
      <p:ext uri="{BB962C8B-B14F-4D97-AF65-F5344CB8AC3E}">
        <p14:creationId xmlns:p14="http://schemas.microsoft.com/office/powerpoint/2010/main" val="213386143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4F32919-F563-10E1-F55C-CAC808CA7705}"/>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76875003-B961-E4EE-312D-FB1913D2202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DC412A6C-0BEC-58B3-F400-96271D1C0EA4}"/>
              </a:ext>
            </a:extLst>
          </p:cNvPr>
          <p:cNvSpPr>
            <a:spLocks noGrp="1"/>
          </p:cNvSpPr>
          <p:nvPr>
            <p:ph type="dt" sz="half" idx="10"/>
          </p:nvPr>
        </p:nvSpPr>
        <p:spPr/>
        <p:txBody>
          <a:bodyPr/>
          <a:lstStyle/>
          <a:p>
            <a:fld id="{ECC028D5-DD36-4811-A840-139161BBD398}" type="datetimeFigureOut">
              <a:rPr lang="en-GB" smtClean="0"/>
              <a:t>15/05/2024</a:t>
            </a:fld>
            <a:endParaRPr lang="en-GB"/>
          </a:p>
        </p:txBody>
      </p:sp>
      <p:sp>
        <p:nvSpPr>
          <p:cNvPr id="5" name="Footer Placeholder 4">
            <a:extLst>
              <a:ext uri="{FF2B5EF4-FFF2-40B4-BE49-F238E27FC236}">
                <a16:creationId xmlns:a16="http://schemas.microsoft.com/office/drawing/2014/main" id="{833B933E-129A-132A-E63B-56FB5A3ECD05}"/>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3FF3EA7E-80AB-11AF-5A69-333D9B2DDA44}"/>
              </a:ext>
            </a:extLst>
          </p:cNvPr>
          <p:cNvSpPr>
            <a:spLocks noGrp="1"/>
          </p:cNvSpPr>
          <p:nvPr>
            <p:ph type="sldNum" sz="quarter" idx="12"/>
          </p:nvPr>
        </p:nvSpPr>
        <p:spPr/>
        <p:txBody>
          <a:bodyPr/>
          <a:lstStyle/>
          <a:p>
            <a:fld id="{8F4D93C4-7774-47F4-893B-5B7ED65450B2}" type="slidenum">
              <a:rPr lang="en-GB" smtClean="0"/>
              <a:t>‹#›</a:t>
            </a:fld>
            <a:endParaRPr lang="en-GB"/>
          </a:p>
        </p:txBody>
      </p:sp>
    </p:spTree>
    <p:extLst>
      <p:ext uri="{BB962C8B-B14F-4D97-AF65-F5344CB8AC3E}">
        <p14:creationId xmlns:p14="http://schemas.microsoft.com/office/powerpoint/2010/main" val="119719590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14400" y="2125980"/>
            <a:ext cx="10363200" cy="1440180"/>
          </a:xfrm>
          <a:prstGeom prst="rect">
            <a:avLst/>
          </a:prstGeom>
        </p:spPr>
        <p:txBody>
          <a:bodyPr wrap="square" lIns="0" tIns="0" rIns="0" bIns="0">
            <a:spAutoFit/>
          </a:bodyPr>
          <a:lstStyle>
            <a:lvl1pPr>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5/15/2024</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t>‹#›</a:t>
            </a:fld>
            <a:endParaRPr/>
          </a:p>
        </p:txBody>
      </p:sp>
    </p:spTree>
    <p:extLst>
      <p:ext uri="{BB962C8B-B14F-4D97-AF65-F5344CB8AC3E}">
        <p14:creationId xmlns:p14="http://schemas.microsoft.com/office/powerpoint/2010/main" val="170235728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400" b="1" i="0">
                <a:solidFill>
                  <a:schemeClr val="tx1"/>
                </a:solidFill>
                <a:latin typeface="Calibri" panose="020F0502020204030204"/>
                <a:cs typeface="Calibri" panose="020F0502020204030204"/>
              </a:defRPr>
            </a:lvl1pPr>
          </a:lstStyle>
          <a:p>
            <a:endParaRPr/>
          </a:p>
        </p:txBody>
      </p:sp>
      <p:sp>
        <p:nvSpPr>
          <p:cNvPr id="3" name="Holder 3"/>
          <p:cNvSpPr>
            <a:spLocks noGrp="1"/>
          </p:cNvSpPr>
          <p:nvPr>
            <p:ph type="body" idx="1"/>
          </p:nvPr>
        </p:nvSpPr>
        <p:spPr/>
        <p:txBody>
          <a:bodyPr lIns="0" tIns="0" rIns="0" bIns="0"/>
          <a:lstStyle>
            <a:lvl1pPr>
              <a:defRPr b="0" i="0">
                <a:solidFill>
                  <a:schemeClr val="tx1"/>
                </a:solidFill>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5/15/2024</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t>‹#›</a:t>
            </a:fld>
            <a:endParaRPr/>
          </a:p>
        </p:txBody>
      </p:sp>
    </p:spTree>
    <p:extLst>
      <p:ext uri="{BB962C8B-B14F-4D97-AF65-F5344CB8AC3E}">
        <p14:creationId xmlns:p14="http://schemas.microsoft.com/office/powerpoint/2010/main" val="390663413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400" b="1" i="0">
                <a:solidFill>
                  <a:schemeClr val="tx1"/>
                </a:solidFill>
                <a:latin typeface="Calibri" panose="020F0502020204030204"/>
                <a:cs typeface="Calibri" panose="020F0502020204030204"/>
              </a:defRPr>
            </a:lvl1pPr>
          </a:lstStyle>
          <a:p>
            <a:endParaRPr/>
          </a:p>
        </p:txBody>
      </p:sp>
      <p:sp>
        <p:nvSpPr>
          <p:cNvPr id="3" name="Holder 3"/>
          <p:cNvSpPr>
            <a:spLocks noGrp="1"/>
          </p:cNvSpPr>
          <p:nvPr>
            <p:ph sz="half" idx="2"/>
          </p:nvPr>
        </p:nvSpPr>
        <p:spPr>
          <a:xfrm>
            <a:off x="838200" y="1825625"/>
            <a:ext cx="5181600" cy="4351655"/>
          </a:xfrm>
          <a:prstGeom prst="rect">
            <a:avLst/>
          </a:prstGeom>
        </p:spPr>
        <p:txBody>
          <a:bodyPr wrap="square" lIns="0" tIns="0" rIns="0" bIns="0">
            <a:spAutoFit/>
          </a:bodyPr>
          <a:lstStyle>
            <a:lvl1pPr>
              <a:defRPr sz="1800" b="0" i="0">
                <a:solidFill>
                  <a:schemeClr val="tx1"/>
                </a:solidFill>
                <a:latin typeface="Calibri" panose="020F0502020204030204"/>
                <a:cs typeface="Calibri" panose="020F0502020204030204"/>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5/15/2024</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t>‹#›</a:t>
            </a:fld>
            <a:endParaRPr/>
          </a:p>
        </p:txBody>
      </p:sp>
    </p:spTree>
    <p:extLst>
      <p:ext uri="{BB962C8B-B14F-4D97-AF65-F5344CB8AC3E}">
        <p14:creationId xmlns:p14="http://schemas.microsoft.com/office/powerpoint/2010/main" val="139594545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400" b="1" i="0">
                <a:solidFill>
                  <a:schemeClr val="tx1"/>
                </a:solidFill>
                <a:latin typeface="Calibri" panose="020F0502020204030204"/>
                <a:cs typeface="Calibri" panose="020F0502020204030204"/>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5/15/2024</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t>‹#›</a:t>
            </a:fld>
            <a:endParaRPr/>
          </a:p>
        </p:txBody>
      </p:sp>
    </p:spTree>
    <p:extLst>
      <p:ext uri="{BB962C8B-B14F-4D97-AF65-F5344CB8AC3E}">
        <p14:creationId xmlns:p14="http://schemas.microsoft.com/office/powerpoint/2010/main" val="360087818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5/15/2024</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t>‹#›</a:t>
            </a:fld>
            <a:endParaRPr/>
          </a:p>
        </p:txBody>
      </p:sp>
    </p:spTree>
    <p:extLst>
      <p:ext uri="{BB962C8B-B14F-4D97-AF65-F5344CB8AC3E}">
        <p14:creationId xmlns:p14="http://schemas.microsoft.com/office/powerpoint/2010/main" val="382773403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x" preserve="1">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Text Placeholder 2"/>
          <p:cNvSpPr>
            <a:spLocks noGrp="1"/>
          </p:cNvSpPr>
          <p:nvPr>
            <p:ph type="body"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a:t>5/15/2024</a:t>
            </a:fld>
            <a:endParaRPr lang="en-US"/>
          </a:p>
        </p:txBody>
      </p:sp>
      <p:sp>
        <p:nvSpPr>
          <p:cNvPr id="5" name="Footer Placeholder 4"/>
          <p:cNvSpPr>
            <a:spLocks noGrp="1"/>
          </p:cNvSpPr>
          <p:nvPr>
            <p:ph type="ftr" sz="quarter" idx="11"/>
          </p:nvPr>
        </p:nvSpPr>
        <p:spPr/>
        <p:txBody>
          <a:bodyPr/>
          <a:lstStyle/>
          <a:p>
            <a:endParaRPr/>
          </a:p>
        </p:txBody>
      </p:sp>
      <p:sp>
        <p:nvSpPr>
          <p:cNvPr id="6" name="Slide Number Placeholder 5"/>
          <p:cNvSpPr>
            <a:spLocks noGrp="1"/>
          </p:cNvSpPr>
          <p:nvPr>
            <p:ph type="sldNum" sz="quarter" idx="12"/>
          </p:nvPr>
        </p:nvSpPr>
        <p:spPr/>
        <p:txBody>
          <a:bodyPr/>
          <a:lstStyle/>
          <a:p>
            <a:fld id="{B6F15528-21DE-4FAA-801E-634DDDAF4B2B}" type="slidenum">
              <a:rPr/>
              <a:t>‹#›</a:t>
            </a:fld>
            <a:endParaRPr/>
          </a:p>
        </p:txBody>
      </p:sp>
    </p:spTree>
    <p:extLst>
      <p:ext uri="{BB962C8B-B14F-4D97-AF65-F5344CB8AC3E}">
        <p14:creationId xmlns:p14="http://schemas.microsoft.com/office/powerpoint/2010/main" val="183261190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14.xml"/><Relationship Id="rId7"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5" Type="http://schemas.openxmlformats.org/officeDocument/2006/relationships/slideLayout" Target="../slideLayouts/slideLayout16.xml"/><Relationship Id="rId4" Type="http://schemas.openxmlformats.org/officeDocument/2006/relationships/slideLayout" Target="../slideLayouts/slideLayout1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BCCCBBB-63C5-E92D-3998-279426A15D6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00039592-408F-A0B1-A610-44864E3665E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568FB8D4-8A4B-DFBB-03A7-71934F6BA3A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CC028D5-DD36-4811-A840-139161BBD398}" type="datetimeFigureOut">
              <a:rPr lang="en-GB" smtClean="0"/>
              <a:t>15/05/2024</a:t>
            </a:fld>
            <a:endParaRPr lang="en-GB"/>
          </a:p>
        </p:txBody>
      </p:sp>
      <p:sp>
        <p:nvSpPr>
          <p:cNvPr id="5" name="Footer Placeholder 4">
            <a:extLst>
              <a:ext uri="{FF2B5EF4-FFF2-40B4-BE49-F238E27FC236}">
                <a16:creationId xmlns:a16="http://schemas.microsoft.com/office/drawing/2014/main" id="{1D1B17D6-CEFA-9FD9-A239-C13486C8244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a:extLst>
              <a:ext uri="{FF2B5EF4-FFF2-40B4-BE49-F238E27FC236}">
                <a16:creationId xmlns:a16="http://schemas.microsoft.com/office/drawing/2014/main" id="{4379478E-0480-1C5A-87BE-FB58839952E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F4D93C4-7774-47F4-893B-5B7ED65450B2}" type="slidenum">
              <a:rPr lang="en-GB" smtClean="0"/>
              <a:t>‹#›</a:t>
            </a:fld>
            <a:endParaRPr lang="en-GB"/>
          </a:p>
        </p:txBody>
      </p:sp>
    </p:spTree>
    <p:extLst>
      <p:ext uri="{BB962C8B-B14F-4D97-AF65-F5344CB8AC3E}">
        <p14:creationId xmlns:p14="http://schemas.microsoft.com/office/powerpoint/2010/main" val="396242139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1666875" y="822959"/>
            <a:ext cx="8858250" cy="756919"/>
          </a:xfrm>
          <a:prstGeom prst="rect">
            <a:avLst/>
          </a:prstGeom>
        </p:spPr>
        <p:txBody>
          <a:bodyPr wrap="square" lIns="0" tIns="0" rIns="0" bIns="0">
            <a:spAutoFit/>
          </a:bodyPr>
          <a:lstStyle>
            <a:lvl1pPr>
              <a:defRPr sz="2400" b="1" i="0">
                <a:solidFill>
                  <a:schemeClr val="tx1"/>
                </a:solidFill>
                <a:latin typeface="Calibri" panose="020F0502020204030204"/>
                <a:cs typeface="Calibri" panose="020F0502020204030204"/>
              </a:defRPr>
            </a:lvl1pPr>
          </a:lstStyle>
          <a:p>
            <a:endParaRPr/>
          </a:p>
        </p:txBody>
      </p:sp>
      <p:sp>
        <p:nvSpPr>
          <p:cNvPr id="3" name="Holder 3"/>
          <p:cNvSpPr>
            <a:spLocks noGrp="1"/>
          </p:cNvSpPr>
          <p:nvPr>
            <p:ph type="body" idx="1"/>
          </p:nvPr>
        </p:nvSpPr>
        <p:spPr>
          <a:xfrm>
            <a:off x="877569" y="1822450"/>
            <a:ext cx="8929370" cy="2915920"/>
          </a:xfrm>
          <a:prstGeom prst="rect">
            <a:avLst/>
          </a:prstGeom>
        </p:spPr>
        <p:txBody>
          <a:bodyPr wrap="square" lIns="0" tIns="0" rIns="0" bIns="0">
            <a:spAutoFit/>
          </a:bodyPr>
          <a:lstStyle>
            <a:lvl1pPr>
              <a:defRPr b="0" i="0">
                <a:solidFill>
                  <a:schemeClr val="tx1"/>
                </a:solidFill>
              </a:defRPr>
            </a:lvl1pPr>
          </a:lstStyle>
          <a:p>
            <a:endParaRPr/>
          </a:p>
        </p:txBody>
      </p:sp>
      <p:sp>
        <p:nvSpPr>
          <p:cNvPr id="4" name="Holder 4"/>
          <p:cNvSpPr>
            <a:spLocks noGrp="1"/>
          </p:cNvSpPr>
          <p:nvPr>
            <p:ph type="ftr" sz="quarter" idx="5"/>
          </p:nvPr>
        </p:nvSpPr>
        <p:spPr>
          <a:xfrm>
            <a:off x="4145280" y="6377940"/>
            <a:ext cx="3901440" cy="34290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609600" y="6377940"/>
            <a:ext cx="280416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5/15/2024</a:t>
            </a:fld>
            <a:endParaRPr lang="en-US"/>
          </a:p>
        </p:txBody>
      </p:sp>
      <p:sp>
        <p:nvSpPr>
          <p:cNvPr id="6" name="Holder 6"/>
          <p:cNvSpPr>
            <a:spLocks noGrp="1"/>
          </p:cNvSpPr>
          <p:nvPr>
            <p:ph type="sldNum" sz="quarter" idx="7"/>
          </p:nvPr>
        </p:nvSpPr>
        <p:spPr>
          <a:xfrm>
            <a:off x="8778240" y="6377940"/>
            <a:ext cx="2804160"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rPr/>
              <a:t>‹#›</a:t>
            </a:fld>
            <a:endParaRPr/>
          </a:p>
        </p:txBody>
      </p:sp>
    </p:spTree>
    <p:extLst>
      <p:ext uri="{BB962C8B-B14F-4D97-AF65-F5344CB8AC3E}">
        <p14:creationId xmlns:p14="http://schemas.microsoft.com/office/powerpoint/2010/main" val="353004606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slideLayout" Target="../slideLayouts/slideLayout13.xml"/><Relationship Id="rId4" Type="http://schemas.openxmlformats.org/officeDocument/2006/relationships/image" Target="../media/image1.png"/></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4.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4.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Layout" Target="../slideLayouts/slideLayout1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14.xml"/><Relationship Id="rId4" Type="http://schemas.openxmlformats.org/officeDocument/2006/relationships/image" Target="../media/image1.png"/></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14.xml"/><Relationship Id="rId5" Type="http://schemas.openxmlformats.org/officeDocument/2006/relationships/image" Target="../media/image9.png"/><Relationship Id="rId4" Type="http://schemas.openxmlformats.org/officeDocument/2006/relationships/image" Target="../media/image1.png"/></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png"/><Relationship Id="rId1" Type="http://schemas.openxmlformats.org/officeDocument/2006/relationships/slideLayout" Target="../slideLayouts/slideLayout14.xml"/><Relationship Id="rId4" Type="http://schemas.openxmlformats.org/officeDocument/2006/relationships/image" Target="../media/image11.png"/></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png"/><Relationship Id="rId1" Type="http://schemas.openxmlformats.org/officeDocument/2006/relationships/slideLayout" Target="../slideLayouts/slideLayout14.xml"/><Relationship Id="rId4" Type="http://schemas.openxmlformats.org/officeDocument/2006/relationships/image" Target="../media/image13.png"/></Relationships>
</file>

<file path=ppt/slides/_rels/slide1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png"/><Relationship Id="rId1" Type="http://schemas.openxmlformats.org/officeDocument/2006/relationships/slideLayout" Target="../slideLayouts/slideLayout14.xml"/><Relationship Id="rId4" Type="http://schemas.openxmlformats.org/officeDocument/2006/relationships/image" Target="../media/image15.png"/></Relationships>
</file>

<file path=ppt/slides/_rels/slide1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png"/><Relationship Id="rId1" Type="http://schemas.openxmlformats.org/officeDocument/2006/relationships/slideLayout" Target="../slideLayouts/slideLayout14.xml"/><Relationship Id="rId4" Type="http://schemas.openxmlformats.org/officeDocument/2006/relationships/image" Target="../media/image17.png"/></Relationships>
</file>

<file path=ppt/slides/_rels/slide1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png"/><Relationship Id="rId1" Type="http://schemas.openxmlformats.org/officeDocument/2006/relationships/slideLayout" Target="../slideLayouts/slideLayout14.xml"/><Relationship Id="rId4" Type="http://schemas.openxmlformats.org/officeDocument/2006/relationships/image" Target="../media/image19.png"/></Relationships>
</file>

<file path=ppt/slides/_rels/slide1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16.xml"/></Relationships>
</file>

<file path=ppt/slides/_rels/slide1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16.xml"/></Relationships>
</file>

<file path=ppt/slides/_rels/slide18.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16.xml"/></Relationships>
</file>

<file path=ppt/slides/_rels/slide19.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16.xml"/></Relationships>
</file>

<file path=ppt/slides/_rels/slide20.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1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0A52A0-6608-B5DC-20B2-CBACFA639E1F}"/>
              </a:ext>
            </a:extLst>
          </p:cNvPr>
          <p:cNvSpPr>
            <a:spLocks noGrp="1"/>
          </p:cNvSpPr>
          <p:nvPr>
            <p:ph type="ctrTitle"/>
          </p:nvPr>
        </p:nvSpPr>
        <p:spPr>
          <a:xfrm>
            <a:off x="2045110" y="1740309"/>
            <a:ext cx="8986684" cy="1727743"/>
          </a:xfrm>
        </p:spPr>
        <p:txBody>
          <a:bodyPr>
            <a:normAutofit/>
          </a:bodyPr>
          <a:lstStyle/>
          <a:p>
            <a:r>
              <a:rPr lang="en-GB" sz="3600" b="1" dirty="0"/>
              <a:t>Determination and verification  of cellular  mobile reception indoor terrain model for zenith building </a:t>
            </a:r>
            <a:r>
              <a:rPr lang="en-GB" sz="3600" b="1" dirty="0" err="1"/>
              <a:t>cinec</a:t>
            </a:r>
            <a:r>
              <a:rPr lang="en-GB" sz="3600" b="1" dirty="0"/>
              <a:t> campus</a:t>
            </a:r>
          </a:p>
        </p:txBody>
      </p:sp>
      <p:sp>
        <p:nvSpPr>
          <p:cNvPr id="3" name="Subtitle 2">
            <a:extLst>
              <a:ext uri="{FF2B5EF4-FFF2-40B4-BE49-F238E27FC236}">
                <a16:creationId xmlns:a16="http://schemas.microsoft.com/office/drawing/2014/main" id="{928B0B26-469F-B9AE-6776-B0581E62C86C}"/>
              </a:ext>
            </a:extLst>
          </p:cNvPr>
          <p:cNvSpPr>
            <a:spLocks noGrp="1"/>
          </p:cNvSpPr>
          <p:nvPr>
            <p:ph type="subTitle" idx="1"/>
          </p:nvPr>
        </p:nvSpPr>
        <p:spPr>
          <a:xfrm>
            <a:off x="1524000" y="4366313"/>
            <a:ext cx="9144000" cy="1655762"/>
          </a:xfrm>
        </p:spPr>
        <p:txBody>
          <a:body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GB" sz="2400" b="0" i="0" u="none" strike="noStrike" kern="1200" cap="none" spc="0" normalizeH="0" baseline="0" noProof="0" dirty="0">
                <a:ln>
                  <a:noFill/>
                </a:ln>
                <a:solidFill>
                  <a:prstClr val="black"/>
                </a:solidFill>
                <a:effectLst/>
                <a:uLnTx/>
                <a:uFillTx/>
                <a:latin typeface="Calibri" panose="020F0502020204030204"/>
                <a:ea typeface="+mn-ea"/>
                <a:cs typeface="+mn-cs"/>
              </a:rPr>
              <a:t>Supervisor – Mr. </a:t>
            </a:r>
            <a:r>
              <a:rPr kumimoji="0" lang="en-GB" sz="2400" b="0" i="0" u="none" strike="noStrike" kern="1200" cap="none" spc="0" normalizeH="0" baseline="0" noProof="0" dirty="0" err="1">
                <a:ln>
                  <a:noFill/>
                </a:ln>
                <a:solidFill>
                  <a:prstClr val="black"/>
                </a:solidFill>
                <a:effectLst/>
                <a:uLnTx/>
                <a:uFillTx/>
                <a:latin typeface="Calibri" panose="020F0502020204030204"/>
                <a:ea typeface="+mn-ea"/>
                <a:cs typeface="+mn-cs"/>
              </a:rPr>
              <a:t>Srimal</a:t>
            </a:r>
            <a:r>
              <a:rPr kumimoji="0" lang="en-GB" sz="2400" b="0" i="0" u="none" strike="noStrike" kern="1200" cap="none" spc="0" normalizeH="0" baseline="0" noProof="0" dirty="0">
                <a:ln>
                  <a:noFill/>
                </a:ln>
                <a:solidFill>
                  <a:prstClr val="black"/>
                </a:solidFill>
                <a:effectLst/>
                <a:uLnTx/>
                <a:uFillTx/>
                <a:latin typeface="Calibri" panose="020F0502020204030204"/>
                <a:ea typeface="+mn-ea"/>
                <a:cs typeface="+mn-cs"/>
              </a:rPr>
              <a:t> </a:t>
            </a:r>
            <a:r>
              <a:rPr kumimoji="0" lang="en-GB" sz="2400" b="0" i="0" u="none" strike="noStrike" kern="1200" cap="none" spc="0" normalizeH="0" baseline="0" noProof="0" dirty="0" err="1">
                <a:ln>
                  <a:noFill/>
                </a:ln>
                <a:solidFill>
                  <a:prstClr val="black"/>
                </a:solidFill>
                <a:effectLst/>
                <a:uLnTx/>
                <a:uFillTx/>
                <a:latin typeface="Calibri" panose="020F0502020204030204"/>
                <a:ea typeface="+mn-ea"/>
                <a:cs typeface="+mn-cs"/>
              </a:rPr>
              <a:t>punchihewa</a:t>
            </a:r>
            <a:endParaRPr kumimoji="0" lang="en-GB" sz="24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GB" sz="2400" b="0" i="0" u="none" strike="noStrike" kern="1200" cap="none" spc="0" normalizeH="0" baseline="0" noProof="0" dirty="0">
                <a:ln>
                  <a:noFill/>
                </a:ln>
                <a:solidFill>
                  <a:prstClr val="black"/>
                </a:solidFill>
                <a:effectLst/>
                <a:uLnTx/>
                <a:uFillTx/>
                <a:latin typeface="Calibri" panose="020F0502020204030204"/>
                <a:ea typeface="+mn-ea"/>
                <a:cs typeface="+mn-cs"/>
              </a:rPr>
              <a:t>Student name – </a:t>
            </a:r>
            <a:r>
              <a:rPr kumimoji="0" lang="en-GB" sz="2400" b="0" i="0" u="none" strike="noStrike" kern="1200" cap="none" spc="0" normalizeH="0" baseline="0" noProof="0" dirty="0" err="1">
                <a:ln>
                  <a:noFill/>
                </a:ln>
                <a:solidFill>
                  <a:prstClr val="black"/>
                </a:solidFill>
                <a:effectLst/>
                <a:uLnTx/>
                <a:uFillTx/>
                <a:latin typeface="Calibri" panose="020F0502020204030204"/>
                <a:ea typeface="+mn-ea"/>
                <a:cs typeface="+mn-cs"/>
              </a:rPr>
              <a:t>K.K.Jayani</a:t>
            </a:r>
            <a:r>
              <a:rPr kumimoji="0" lang="en-GB" sz="2400" b="0" i="0" u="none" strike="noStrike" kern="1200" cap="none" spc="0" normalizeH="0" baseline="0" noProof="0" dirty="0">
                <a:ln>
                  <a:noFill/>
                </a:ln>
                <a:solidFill>
                  <a:prstClr val="black"/>
                </a:solidFill>
                <a:effectLst/>
                <a:uLnTx/>
                <a:uFillTx/>
                <a:latin typeface="Calibri" panose="020F0502020204030204"/>
                <a:ea typeface="+mn-ea"/>
                <a:cs typeface="+mn-cs"/>
              </a:rPr>
              <a:t> </a:t>
            </a:r>
            <a:r>
              <a:rPr kumimoji="0" lang="en-GB" sz="2400" b="0" i="0" u="none" strike="noStrike" kern="1200" cap="none" spc="0" normalizeH="0" baseline="0" noProof="0" dirty="0" err="1">
                <a:ln>
                  <a:noFill/>
                </a:ln>
                <a:solidFill>
                  <a:prstClr val="black"/>
                </a:solidFill>
                <a:effectLst/>
                <a:uLnTx/>
                <a:uFillTx/>
                <a:latin typeface="Calibri" panose="020F0502020204030204"/>
                <a:ea typeface="+mn-ea"/>
                <a:cs typeface="+mn-cs"/>
              </a:rPr>
              <a:t>naeera</a:t>
            </a:r>
            <a:endParaRPr kumimoji="0" lang="en-GB" sz="24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GB" sz="2400" b="0" i="0" u="none" strike="noStrike" kern="1200" cap="none" spc="0" normalizeH="0" baseline="0" noProof="0" dirty="0">
                <a:ln>
                  <a:noFill/>
                </a:ln>
                <a:solidFill>
                  <a:prstClr val="black"/>
                </a:solidFill>
                <a:effectLst/>
                <a:uLnTx/>
                <a:uFillTx/>
                <a:latin typeface="Calibri" panose="020F0502020204030204"/>
                <a:ea typeface="+mn-ea"/>
                <a:cs typeface="+mn-cs"/>
              </a:rPr>
              <a:t>Student id – F19990514008</a:t>
            </a:r>
            <a:endParaRPr lang="en-GB" dirty="0"/>
          </a:p>
        </p:txBody>
      </p:sp>
      <p:pic>
        <p:nvPicPr>
          <p:cNvPr id="4" name="Picture 3">
            <a:extLst>
              <a:ext uri="{FF2B5EF4-FFF2-40B4-BE49-F238E27FC236}">
                <a16:creationId xmlns:a16="http://schemas.microsoft.com/office/drawing/2014/main" id="{0A708853-3785-4FDD-305E-4F6158A8CE5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76599" y="314356"/>
            <a:ext cx="1409897" cy="600159"/>
          </a:xfrm>
          <a:prstGeom prst="rect">
            <a:avLst/>
          </a:prstGeom>
        </p:spPr>
      </p:pic>
      <p:sp>
        <p:nvSpPr>
          <p:cNvPr id="5" name="TextBox 4">
            <a:extLst>
              <a:ext uri="{FF2B5EF4-FFF2-40B4-BE49-F238E27FC236}">
                <a16:creationId xmlns:a16="http://schemas.microsoft.com/office/drawing/2014/main" id="{A8094D34-B101-F5FA-4661-113163E49BE9}"/>
              </a:ext>
            </a:extLst>
          </p:cNvPr>
          <p:cNvSpPr txBox="1"/>
          <p:nvPr/>
        </p:nvSpPr>
        <p:spPr>
          <a:xfrm>
            <a:off x="2536723" y="206477"/>
            <a:ext cx="8209935" cy="1077218"/>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3200" b="0" i="0" u="none" strike="noStrike" kern="1200" cap="none" spc="0" normalizeH="0" baseline="0" noProof="0" dirty="0">
                <a:ln>
                  <a:noFill/>
                </a:ln>
                <a:solidFill>
                  <a:srgbClr val="4472C4">
                    <a:lumMod val="75000"/>
                  </a:srgbClr>
                </a:solidFill>
                <a:effectLst/>
                <a:uLnTx/>
                <a:uFillTx/>
                <a:latin typeface="Calibri" panose="020F0502020204030204"/>
                <a:ea typeface="+mn-ea"/>
                <a:cs typeface="+mn-cs"/>
              </a:rPr>
              <a:t>EE4700 INDIVIDUAL RESEARCH PROJECT FINAL 		PRESENTATION</a:t>
            </a:r>
          </a:p>
        </p:txBody>
      </p:sp>
    </p:spTree>
    <p:extLst>
      <p:ext uri="{BB962C8B-B14F-4D97-AF65-F5344CB8AC3E}">
        <p14:creationId xmlns:p14="http://schemas.microsoft.com/office/powerpoint/2010/main" val="86527677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DC5F702-E3B1-BF53-2EF5-9D7EF24709E5}"/>
              </a:ext>
            </a:extLst>
          </p:cNvPr>
          <p:cNvSpPr>
            <a:spLocks noGrp="1"/>
          </p:cNvSpPr>
          <p:nvPr>
            <p:ph idx="1"/>
          </p:nvPr>
        </p:nvSpPr>
        <p:spPr>
          <a:xfrm>
            <a:off x="533914" y="1132041"/>
            <a:ext cx="10058401" cy="5725959"/>
          </a:xfrm>
        </p:spPr>
        <p:txBody>
          <a:bodyPr/>
          <a:lstStyle/>
          <a:p>
            <a:endParaRPr lang="en-GB" dirty="0"/>
          </a:p>
          <a:p>
            <a:r>
              <a:rPr lang="en-GB" sz="2400" b="1" dirty="0" err="1"/>
              <a:t>Introduction</a:t>
            </a:r>
            <a:r>
              <a:rPr lang="en-GB" sz="2400" dirty="0" err="1"/>
              <a:t>:The</a:t>
            </a:r>
            <a:r>
              <a:rPr lang="en-GB" sz="2400" dirty="0"/>
              <a:t> Zenith building's steel and concrete construction </a:t>
            </a:r>
            <a:r>
              <a:rPr lang="en-GB" sz="2400" dirty="0" err="1"/>
              <a:t>weakenss</a:t>
            </a:r>
            <a:r>
              <a:rPr lang="en-GB" sz="2400" dirty="0"/>
              <a:t> cellular signal.  This Project proposes In-Building Solutions to improve signal strength and give solution for that .</a:t>
            </a:r>
          </a:p>
          <a:p>
            <a:r>
              <a:rPr lang="en-GB" sz="2400" dirty="0"/>
              <a:t> </a:t>
            </a:r>
            <a:r>
              <a:rPr lang="en-GB" sz="2400" b="1" dirty="0"/>
              <a:t>Objective</a:t>
            </a:r>
            <a:r>
              <a:rPr lang="en-GB" sz="2400" dirty="0"/>
              <a:t>:  Identify cellular signal strength on each floor to find weak spots and plan improvements.</a:t>
            </a:r>
          </a:p>
          <a:p>
            <a:r>
              <a:rPr lang="en-GB" sz="2400" b="1" dirty="0"/>
              <a:t>Novelty</a:t>
            </a:r>
            <a:r>
              <a:rPr lang="en-GB" sz="2400" dirty="0"/>
              <a:t>: In-Building Solutions with a detailed indoor signal map to address weak signal in steel buildings (for zenith building)</a:t>
            </a:r>
          </a:p>
          <a:p>
            <a:r>
              <a:rPr lang="en-GB" sz="2400" b="1" dirty="0"/>
              <a:t>Gap</a:t>
            </a:r>
            <a:r>
              <a:rPr lang="en-GB" sz="2400" dirty="0"/>
              <a:t>:  More efficient use of </a:t>
            </a:r>
            <a:r>
              <a:rPr lang="en-GB" sz="2400" dirty="0" err="1"/>
              <a:t>IBS,Improved</a:t>
            </a:r>
            <a:r>
              <a:rPr lang="en-GB" sz="2400" dirty="0"/>
              <a:t> signal quality,  address weak signal zones.</a:t>
            </a:r>
          </a:p>
        </p:txBody>
      </p:sp>
      <p:sp>
        <p:nvSpPr>
          <p:cNvPr id="4" name="Title 3">
            <a:extLst>
              <a:ext uri="{FF2B5EF4-FFF2-40B4-BE49-F238E27FC236}">
                <a16:creationId xmlns:a16="http://schemas.microsoft.com/office/drawing/2014/main" id="{7202FE7A-A196-2BA8-E7D5-9F0713C0FE91}"/>
              </a:ext>
            </a:extLst>
          </p:cNvPr>
          <p:cNvSpPr>
            <a:spLocks noGrp="1"/>
          </p:cNvSpPr>
          <p:nvPr>
            <p:ph type="title"/>
          </p:nvPr>
        </p:nvSpPr>
        <p:spPr>
          <a:xfrm>
            <a:off x="761285" y="226644"/>
            <a:ext cx="9603657" cy="647598"/>
          </a:xfrm>
          <a:prstGeom prst="rect">
            <a:avLst/>
          </a:prstGeom>
        </p:spPr>
        <p:style>
          <a:lnRef idx="0">
            <a:schemeClr val="accent6"/>
          </a:lnRef>
          <a:fillRef idx="3">
            <a:schemeClr val="accent6"/>
          </a:fillRef>
          <a:effectRef idx="3">
            <a:schemeClr val="accent6"/>
          </a:effectRef>
          <a:fontRef idx="minor">
            <a:schemeClr val="lt1"/>
          </a:fontRef>
        </p:style>
        <p:txBody>
          <a:bodyPr rtlCol="0" anchor="ctr"/>
          <a:lstStyle/>
          <a:p>
            <a:pPr algn="ctr"/>
            <a:r>
              <a:rPr lang="en-GB" sz="3600" dirty="0"/>
              <a:t>Introduction, Objective, Gap, Novelty</a:t>
            </a:r>
          </a:p>
        </p:txBody>
      </p:sp>
      <p:pic>
        <p:nvPicPr>
          <p:cNvPr id="8" name="Picture 7">
            <a:extLst>
              <a:ext uri="{FF2B5EF4-FFF2-40B4-BE49-F238E27FC236}">
                <a16:creationId xmlns:a16="http://schemas.microsoft.com/office/drawing/2014/main" id="{93BFF288-BDBE-755B-77E6-BA9FA14053C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592315" y="16284"/>
            <a:ext cx="1409897" cy="600159"/>
          </a:xfrm>
          <a:prstGeom prst="rect">
            <a:avLst/>
          </a:prstGeom>
        </p:spPr>
      </p:pic>
    </p:spTree>
    <p:extLst>
      <p:ext uri="{BB962C8B-B14F-4D97-AF65-F5344CB8AC3E}">
        <p14:creationId xmlns:p14="http://schemas.microsoft.com/office/powerpoint/2010/main" val="273392958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73090F-2B3B-8138-D3B3-B0C1706D2076}"/>
              </a:ext>
            </a:extLst>
          </p:cNvPr>
          <p:cNvSpPr>
            <a:spLocks noGrp="1"/>
          </p:cNvSpPr>
          <p:nvPr>
            <p:ph type="title"/>
          </p:nvPr>
        </p:nvSpPr>
        <p:spPr>
          <a:xfrm>
            <a:off x="690715" y="-96963"/>
            <a:ext cx="3782961" cy="588604"/>
          </a:xfrm>
        </p:spPr>
        <p:txBody>
          <a:bodyPr>
            <a:normAutofit/>
          </a:bodyPr>
          <a:lstStyle/>
          <a:p>
            <a:r>
              <a:rPr lang="en-GB" sz="2800" b="1" dirty="0"/>
              <a:t>Deliverables</a:t>
            </a:r>
          </a:p>
        </p:txBody>
      </p:sp>
      <p:graphicFrame>
        <p:nvGraphicFramePr>
          <p:cNvPr id="8" name="Content Placeholder 7">
            <a:extLst>
              <a:ext uri="{FF2B5EF4-FFF2-40B4-BE49-F238E27FC236}">
                <a16:creationId xmlns:a16="http://schemas.microsoft.com/office/drawing/2014/main" id="{B955F1F0-499F-7032-3C73-9BA0A400AEAB}"/>
              </a:ext>
            </a:extLst>
          </p:cNvPr>
          <p:cNvGraphicFramePr>
            <a:graphicFrameLocks noGrp="1"/>
          </p:cNvGraphicFramePr>
          <p:nvPr>
            <p:ph idx="1"/>
            <p:extLst>
              <p:ext uri="{D42A27DB-BD31-4B8C-83A1-F6EECF244321}">
                <p14:modId xmlns:p14="http://schemas.microsoft.com/office/powerpoint/2010/main" val="693096859"/>
              </p:ext>
            </p:extLst>
          </p:nvPr>
        </p:nvGraphicFramePr>
        <p:xfrm>
          <a:off x="5102942" y="554799"/>
          <a:ext cx="6921911" cy="6423337"/>
        </p:xfrm>
        <a:graphic>
          <a:graphicData uri="http://schemas.openxmlformats.org/drawingml/2006/table">
            <a:tbl>
              <a:tblPr firstRow="1" bandRow="1">
                <a:tableStyleId>{5C22544A-7EE6-4342-B048-85BDC9FD1C3A}</a:tableStyleId>
              </a:tblPr>
              <a:tblGrid>
                <a:gridCol w="4866969">
                  <a:extLst>
                    <a:ext uri="{9D8B030D-6E8A-4147-A177-3AD203B41FA5}">
                      <a16:colId xmlns:a16="http://schemas.microsoft.com/office/drawing/2014/main" val="445434157"/>
                    </a:ext>
                  </a:extLst>
                </a:gridCol>
                <a:gridCol w="2054942">
                  <a:extLst>
                    <a:ext uri="{9D8B030D-6E8A-4147-A177-3AD203B41FA5}">
                      <a16:colId xmlns:a16="http://schemas.microsoft.com/office/drawing/2014/main" val="4062275311"/>
                    </a:ext>
                  </a:extLst>
                </a:gridCol>
              </a:tblGrid>
              <a:tr h="357339">
                <a:tc>
                  <a:txBody>
                    <a:bodyPr/>
                    <a:lstStyle/>
                    <a:p>
                      <a:r>
                        <a:rPr lang="en-GB" dirty="0"/>
                        <a:t>Proposed Milestones</a:t>
                      </a:r>
                    </a:p>
                  </a:txBody>
                  <a:tcPr/>
                </a:tc>
                <a:tc>
                  <a:txBody>
                    <a:bodyPr/>
                    <a:lstStyle/>
                    <a:p>
                      <a:r>
                        <a:rPr lang="en-GB" dirty="0"/>
                        <a:t>Achieved</a:t>
                      </a:r>
                    </a:p>
                  </a:txBody>
                  <a:tcPr/>
                </a:tc>
                <a:extLst>
                  <a:ext uri="{0D108BD9-81ED-4DB2-BD59-A6C34878D82A}">
                    <a16:rowId xmlns:a16="http://schemas.microsoft.com/office/drawing/2014/main" val="2825017652"/>
                  </a:ext>
                </a:extLst>
              </a:tr>
              <a:tr h="536008">
                <a:tc>
                  <a:txBody>
                    <a:bodyPr/>
                    <a:lstStyle/>
                    <a:p>
                      <a:r>
                        <a:rPr lang="en-GB" sz="1200" b="1" dirty="0"/>
                        <a:t>Milestone 1: Data collection on cellular signal strength throughout the 7 floors of the building.</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200" dirty="0"/>
                        <a:t>Achieved</a:t>
                      </a:r>
                    </a:p>
                    <a:p>
                      <a:endParaRPr lang="en-GB" dirty="0"/>
                    </a:p>
                  </a:txBody>
                  <a:tcPr/>
                </a:tc>
                <a:extLst>
                  <a:ext uri="{0D108BD9-81ED-4DB2-BD59-A6C34878D82A}">
                    <a16:rowId xmlns:a16="http://schemas.microsoft.com/office/drawing/2014/main" val="329277188"/>
                  </a:ext>
                </a:extLst>
              </a:tr>
              <a:tr h="625343">
                <a:tc>
                  <a:txBody>
                    <a:bodyPr/>
                    <a:lstStyle/>
                    <a:p>
                      <a:r>
                        <a:rPr lang="en-GB" sz="1200" dirty="0"/>
                        <a:t>Task 1.1: Search about research papers for data collection &amp;  walk testing inside the building.</a:t>
                      </a:r>
                    </a:p>
                    <a:p>
                      <a:endParaRPr lang="en-GB" sz="12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200" dirty="0"/>
                        <a:t>Achieved</a:t>
                      </a:r>
                    </a:p>
                    <a:p>
                      <a:endParaRPr lang="en-GB" sz="1200" dirty="0"/>
                    </a:p>
                  </a:txBody>
                  <a:tcPr/>
                </a:tc>
                <a:extLst>
                  <a:ext uri="{0D108BD9-81ED-4DB2-BD59-A6C34878D82A}">
                    <a16:rowId xmlns:a16="http://schemas.microsoft.com/office/drawing/2014/main" val="3107907771"/>
                  </a:ext>
                </a:extLst>
              </a:tr>
              <a:tr h="446674">
                <a:tc>
                  <a:txBody>
                    <a:bodyPr/>
                    <a:lstStyle/>
                    <a:p>
                      <a:r>
                        <a:rPr lang="en-GB" sz="1200" dirty="0"/>
                        <a:t>Task 1.2: Collecting data using different phones.</a:t>
                      </a:r>
                    </a:p>
                    <a:p>
                      <a:endParaRPr lang="en-GB" sz="12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200" dirty="0"/>
                        <a:t>Achieved</a:t>
                      </a:r>
                    </a:p>
                    <a:p>
                      <a:endParaRPr lang="en-GB" sz="1200" dirty="0"/>
                    </a:p>
                  </a:txBody>
                  <a:tcPr/>
                </a:tc>
                <a:extLst>
                  <a:ext uri="{0D108BD9-81ED-4DB2-BD59-A6C34878D82A}">
                    <a16:rowId xmlns:a16="http://schemas.microsoft.com/office/drawing/2014/main" val="152417002"/>
                  </a:ext>
                </a:extLst>
              </a:tr>
              <a:tr h="446674">
                <a:tc>
                  <a:txBody>
                    <a:bodyPr/>
                    <a:lstStyle/>
                    <a:p>
                      <a:r>
                        <a:rPr lang="en-GB" sz="1200" b="1" dirty="0"/>
                        <a:t>Milestone 2: Model Development</a:t>
                      </a:r>
                    </a:p>
                    <a:p>
                      <a:endParaRPr lang="en-GB" sz="12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200" dirty="0"/>
                        <a:t>Achieved</a:t>
                      </a:r>
                    </a:p>
                    <a:p>
                      <a:endParaRPr lang="en-GB" sz="1200" dirty="0"/>
                    </a:p>
                  </a:txBody>
                  <a:tcPr/>
                </a:tc>
                <a:extLst>
                  <a:ext uri="{0D108BD9-81ED-4DB2-BD59-A6C34878D82A}">
                    <a16:rowId xmlns:a16="http://schemas.microsoft.com/office/drawing/2014/main" val="62395050"/>
                  </a:ext>
                </a:extLst>
              </a:tr>
              <a:tr h="446674">
                <a:tc>
                  <a:txBody>
                    <a:bodyPr/>
                    <a:lstStyle/>
                    <a:p>
                      <a:r>
                        <a:rPr lang="en-GB" sz="1200" dirty="0"/>
                        <a:t>Task 2.1: Design and studying Cad drawing of the building</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200" dirty="0"/>
                        <a:t>Achieved</a:t>
                      </a:r>
                    </a:p>
                    <a:p>
                      <a:endParaRPr lang="en-GB" sz="1200" dirty="0"/>
                    </a:p>
                  </a:txBody>
                  <a:tcPr/>
                </a:tc>
                <a:extLst>
                  <a:ext uri="{0D108BD9-81ED-4DB2-BD59-A6C34878D82A}">
                    <a16:rowId xmlns:a16="http://schemas.microsoft.com/office/drawing/2014/main" val="2666720793"/>
                  </a:ext>
                </a:extLst>
              </a:tr>
              <a:tr h="446674">
                <a:tc>
                  <a:txBody>
                    <a:bodyPr/>
                    <a:lstStyle/>
                    <a:p>
                      <a:r>
                        <a:rPr lang="en-GB" sz="1200" dirty="0"/>
                        <a:t>Task 2.2: Searching about IBS and antenna systems of the buildings</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200" dirty="0"/>
                        <a:t>Achieved</a:t>
                      </a:r>
                    </a:p>
                    <a:p>
                      <a:endParaRPr lang="en-GB" sz="1200" dirty="0"/>
                    </a:p>
                  </a:txBody>
                  <a:tcPr/>
                </a:tc>
                <a:extLst>
                  <a:ext uri="{0D108BD9-81ED-4DB2-BD59-A6C34878D82A}">
                    <a16:rowId xmlns:a16="http://schemas.microsoft.com/office/drawing/2014/main" val="4025187056"/>
                  </a:ext>
                </a:extLst>
              </a:tr>
              <a:tr h="452797">
                <a:tc>
                  <a:txBody>
                    <a:bodyPr/>
                    <a:lstStyle/>
                    <a:p>
                      <a:r>
                        <a:rPr lang="en-GB" sz="1200" b="1" dirty="0"/>
                        <a:t>Milestone 3: Data collection on cellular signal strength throughout the seven floors of the building.</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200" dirty="0"/>
                        <a:t>Achieved</a:t>
                      </a:r>
                    </a:p>
                    <a:p>
                      <a:endParaRPr lang="en-GB" sz="1200" dirty="0"/>
                    </a:p>
                  </a:txBody>
                  <a:tcPr/>
                </a:tc>
                <a:extLst>
                  <a:ext uri="{0D108BD9-81ED-4DB2-BD59-A6C34878D82A}">
                    <a16:rowId xmlns:a16="http://schemas.microsoft.com/office/drawing/2014/main" val="663135595"/>
                  </a:ext>
                </a:extLst>
              </a:tr>
              <a:tr h="446674">
                <a:tc>
                  <a:txBody>
                    <a:bodyPr/>
                    <a:lstStyle/>
                    <a:p>
                      <a:r>
                        <a:rPr lang="en-GB" sz="1200" dirty="0"/>
                        <a:t>Task 3.1: </a:t>
                      </a:r>
                      <a:r>
                        <a:rPr lang="en-GB" sz="1200" dirty="0" err="1"/>
                        <a:t>Analyzing</a:t>
                      </a:r>
                      <a:r>
                        <a:rPr lang="en-GB" sz="1200" dirty="0"/>
                        <a:t> collected data using </a:t>
                      </a:r>
                      <a:r>
                        <a:rPr lang="en-GB" sz="1200" dirty="0" err="1"/>
                        <a:t>Matlab</a:t>
                      </a:r>
                      <a:r>
                        <a:rPr lang="en-GB" sz="1200" dirty="0"/>
                        <a:t>.</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200" dirty="0"/>
                        <a:t>Achieved</a:t>
                      </a:r>
                    </a:p>
                    <a:p>
                      <a:endParaRPr lang="en-GB" sz="1200" dirty="0"/>
                    </a:p>
                  </a:txBody>
                  <a:tcPr/>
                </a:tc>
                <a:extLst>
                  <a:ext uri="{0D108BD9-81ED-4DB2-BD59-A6C34878D82A}">
                    <a16:rowId xmlns:a16="http://schemas.microsoft.com/office/drawing/2014/main" val="1307055339"/>
                  </a:ext>
                </a:extLst>
              </a:tr>
              <a:tr h="479737">
                <a:tc>
                  <a:txBody>
                    <a:bodyPr/>
                    <a:lstStyle/>
                    <a:p>
                      <a:r>
                        <a:rPr lang="en-GB" sz="1200" dirty="0"/>
                        <a:t>Task 3.2: Searching Soft-wares and simulate the propagation of cellular signals inside the building using </a:t>
                      </a:r>
                      <a:r>
                        <a:rPr lang="en-GB" sz="1200" dirty="0" err="1"/>
                        <a:t>matlab</a:t>
                      </a:r>
                      <a:endParaRPr lang="en-GB" sz="12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200" dirty="0"/>
                        <a:t>Achieved</a:t>
                      </a:r>
                    </a:p>
                    <a:p>
                      <a:endParaRPr lang="en-GB" sz="1200" dirty="0"/>
                    </a:p>
                  </a:txBody>
                  <a:tcPr/>
                </a:tc>
                <a:extLst>
                  <a:ext uri="{0D108BD9-81ED-4DB2-BD59-A6C34878D82A}">
                    <a16:rowId xmlns:a16="http://schemas.microsoft.com/office/drawing/2014/main" val="2002993113"/>
                  </a:ext>
                </a:extLst>
              </a:tr>
              <a:tr h="536008">
                <a:tc>
                  <a:txBody>
                    <a:bodyPr/>
                    <a:lstStyle/>
                    <a:p>
                      <a:r>
                        <a:rPr lang="en-GB" sz="1200" dirty="0"/>
                        <a:t>Milestone 4: Finalizing Data</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dirty="0">
                          <a:ln>
                            <a:noFill/>
                          </a:ln>
                          <a:solidFill>
                            <a:prstClr val="black"/>
                          </a:solidFill>
                          <a:effectLst/>
                          <a:uLnTx/>
                          <a:uFillTx/>
                          <a:latin typeface="+mn-lt"/>
                          <a:ea typeface="+mn-ea"/>
                          <a:cs typeface="+mn-cs"/>
                        </a:rPr>
                        <a:t>Achieved</a:t>
                      </a:r>
                    </a:p>
                    <a:p>
                      <a:endParaRPr lang="en-GB" dirty="0"/>
                    </a:p>
                  </a:txBody>
                  <a:tcPr/>
                </a:tc>
                <a:extLst>
                  <a:ext uri="{0D108BD9-81ED-4DB2-BD59-A6C34878D82A}">
                    <a16:rowId xmlns:a16="http://schemas.microsoft.com/office/drawing/2014/main" val="3552586557"/>
                  </a:ext>
                </a:extLst>
              </a:tr>
              <a:tr h="536008">
                <a:tc>
                  <a:txBody>
                    <a:bodyPr/>
                    <a:lstStyle/>
                    <a:p>
                      <a:r>
                        <a:rPr lang="en-GB" sz="1200" dirty="0"/>
                        <a:t>Task 4.1: Data comparing and </a:t>
                      </a:r>
                      <a:r>
                        <a:rPr lang="en-GB" sz="1200" dirty="0" err="1"/>
                        <a:t>analayzing</a:t>
                      </a:r>
                      <a:r>
                        <a:rPr lang="en-GB" sz="1200" dirty="0"/>
                        <a:t> with real world measurements and give repeater system solution. </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dirty="0">
                          <a:ln>
                            <a:noFill/>
                          </a:ln>
                          <a:solidFill>
                            <a:prstClr val="black"/>
                          </a:solidFill>
                          <a:effectLst/>
                          <a:uLnTx/>
                          <a:uFillTx/>
                          <a:latin typeface="+mn-lt"/>
                          <a:ea typeface="+mn-ea"/>
                          <a:cs typeface="+mn-cs"/>
                        </a:rPr>
                        <a:t>Achieved</a:t>
                      </a:r>
                    </a:p>
                    <a:p>
                      <a:endParaRPr lang="en-GB" dirty="0"/>
                    </a:p>
                  </a:txBody>
                  <a:tcPr/>
                </a:tc>
                <a:extLst>
                  <a:ext uri="{0D108BD9-81ED-4DB2-BD59-A6C34878D82A}">
                    <a16:rowId xmlns:a16="http://schemas.microsoft.com/office/drawing/2014/main" val="3312150806"/>
                  </a:ext>
                </a:extLst>
              </a:tr>
              <a:tr h="536008">
                <a:tc>
                  <a:txBody>
                    <a:bodyPr/>
                    <a:lstStyle/>
                    <a:p>
                      <a:r>
                        <a:rPr lang="en-GB" sz="1200" dirty="0"/>
                        <a:t>Task 4.2: Creating final report and presentation.</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dirty="0">
                          <a:ln>
                            <a:noFill/>
                          </a:ln>
                          <a:solidFill>
                            <a:prstClr val="black"/>
                          </a:solidFill>
                          <a:effectLst/>
                          <a:uLnTx/>
                          <a:uFillTx/>
                          <a:latin typeface="+mn-lt"/>
                          <a:ea typeface="+mn-ea"/>
                          <a:cs typeface="+mn-cs"/>
                        </a:rPr>
                        <a:t>Achieved</a:t>
                      </a:r>
                    </a:p>
                    <a:p>
                      <a:endParaRPr lang="en-GB" dirty="0"/>
                    </a:p>
                  </a:txBody>
                  <a:tcPr/>
                </a:tc>
                <a:extLst>
                  <a:ext uri="{0D108BD9-81ED-4DB2-BD59-A6C34878D82A}">
                    <a16:rowId xmlns:a16="http://schemas.microsoft.com/office/drawing/2014/main" val="3259655560"/>
                  </a:ext>
                </a:extLst>
              </a:tr>
            </a:tbl>
          </a:graphicData>
        </a:graphic>
      </p:graphicFrame>
      <p:sp>
        <p:nvSpPr>
          <p:cNvPr id="9" name="TextBox 8">
            <a:extLst>
              <a:ext uri="{FF2B5EF4-FFF2-40B4-BE49-F238E27FC236}">
                <a16:creationId xmlns:a16="http://schemas.microsoft.com/office/drawing/2014/main" id="{7DACABC0-54FE-03AE-F657-71716F9EBFAC}"/>
              </a:ext>
            </a:extLst>
          </p:cNvPr>
          <p:cNvSpPr txBox="1"/>
          <p:nvPr/>
        </p:nvSpPr>
        <p:spPr>
          <a:xfrm>
            <a:off x="5181599" y="-64271"/>
            <a:ext cx="2890685" cy="523220"/>
          </a:xfrm>
          <a:prstGeom prst="rect">
            <a:avLst/>
          </a:prstGeom>
          <a:noFill/>
        </p:spPr>
        <p:txBody>
          <a:bodyPr wrap="square" rtlCol="0">
            <a:spAutoFit/>
          </a:bodyPr>
          <a:lstStyle/>
          <a:p>
            <a:r>
              <a:rPr lang="en-GB" sz="2800" dirty="0"/>
              <a:t>Milestones</a:t>
            </a:r>
          </a:p>
        </p:txBody>
      </p:sp>
      <p:sp>
        <p:nvSpPr>
          <p:cNvPr id="10" name="TextBox 9">
            <a:extLst>
              <a:ext uri="{FF2B5EF4-FFF2-40B4-BE49-F238E27FC236}">
                <a16:creationId xmlns:a16="http://schemas.microsoft.com/office/drawing/2014/main" id="{F77B2253-1E20-693E-BAB2-CE18D35267AC}"/>
              </a:ext>
            </a:extLst>
          </p:cNvPr>
          <p:cNvSpPr txBox="1"/>
          <p:nvPr/>
        </p:nvSpPr>
        <p:spPr>
          <a:xfrm>
            <a:off x="108155" y="523220"/>
            <a:ext cx="4994787" cy="2585323"/>
          </a:xfrm>
          <a:prstGeom prst="rect">
            <a:avLst/>
          </a:prstGeom>
          <a:noFill/>
        </p:spPr>
        <p:txBody>
          <a:bodyPr wrap="square" rtlCol="0">
            <a:spAutoFit/>
          </a:bodyPr>
          <a:lstStyle/>
          <a:p>
            <a:pPr marL="285750" indent="-285750">
              <a:buFont typeface="Arial" panose="020B0604020202020204" pitchFamily="34" charset="0"/>
              <a:buChar char="•"/>
            </a:pPr>
            <a:r>
              <a:rPr lang="en-GB" dirty="0"/>
              <a:t>Comparing and analysing all seven floors, walk testing details </a:t>
            </a:r>
          </a:p>
          <a:p>
            <a:endParaRPr lang="en-GB" dirty="0"/>
          </a:p>
          <a:p>
            <a:pPr marL="285750" indent="-285750">
              <a:buFont typeface="Arial" panose="020B0604020202020204" pitchFamily="34" charset="0"/>
              <a:buChar char="•"/>
            </a:pPr>
            <a:r>
              <a:rPr lang="en-GB" dirty="0"/>
              <a:t>Provide a fully implemented In-Building Solutions (IBS) system within the Zenith building. This includes the installation of distributed antenna systems (DAS), small cells, repeaters, and other necessary components to enhance cellular signal strength</a:t>
            </a:r>
          </a:p>
        </p:txBody>
      </p:sp>
      <p:pic>
        <p:nvPicPr>
          <p:cNvPr id="11" name="Picture 10">
            <a:extLst>
              <a:ext uri="{FF2B5EF4-FFF2-40B4-BE49-F238E27FC236}">
                <a16:creationId xmlns:a16="http://schemas.microsoft.com/office/drawing/2014/main" id="{29FF35A3-5A65-2AAD-B46F-100CBA2AED0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795702" y="16285"/>
            <a:ext cx="1229151" cy="523220"/>
          </a:xfrm>
          <a:prstGeom prst="rect">
            <a:avLst/>
          </a:prstGeom>
        </p:spPr>
      </p:pic>
    </p:spTree>
    <p:extLst>
      <p:ext uri="{BB962C8B-B14F-4D97-AF65-F5344CB8AC3E}">
        <p14:creationId xmlns:p14="http://schemas.microsoft.com/office/powerpoint/2010/main" val="50784660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16939" y="594360"/>
            <a:ext cx="5732145" cy="697230"/>
          </a:xfrm>
          <a:prstGeom prst="rect">
            <a:avLst/>
          </a:prstGeom>
        </p:spPr>
        <p:txBody>
          <a:bodyPr vert="horz" wrap="square" lIns="0" tIns="13335" rIns="0" bIns="0" rtlCol="0">
            <a:spAutoFit/>
          </a:bodyPr>
          <a:lstStyle/>
          <a:p>
            <a:pPr marL="12700">
              <a:lnSpc>
                <a:spcPct val="100000"/>
              </a:lnSpc>
              <a:spcBef>
                <a:spcPts val="105"/>
              </a:spcBef>
            </a:pPr>
            <a:r>
              <a:rPr sz="4400" b="0" spc="-20" dirty="0">
                <a:latin typeface="Calibri Light" panose="020F0302020204030204"/>
                <a:cs typeface="Calibri Light" panose="020F0302020204030204"/>
              </a:rPr>
              <a:t>PROJECT</a:t>
            </a:r>
            <a:r>
              <a:rPr sz="4400" b="0" spc="-50" dirty="0">
                <a:latin typeface="Calibri Light" panose="020F0302020204030204"/>
                <a:cs typeface="Calibri Light" panose="020F0302020204030204"/>
              </a:rPr>
              <a:t> </a:t>
            </a:r>
            <a:r>
              <a:rPr sz="4400" b="0" spc="-15" dirty="0">
                <a:latin typeface="Calibri Light" panose="020F0302020204030204"/>
                <a:cs typeface="Calibri Light" panose="020F0302020204030204"/>
              </a:rPr>
              <a:t>METHODOLOGY</a:t>
            </a:r>
            <a:endParaRPr sz="4400">
              <a:latin typeface="Calibri Light" panose="020F0302020204030204"/>
              <a:cs typeface="Calibri Light" panose="020F0302020204030204"/>
            </a:endParaRPr>
          </a:p>
        </p:txBody>
      </p:sp>
      <p:sp>
        <p:nvSpPr>
          <p:cNvPr id="3" name="object 3"/>
          <p:cNvSpPr txBox="1"/>
          <p:nvPr/>
        </p:nvSpPr>
        <p:spPr>
          <a:xfrm>
            <a:off x="916939" y="1768475"/>
            <a:ext cx="8897620" cy="2502535"/>
          </a:xfrm>
          <a:prstGeom prst="rect">
            <a:avLst/>
          </a:prstGeom>
        </p:spPr>
        <p:txBody>
          <a:bodyPr vert="horz" wrap="square" lIns="0" tIns="12065" rIns="0" bIns="0" rtlCol="0">
            <a:spAutoFit/>
          </a:bodyPr>
          <a:lstStyle/>
          <a:p>
            <a:pPr marL="12700" marR="0" lvl="0" indent="0" algn="l" defTabSz="914400" rtl="0" eaLnBrk="1" fontAlgn="auto" latinLnBrk="0" hangingPunct="1">
              <a:lnSpc>
                <a:spcPct val="100000"/>
              </a:lnSpc>
              <a:spcBef>
                <a:spcPts val="95"/>
              </a:spcBef>
              <a:spcAft>
                <a:spcPts val="0"/>
              </a:spcAft>
              <a:buClrTx/>
              <a:buSzTx/>
              <a:buFontTx/>
              <a:buNone/>
              <a:tabLst/>
              <a:defRPr/>
            </a:pPr>
            <a:r>
              <a:rPr kumimoji="0" sz="2800" b="1" i="0" u="none" strike="noStrike" kern="1200" cap="none" spc="-20" normalizeH="0" baseline="0" noProof="0" dirty="0">
                <a:ln>
                  <a:noFill/>
                </a:ln>
                <a:solidFill>
                  <a:prstClr val="black"/>
                </a:solidFill>
                <a:effectLst/>
                <a:uLnTx/>
                <a:uFillTx/>
                <a:latin typeface="Calibri" panose="020F0502020204030204"/>
                <a:ea typeface="+mn-ea"/>
                <a:cs typeface="Calibri" panose="020F0502020204030204"/>
              </a:rPr>
              <a:t>Data</a:t>
            </a:r>
            <a:r>
              <a:rPr kumimoji="0" sz="2800" b="1" i="0" u="none" strike="noStrike" kern="1200" cap="none" spc="-35" normalizeH="0" baseline="0" noProof="0" dirty="0">
                <a:ln>
                  <a:noFill/>
                </a:ln>
                <a:solidFill>
                  <a:prstClr val="black"/>
                </a:solidFill>
                <a:effectLst/>
                <a:uLnTx/>
                <a:uFillTx/>
                <a:latin typeface="Calibri" panose="020F0502020204030204"/>
                <a:ea typeface="+mn-ea"/>
                <a:cs typeface="Calibri" panose="020F0502020204030204"/>
              </a:rPr>
              <a:t> </a:t>
            </a:r>
            <a:r>
              <a:rPr kumimoji="0" sz="2800" b="1" i="0" u="none" strike="noStrike" kern="1200" cap="none" spc="-5" normalizeH="0" baseline="0" noProof="0" dirty="0">
                <a:ln>
                  <a:noFill/>
                </a:ln>
                <a:solidFill>
                  <a:prstClr val="black"/>
                </a:solidFill>
                <a:effectLst/>
                <a:uLnTx/>
                <a:uFillTx/>
                <a:latin typeface="Calibri" panose="020F0502020204030204"/>
                <a:ea typeface="+mn-ea"/>
                <a:cs typeface="Calibri" panose="020F0502020204030204"/>
              </a:rPr>
              <a:t>collection</a:t>
            </a:r>
            <a:endParaRPr kumimoji="0" sz="2800" b="0" i="0" u="none" strike="noStrike" kern="1200" cap="none" spc="0" normalizeH="0" baseline="0" noProof="0">
              <a:ln>
                <a:noFill/>
              </a:ln>
              <a:solidFill>
                <a:prstClr val="black"/>
              </a:solidFill>
              <a:effectLst/>
              <a:uLnTx/>
              <a:uFillTx/>
              <a:latin typeface="Calibri" panose="020F0502020204030204"/>
              <a:ea typeface="+mn-ea"/>
              <a:cs typeface="Calibri" panose="020F0502020204030204"/>
            </a:endParaRPr>
          </a:p>
          <a:p>
            <a:pPr marL="0" marR="0" lvl="0" indent="0" algn="l" defTabSz="914400" rtl="0" eaLnBrk="1" fontAlgn="auto" latinLnBrk="0" hangingPunct="1">
              <a:lnSpc>
                <a:spcPct val="100000"/>
              </a:lnSpc>
              <a:spcBef>
                <a:spcPts val="25"/>
              </a:spcBef>
              <a:spcAft>
                <a:spcPts val="0"/>
              </a:spcAft>
              <a:buClrTx/>
              <a:buSzTx/>
              <a:buFontTx/>
              <a:buNone/>
              <a:tabLst/>
              <a:defRPr/>
            </a:pPr>
            <a:endParaRPr kumimoji="0" sz="3350" b="0" i="0" u="none" strike="noStrike" kern="1200" cap="none" spc="0" normalizeH="0" baseline="0" noProof="0">
              <a:ln>
                <a:noFill/>
              </a:ln>
              <a:solidFill>
                <a:prstClr val="black"/>
              </a:solidFill>
              <a:effectLst/>
              <a:uLnTx/>
              <a:uFillTx/>
              <a:latin typeface="Calibri" panose="020F0502020204030204"/>
              <a:ea typeface="+mn-ea"/>
              <a:cs typeface="Calibri" panose="020F0502020204030204"/>
            </a:endParaRPr>
          </a:p>
          <a:p>
            <a:pPr marL="241300" marR="0" lvl="0" indent="-228600" algn="l" defTabSz="914400" rtl="0" eaLnBrk="1" fontAlgn="auto" latinLnBrk="0" hangingPunct="1">
              <a:lnSpc>
                <a:spcPct val="100000"/>
              </a:lnSpc>
              <a:spcBef>
                <a:spcPts val="0"/>
              </a:spcBef>
              <a:spcAft>
                <a:spcPts val="0"/>
              </a:spcAft>
              <a:buClrTx/>
              <a:buSzTx/>
              <a:buFont typeface="Arial MT"/>
              <a:buChar char="•"/>
              <a:tabLst>
                <a:tab pos="241300" algn="l"/>
              </a:tabLst>
              <a:defRPr/>
            </a:pPr>
            <a:r>
              <a:rPr kumimoji="0" sz="2400" b="0" i="0" u="none" strike="noStrike" kern="1200" cap="none" spc="-10" normalizeH="0" baseline="0" noProof="0" dirty="0">
                <a:ln>
                  <a:noFill/>
                </a:ln>
                <a:solidFill>
                  <a:prstClr val="black"/>
                </a:solidFill>
                <a:effectLst/>
                <a:uLnTx/>
                <a:uFillTx/>
                <a:latin typeface="Calibri" panose="020F0502020204030204"/>
                <a:ea typeface="+mn-ea"/>
                <a:cs typeface="Calibri" panose="020F0502020204030204"/>
              </a:rPr>
              <a:t>Drive</a:t>
            </a:r>
            <a:r>
              <a:rPr kumimoji="0" sz="2400" b="0" i="0" u="none" strike="noStrike" kern="1200" cap="none" spc="-40" normalizeH="0" baseline="0" noProof="0" dirty="0">
                <a:ln>
                  <a:noFill/>
                </a:ln>
                <a:solidFill>
                  <a:prstClr val="black"/>
                </a:solidFill>
                <a:effectLst/>
                <a:uLnTx/>
                <a:uFillTx/>
                <a:latin typeface="Calibri" panose="020F0502020204030204"/>
                <a:ea typeface="+mn-ea"/>
                <a:cs typeface="Calibri" panose="020F0502020204030204"/>
              </a:rPr>
              <a:t> </a:t>
            </a:r>
            <a:r>
              <a:rPr kumimoji="0" sz="2400" b="0" i="0" u="none" strike="noStrike" kern="1200" cap="none" spc="-10" normalizeH="0" baseline="0" noProof="0" dirty="0">
                <a:ln>
                  <a:noFill/>
                </a:ln>
                <a:solidFill>
                  <a:prstClr val="black"/>
                </a:solidFill>
                <a:effectLst/>
                <a:uLnTx/>
                <a:uFillTx/>
                <a:latin typeface="Calibri" panose="020F0502020204030204"/>
                <a:ea typeface="+mn-ea"/>
                <a:cs typeface="Calibri" panose="020F0502020204030204"/>
              </a:rPr>
              <a:t>testing</a:t>
            </a:r>
            <a:endParaRPr kumimoji="0" sz="2400" b="0" i="0" u="none" strike="noStrike" kern="1200" cap="none" spc="0" normalizeH="0" baseline="0" noProof="0">
              <a:ln>
                <a:noFill/>
              </a:ln>
              <a:solidFill>
                <a:prstClr val="black"/>
              </a:solidFill>
              <a:effectLst/>
              <a:uLnTx/>
              <a:uFillTx/>
              <a:latin typeface="Calibri" panose="020F0502020204030204"/>
              <a:ea typeface="+mn-ea"/>
              <a:cs typeface="Calibri" panose="020F0502020204030204"/>
            </a:endParaRPr>
          </a:p>
          <a:p>
            <a:pPr marL="2527300" marR="331470" lvl="1" indent="-228600" algn="l" defTabSz="914400" rtl="0" eaLnBrk="1" fontAlgn="auto" latinLnBrk="0" hangingPunct="1">
              <a:lnSpc>
                <a:spcPct val="80000"/>
              </a:lnSpc>
              <a:spcBef>
                <a:spcPts val="510"/>
              </a:spcBef>
              <a:spcAft>
                <a:spcPts val="0"/>
              </a:spcAft>
              <a:buClrTx/>
              <a:buSzTx/>
              <a:buFont typeface="Arial MT"/>
              <a:buChar char="•"/>
              <a:tabLst>
                <a:tab pos="2526665" algn="l"/>
                <a:tab pos="2527300" algn="l"/>
              </a:tabLst>
              <a:defRPr/>
            </a:pPr>
            <a:r>
              <a:rPr kumimoji="0" sz="1800" b="0" i="0" u="none" strike="noStrike" kern="1200" cap="none" spc="0" normalizeH="0" baseline="0" noProof="0">
                <a:ln>
                  <a:noFill/>
                </a:ln>
                <a:solidFill>
                  <a:prstClr val="black"/>
                </a:solidFill>
                <a:effectLst/>
                <a:uLnTx/>
                <a:uFillTx/>
                <a:latin typeface="Calibri" panose="020F0502020204030204"/>
                <a:ea typeface="+mn-ea"/>
                <a:cs typeface="Calibri" panose="020F0502020204030204"/>
              </a:rPr>
              <a:t>G-NetTrack Lite" is a mobile network testing and analysis tool that allows users to perform drive testing and walk testing to evaluate and analyze the performance of mobile networks. Drive testing involves assessing network quality while moving, typically in a vehicle, while walk testing involves doing the same on foot.</a:t>
            </a:r>
          </a:p>
        </p:txBody>
      </p:sp>
      <p:sp>
        <p:nvSpPr>
          <p:cNvPr id="4" name="object 4"/>
          <p:cNvSpPr txBox="1"/>
          <p:nvPr/>
        </p:nvSpPr>
        <p:spPr>
          <a:xfrm>
            <a:off x="916939" y="4862829"/>
            <a:ext cx="1779270" cy="391160"/>
          </a:xfrm>
          <a:prstGeom prst="rect">
            <a:avLst/>
          </a:prstGeom>
        </p:spPr>
        <p:txBody>
          <a:bodyPr vert="horz" wrap="square" lIns="0" tIns="12700" rIns="0" bIns="0" rtlCol="0">
            <a:spAutoFit/>
          </a:bodyPr>
          <a:lstStyle/>
          <a:p>
            <a:pPr marL="241300" marR="0" lvl="0" indent="-228600" algn="l" defTabSz="914400" rtl="0" eaLnBrk="1" fontAlgn="auto" latinLnBrk="0" hangingPunct="1">
              <a:lnSpc>
                <a:spcPct val="100000"/>
              </a:lnSpc>
              <a:spcBef>
                <a:spcPts val="100"/>
              </a:spcBef>
              <a:spcAft>
                <a:spcPts val="0"/>
              </a:spcAft>
              <a:buClrTx/>
              <a:buSzTx/>
              <a:buFont typeface="Arial MT"/>
              <a:buChar char="•"/>
              <a:tabLst>
                <a:tab pos="241300" algn="l"/>
              </a:tabLst>
              <a:defRPr/>
            </a:pPr>
            <a:r>
              <a:rPr kumimoji="0" sz="2400" b="0" i="0" u="none" strike="noStrike" kern="1200" cap="none" spc="-25" normalizeH="0" baseline="0" noProof="0" dirty="0">
                <a:ln>
                  <a:noFill/>
                </a:ln>
                <a:solidFill>
                  <a:prstClr val="black"/>
                </a:solidFill>
                <a:effectLst/>
                <a:uLnTx/>
                <a:uFillTx/>
                <a:latin typeface="Calibri" panose="020F0502020204030204"/>
                <a:ea typeface="+mn-ea"/>
                <a:cs typeface="Calibri" panose="020F0502020204030204"/>
              </a:rPr>
              <a:t>Walk</a:t>
            </a:r>
            <a:r>
              <a:rPr kumimoji="0" sz="2400" b="0" i="0" u="none" strike="noStrike" kern="1200" cap="none" spc="-80" normalizeH="0" baseline="0" noProof="0" dirty="0">
                <a:ln>
                  <a:noFill/>
                </a:ln>
                <a:solidFill>
                  <a:prstClr val="black"/>
                </a:solidFill>
                <a:effectLst/>
                <a:uLnTx/>
                <a:uFillTx/>
                <a:latin typeface="Calibri" panose="020F0502020204030204"/>
                <a:ea typeface="+mn-ea"/>
                <a:cs typeface="Calibri" panose="020F0502020204030204"/>
              </a:rPr>
              <a:t> </a:t>
            </a:r>
            <a:r>
              <a:rPr kumimoji="0" sz="2400" b="0" i="0" u="none" strike="noStrike" kern="1200" cap="none" spc="-10" normalizeH="0" baseline="0" noProof="0" dirty="0">
                <a:ln>
                  <a:noFill/>
                </a:ln>
                <a:solidFill>
                  <a:prstClr val="black"/>
                </a:solidFill>
                <a:effectLst/>
                <a:uLnTx/>
                <a:uFillTx/>
                <a:latin typeface="Calibri" panose="020F0502020204030204"/>
                <a:ea typeface="+mn-ea"/>
                <a:cs typeface="Calibri" panose="020F0502020204030204"/>
              </a:rPr>
              <a:t>testing</a:t>
            </a:r>
            <a:endParaRPr kumimoji="0" sz="2400" b="0" i="0" u="none" strike="noStrike" kern="1200" cap="none" spc="0" normalizeH="0" baseline="0" noProof="0">
              <a:ln>
                <a:noFill/>
              </a:ln>
              <a:solidFill>
                <a:prstClr val="black"/>
              </a:solidFill>
              <a:effectLst/>
              <a:uLnTx/>
              <a:uFillTx/>
              <a:latin typeface="Calibri" panose="020F0502020204030204"/>
              <a:ea typeface="+mn-ea"/>
              <a:cs typeface="Calibri" panose="020F0502020204030204"/>
            </a:endParaRPr>
          </a:p>
        </p:txBody>
      </p:sp>
      <p:grpSp>
        <p:nvGrpSpPr>
          <p:cNvPr id="6" name="object 6"/>
          <p:cNvGrpSpPr/>
          <p:nvPr/>
        </p:nvGrpSpPr>
        <p:grpSpPr>
          <a:xfrm>
            <a:off x="761" y="761"/>
            <a:ext cx="12190730" cy="6856730"/>
            <a:chOff x="761" y="761"/>
            <a:chExt cx="12190730" cy="6856730"/>
          </a:xfrm>
        </p:grpSpPr>
        <p:pic>
          <p:nvPicPr>
            <p:cNvPr id="7" name="object 7"/>
            <p:cNvPicPr/>
            <p:nvPr/>
          </p:nvPicPr>
          <p:blipFill>
            <a:blip r:embed="rId2" cstate="print"/>
            <a:stretch>
              <a:fillRect/>
            </a:stretch>
          </p:blipFill>
          <p:spPr>
            <a:xfrm>
              <a:off x="966215" y="3322453"/>
              <a:ext cx="1248968" cy="1060570"/>
            </a:xfrm>
            <a:prstGeom prst="rect">
              <a:avLst/>
            </a:prstGeom>
          </p:spPr>
        </p:pic>
        <p:pic>
          <p:nvPicPr>
            <p:cNvPr id="8" name="object 8"/>
            <p:cNvPicPr/>
            <p:nvPr/>
          </p:nvPicPr>
          <p:blipFill>
            <a:blip r:embed="rId3" cstate="print"/>
            <a:stretch>
              <a:fillRect/>
            </a:stretch>
          </p:blipFill>
          <p:spPr>
            <a:xfrm>
              <a:off x="1424939" y="5241035"/>
              <a:ext cx="966216" cy="810768"/>
            </a:xfrm>
            <a:prstGeom prst="rect">
              <a:avLst/>
            </a:prstGeom>
          </p:spPr>
        </p:pic>
        <p:sp>
          <p:nvSpPr>
            <p:cNvPr id="9" name="object 9"/>
            <p:cNvSpPr/>
            <p:nvPr/>
          </p:nvSpPr>
          <p:spPr>
            <a:xfrm>
              <a:off x="761" y="761"/>
              <a:ext cx="12190730" cy="6856730"/>
            </a:xfrm>
            <a:custGeom>
              <a:avLst/>
              <a:gdLst/>
              <a:ahLst/>
              <a:cxnLst/>
              <a:rect l="l" t="t" r="r" b="b"/>
              <a:pathLst>
                <a:path w="12190730" h="6856730">
                  <a:moveTo>
                    <a:pt x="0" y="0"/>
                  </a:moveTo>
                  <a:lnTo>
                    <a:pt x="12190476" y="0"/>
                  </a:lnTo>
                  <a:lnTo>
                    <a:pt x="12190476" y="6856476"/>
                  </a:lnTo>
                  <a:lnTo>
                    <a:pt x="0" y="6856476"/>
                  </a:lnTo>
                  <a:lnTo>
                    <a:pt x="0" y="0"/>
                  </a:lnTo>
                  <a:close/>
                </a:path>
              </a:pathLst>
            </a:custGeom>
            <a:ln w="3175">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pic>
        <p:nvPicPr>
          <p:cNvPr id="5" name="Picture 4">
            <a:extLst>
              <a:ext uri="{FF2B5EF4-FFF2-40B4-BE49-F238E27FC236}">
                <a16:creationId xmlns:a16="http://schemas.microsoft.com/office/drawing/2014/main" id="{01C06537-E768-B30C-56BF-60C3A8987BE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592315" y="16284"/>
            <a:ext cx="1409897" cy="600159"/>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16939" y="594360"/>
            <a:ext cx="5732145" cy="697230"/>
          </a:xfrm>
          <a:prstGeom prst="rect">
            <a:avLst/>
          </a:prstGeom>
        </p:spPr>
        <p:txBody>
          <a:bodyPr vert="horz" wrap="square" lIns="0" tIns="13335" rIns="0" bIns="0" rtlCol="0">
            <a:spAutoFit/>
          </a:bodyPr>
          <a:lstStyle/>
          <a:p>
            <a:pPr marL="12700">
              <a:lnSpc>
                <a:spcPct val="100000"/>
              </a:lnSpc>
              <a:spcBef>
                <a:spcPts val="105"/>
              </a:spcBef>
            </a:pPr>
            <a:r>
              <a:rPr sz="4400" b="0" spc="-20" dirty="0">
                <a:latin typeface="Calibri Light" panose="020F0302020204030204"/>
                <a:cs typeface="Calibri Light" panose="020F0302020204030204"/>
              </a:rPr>
              <a:t>PROJECT</a:t>
            </a:r>
            <a:r>
              <a:rPr sz="4400" b="0" spc="-50" dirty="0">
                <a:latin typeface="Calibri Light" panose="020F0302020204030204"/>
                <a:cs typeface="Calibri Light" panose="020F0302020204030204"/>
              </a:rPr>
              <a:t> </a:t>
            </a:r>
            <a:r>
              <a:rPr sz="4400" b="0" spc="-15" dirty="0">
                <a:latin typeface="Calibri Light" panose="020F0302020204030204"/>
                <a:cs typeface="Calibri Light" panose="020F0302020204030204"/>
              </a:rPr>
              <a:t>METHODOLOGY</a:t>
            </a:r>
            <a:endParaRPr sz="4400">
              <a:latin typeface="Calibri Light" panose="020F0302020204030204"/>
              <a:cs typeface="Calibri Light" panose="020F0302020204030204"/>
            </a:endParaRPr>
          </a:p>
        </p:txBody>
      </p:sp>
      <p:sp>
        <p:nvSpPr>
          <p:cNvPr id="3" name="object 3"/>
          <p:cNvSpPr/>
          <p:nvPr/>
        </p:nvSpPr>
        <p:spPr>
          <a:xfrm>
            <a:off x="833437" y="1820862"/>
            <a:ext cx="5076825" cy="4361180"/>
          </a:xfrm>
          <a:custGeom>
            <a:avLst/>
            <a:gdLst/>
            <a:ahLst/>
            <a:cxnLst/>
            <a:rect l="l" t="t" r="r" b="b"/>
            <a:pathLst>
              <a:path w="5076825" h="4361180">
                <a:moveTo>
                  <a:pt x="5072062" y="4361180"/>
                </a:moveTo>
                <a:lnTo>
                  <a:pt x="4762" y="4361180"/>
                </a:lnTo>
                <a:lnTo>
                  <a:pt x="3289" y="4360951"/>
                </a:lnTo>
                <a:lnTo>
                  <a:pt x="1968" y="4360265"/>
                </a:lnTo>
                <a:lnTo>
                  <a:pt x="914" y="4359211"/>
                </a:lnTo>
                <a:lnTo>
                  <a:pt x="228" y="4357890"/>
                </a:lnTo>
                <a:lnTo>
                  <a:pt x="0" y="4356417"/>
                </a:lnTo>
                <a:lnTo>
                  <a:pt x="0" y="4762"/>
                </a:lnTo>
                <a:lnTo>
                  <a:pt x="4762" y="0"/>
                </a:lnTo>
                <a:lnTo>
                  <a:pt x="5072062" y="0"/>
                </a:lnTo>
                <a:lnTo>
                  <a:pt x="5076825" y="4762"/>
                </a:lnTo>
                <a:lnTo>
                  <a:pt x="9525" y="4762"/>
                </a:lnTo>
                <a:lnTo>
                  <a:pt x="4762" y="9525"/>
                </a:lnTo>
                <a:lnTo>
                  <a:pt x="9525" y="9525"/>
                </a:lnTo>
                <a:lnTo>
                  <a:pt x="9525" y="4351655"/>
                </a:lnTo>
                <a:lnTo>
                  <a:pt x="4762" y="4351655"/>
                </a:lnTo>
                <a:lnTo>
                  <a:pt x="9525" y="4356417"/>
                </a:lnTo>
                <a:lnTo>
                  <a:pt x="5076825" y="4356417"/>
                </a:lnTo>
                <a:lnTo>
                  <a:pt x="5076596" y="4357890"/>
                </a:lnTo>
                <a:lnTo>
                  <a:pt x="5075910" y="4359211"/>
                </a:lnTo>
                <a:lnTo>
                  <a:pt x="5074856" y="4360265"/>
                </a:lnTo>
                <a:lnTo>
                  <a:pt x="5073535" y="4360951"/>
                </a:lnTo>
                <a:lnTo>
                  <a:pt x="5072062" y="4361180"/>
                </a:lnTo>
                <a:close/>
              </a:path>
              <a:path w="5076825" h="4361180">
                <a:moveTo>
                  <a:pt x="9525" y="9525"/>
                </a:moveTo>
                <a:lnTo>
                  <a:pt x="4762" y="9525"/>
                </a:lnTo>
                <a:lnTo>
                  <a:pt x="9525" y="4762"/>
                </a:lnTo>
                <a:lnTo>
                  <a:pt x="9525" y="9525"/>
                </a:lnTo>
                <a:close/>
              </a:path>
              <a:path w="5076825" h="4361180">
                <a:moveTo>
                  <a:pt x="5067300" y="9525"/>
                </a:moveTo>
                <a:lnTo>
                  <a:pt x="9525" y="9525"/>
                </a:lnTo>
                <a:lnTo>
                  <a:pt x="9525" y="4762"/>
                </a:lnTo>
                <a:lnTo>
                  <a:pt x="5067300" y="4762"/>
                </a:lnTo>
                <a:lnTo>
                  <a:pt x="5067300" y="9525"/>
                </a:lnTo>
                <a:close/>
              </a:path>
              <a:path w="5076825" h="4361180">
                <a:moveTo>
                  <a:pt x="5067300" y="4356417"/>
                </a:moveTo>
                <a:lnTo>
                  <a:pt x="5067300" y="4762"/>
                </a:lnTo>
                <a:lnTo>
                  <a:pt x="5072062" y="9525"/>
                </a:lnTo>
                <a:lnTo>
                  <a:pt x="5076825" y="9525"/>
                </a:lnTo>
                <a:lnTo>
                  <a:pt x="5076825" y="4351655"/>
                </a:lnTo>
                <a:lnTo>
                  <a:pt x="5072062" y="4351655"/>
                </a:lnTo>
                <a:lnTo>
                  <a:pt x="5067300" y="4356417"/>
                </a:lnTo>
                <a:close/>
              </a:path>
              <a:path w="5076825" h="4361180">
                <a:moveTo>
                  <a:pt x="5076825" y="9525"/>
                </a:moveTo>
                <a:lnTo>
                  <a:pt x="5072062" y="9525"/>
                </a:lnTo>
                <a:lnTo>
                  <a:pt x="5067300" y="4762"/>
                </a:lnTo>
                <a:lnTo>
                  <a:pt x="5076825" y="4762"/>
                </a:lnTo>
                <a:lnTo>
                  <a:pt x="5076825" y="9525"/>
                </a:lnTo>
                <a:close/>
              </a:path>
              <a:path w="5076825" h="4361180">
                <a:moveTo>
                  <a:pt x="9525" y="4356417"/>
                </a:moveTo>
                <a:lnTo>
                  <a:pt x="4762" y="4351655"/>
                </a:lnTo>
                <a:lnTo>
                  <a:pt x="9525" y="4351655"/>
                </a:lnTo>
                <a:lnTo>
                  <a:pt x="9525" y="4356417"/>
                </a:lnTo>
                <a:close/>
              </a:path>
              <a:path w="5076825" h="4361180">
                <a:moveTo>
                  <a:pt x="5067300" y="4356417"/>
                </a:moveTo>
                <a:lnTo>
                  <a:pt x="9525" y="4356417"/>
                </a:lnTo>
                <a:lnTo>
                  <a:pt x="9525" y="4351655"/>
                </a:lnTo>
                <a:lnTo>
                  <a:pt x="5067300" y="4351655"/>
                </a:lnTo>
                <a:lnTo>
                  <a:pt x="5067300" y="4356417"/>
                </a:lnTo>
                <a:close/>
              </a:path>
              <a:path w="5076825" h="4361180">
                <a:moveTo>
                  <a:pt x="5076825" y="4356417"/>
                </a:moveTo>
                <a:lnTo>
                  <a:pt x="5067300" y="4356417"/>
                </a:lnTo>
                <a:lnTo>
                  <a:pt x="5072062" y="4351655"/>
                </a:lnTo>
                <a:lnTo>
                  <a:pt x="5076825" y="4351655"/>
                </a:lnTo>
                <a:lnTo>
                  <a:pt x="5076825" y="4356417"/>
                </a:lnTo>
                <a:close/>
              </a:path>
            </a:pathLst>
          </a:custGeom>
          <a:solidFill>
            <a:srgbClr val="0D0D0D"/>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4" name="object 4"/>
          <p:cNvSpPr txBox="1"/>
          <p:nvPr/>
        </p:nvSpPr>
        <p:spPr>
          <a:xfrm>
            <a:off x="916939" y="1811020"/>
            <a:ext cx="4779010" cy="2893695"/>
          </a:xfrm>
          <a:prstGeom prst="rect">
            <a:avLst/>
          </a:prstGeom>
        </p:spPr>
        <p:txBody>
          <a:bodyPr vert="horz" wrap="square" lIns="0" tIns="6350" rIns="0" bIns="0" rtlCol="0">
            <a:spAutoFit/>
          </a:bodyPr>
          <a:lstStyle/>
          <a:p>
            <a:pPr marL="241300" marR="36830" lvl="0" indent="-228600" algn="l" defTabSz="914400" rtl="0" eaLnBrk="1" fontAlgn="auto" latinLnBrk="0" hangingPunct="1">
              <a:lnSpc>
                <a:spcPct val="102000"/>
              </a:lnSpc>
              <a:spcBef>
                <a:spcPts val="50"/>
              </a:spcBef>
              <a:spcAft>
                <a:spcPts val="0"/>
              </a:spcAft>
              <a:buClrTx/>
              <a:buSzTx/>
              <a:buFont typeface="Arial MT"/>
              <a:buChar char="•"/>
              <a:tabLst>
                <a:tab pos="241300" algn="l"/>
              </a:tabLst>
              <a:defRPr/>
            </a:pPr>
            <a:r>
              <a:rPr kumimoji="0" sz="2400" b="0" i="0" u="none" strike="noStrike" kern="1200" cap="none" spc="-5" normalizeH="0" baseline="0" noProof="0" dirty="0">
                <a:ln>
                  <a:noFill/>
                </a:ln>
                <a:solidFill>
                  <a:prstClr val="black"/>
                </a:solidFill>
                <a:effectLst/>
                <a:uLnTx/>
                <a:uFillTx/>
                <a:latin typeface="Calibri" panose="020F0502020204030204"/>
                <a:ea typeface="+mn-ea"/>
                <a:cs typeface="Calibri" panose="020F0502020204030204"/>
              </a:rPr>
              <a:t>Indoor</a:t>
            </a:r>
            <a:r>
              <a:rPr kumimoji="0" sz="2400" b="0" i="0" u="none" strike="noStrike" kern="1200" cap="none" spc="0" normalizeH="0" baseline="0" noProof="0" dirty="0">
                <a:ln>
                  <a:noFill/>
                </a:ln>
                <a:solidFill>
                  <a:prstClr val="black"/>
                </a:solidFill>
                <a:effectLst/>
                <a:uLnTx/>
                <a:uFillTx/>
                <a:latin typeface="Calibri" panose="020F0502020204030204"/>
                <a:ea typeface="+mn-ea"/>
                <a:cs typeface="Calibri" panose="020F0502020204030204"/>
              </a:rPr>
              <a:t> </a:t>
            </a:r>
            <a:r>
              <a:rPr kumimoji="0" sz="2400" b="0" i="0" u="none" strike="noStrike" kern="1200" cap="none" spc="-5" normalizeH="0" baseline="0" noProof="0" dirty="0">
                <a:ln>
                  <a:noFill/>
                </a:ln>
                <a:solidFill>
                  <a:prstClr val="black"/>
                </a:solidFill>
                <a:effectLst/>
                <a:uLnTx/>
                <a:uFillTx/>
                <a:latin typeface="Calibri" panose="020F0502020204030204"/>
                <a:ea typeface="+mn-ea"/>
                <a:cs typeface="Calibri" panose="020F0502020204030204"/>
              </a:rPr>
              <a:t>mapping</a:t>
            </a:r>
            <a:r>
              <a:rPr kumimoji="0" sz="2400" b="0" i="0" u="none" strike="noStrike" kern="1200" cap="none" spc="5" normalizeH="0" baseline="0" noProof="0" dirty="0">
                <a:ln>
                  <a:noFill/>
                </a:ln>
                <a:solidFill>
                  <a:prstClr val="black"/>
                </a:solidFill>
                <a:effectLst/>
                <a:uLnTx/>
                <a:uFillTx/>
                <a:latin typeface="Calibri" panose="020F0502020204030204"/>
                <a:ea typeface="+mn-ea"/>
                <a:cs typeface="Calibri" panose="020F0502020204030204"/>
              </a:rPr>
              <a:t> </a:t>
            </a:r>
            <a:r>
              <a:rPr kumimoji="0" sz="2400" b="0" i="0" u="none" strike="noStrike" kern="1200" cap="none" spc="-10" normalizeH="0" baseline="0" noProof="0" dirty="0">
                <a:ln>
                  <a:noFill/>
                </a:ln>
                <a:solidFill>
                  <a:prstClr val="black"/>
                </a:solidFill>
                <a:effectLst/>
                <a:uLnTx/>
                <a:uFillTx/>
                <a:latin typeface="Calibri" panose="020F0502020204030204"/>
                <a:ea typeface="+mn-ea"/>
                <a:cs typeface="Calibri" panose="020F0502020204030204"/>
              </a:rPr>
              <a:t>(softwares)/Cellular </a:t>
            </a:r>
            <a:r>
              <a:rPr kumimoji="0" sz="2400" b="0" i="0" u="none" strike="noStrike" kern="1200" cap="none" spc="-525" normalizeH="0" baseline="0" noProof="0" dirty="0">
                <a:ln>
                  <a:noFill/>
                </a:ln>
                <a:solidFill>
                  <a:prstClr val="black"/>
                </a:solidFill>
                <a:effectLst/>
                <a:uLnTx/>
                <a:uFillTx/>
                <a:latin typeface="Calibri" panose="020F0502020204030204"/>
                <a:ea typeface="+mn-ea"/>
                <a:cs typeface="Calibri" panose="020F0502020204030204"/>
              </a:rPr>
              <a:t> </a:t>
            </a:r>
            <a:r>
              <a:rPr kumimoji="0" sz="2400" b="0" i="0" u="none" strike="noStrike" kern="1200" cap="none" spc="-5" normalizeH="0" baseline="0" noProof="0" dirty="0">
                <a:ln>
                  <a:noFill/>
                </a:ln>
                <a:solidFill>
                  <a:prstClr val="black"/>
                </a:solidFill>
                <a:effectLst/>
                <a:uLnTx/>
                <a:uFillTx/>
                <a:latin typeface="Calibri" panose="020F0502020204030204"/>
                <a:ea typeface="+mn-ea"/>
                <a:cs typeface="Calibri" panose="020F0502020204030204"/>
              </a:rPr>
              <a:t>signal</a:t>
            </a:r>
            <a:r>
              <a:rPr kumimoji="0" sz="2400" b="0" i="0" u="none" strike="noStrike" kern="1200" cap="none" spc="-15" normalizeH="0" baseline="0" noProof="0" dirty="0">
                <a:ln>
                  <a:noFill/>
                </a:ln>
                <a:solidFill>
                  <a:prstClr val="black"/>
                </a:solidFill>
                <a:effectLst/>
                <a:uLnTx/>
                <a:uFillTx/>
                <a:latin typeface="Calibri" panose="020F0502020204030204"/>
                <a:ea typeface="+mn-ea"/>
                <a:cs typeface="Calibri" panose="020F0502020204030204"/>
              </a:rPr>
              <a:t> strength </a:t>
            </a:r>
            <a:r>
              <a:rPr kumimoji="0" sz="2400" b="0" i="0" u="none" strike="noStrike" kern="1200" cap="none" spc="-10" normalizeH="0" baseline="0" noProof="0" dirty="0">
                <a:ln>
                  <a:noFill/>
                </a:ln>
                <a:solidFill>
                  <a:prstClr val="black"/>
                </a:solidFill>
                <a:effectLst/>
                <a:uLnTx/>
                <a:uFillTx/>
                <a:latin typeface="Calibri" panose="020F0502020204030204"/>
                <a:ea typeface="+mn-ea"/>
                <a:cs typeface="Calibri" panose="020F0502020204030204"/>
              </a:rPr>
              <a:t>measurement </a:t>
            </a:r>
            <a:r>
              <a:rPr kumimoji="0" sz="2400" b="0" i="0" u="none" strike="noStrike" kern="1200" cap="none" spc="-5" normalizeH="0" baseline="0" noProof="0" dirty="0">
                <a:ln>
                  <a:noFill/>
                </a:ln>
                <a:solidFill>
                  <a:prstClr val="black"/>
                </a:solidFill>
                <a:effectLst/>
                <a:uLnTx/>
                <a:uFillTx/>
                <a:latin typeface="Calibri" panose="020F0502020204030204"/>
                <a:ea typeface="+mn-ea"/>
                <a:cs typeface="Calibri" panose="020F0502020204030204"/>
              </a:rPr>
              <a:t>device</a:t>
            </a:r>
            <a:endParaRPr kumimoji="0" sz="2400" b="0" i="0" u="none" strike="noStrike" kern="1200" cap="none" spc="0" normalizeH="0" baseline="0" noProof="0">
              <a:ln>
                <a:noFill/>
              </a:ln>
              <a:solidFill>
                <a:prstClr val="black"/>
              </a:solidFill>
              <a:effectLst/>
              <a:uLnTx/>
              <a:uFillTx/>
              <a:latin typeface="Calibri" panose="020F0502020204030204"/>
              <a:ea typeface="+mn-ea"/>
              <a:cs typeface="Calibri" panose="020F0502020204030204"/>
            </a:endParaRPr>
          </a:p>
          <a:p>
            <a:pPr marL="241300" marR="0" lvl="0" indent="0" algn="just" defTabSz="914400" rtl="0" eaLnBrk="1" fontAlgn="auto" latinLnBrk="0" hangingPunct="1">
              <a:lnSpc>
                <a:spcPts val="3010"/>
              </a:lnSpc>
              <a:spcBef>
                <a:spcPts val="0"/>
              </a:spcBef>
              <a:spcAft>
                <a:spcPts val="0"/>
              </a:spcAft>
              <a:buClrTx/>
              <a:buSzTx/>
              <a:buFontTx/>
              <a:buNone/>
              <a:tabLst/>
              <a:defRPr/>
            </a:pPr>
            <a:r>
              <a:rPr kumimoji="0" sz="2800" b="0" i="0" u="none" strike="noStrike" kern="1200" cap="none" spc="-5" normalizeH="0" baseline="0" noProof="0" dirty="0">
                <a:ln>
                  <a:noFill/>
                </a:ln>
                <a:solidFill>
                  <a:prstClr val="black"/>
                </a:solidFill>
                <a:effectLst/>
                <a:uLnTx/>
                <a:uFillTx/>
                <a:latin typeface="Calibri" panose="020F0502020204030204"/>
                <a:ea typeface="+mn-ea"/>
                <a:cs typeface="Calibri" panose="020F0502020204030204"/>
              </a:rPr>
              <a:t>- :</a:t>
            </a:r>
            <a:r>
              <a:rPr kumimoji="0" sz="2800" b="0" i="0" u="none" strike="noStrike" kern="1200" cap="none" spc="0" normalizeH="0" baseline="0" noProof="0" dirty="0">
                <a:ln>
                  <a:noFill/>
                </a:ln>
                <a:solidFill>
                  <a:prstClr val="black"/>
                </a:solidFill>
                <a:effectLst/>
                <a:uLnTx/>
                <a:uFillTx/>
                <a:latin typeface="Calibri" panose="020F0502020204030204"/>
                <a:ea typeface="+mn-ea"/>
                <a:cs typeface="Calibri" panose="020F0502020204030204"/>
              </a:rPr>
              <a:t> </a:t>
            </a:r>
            <a:r>
              <a:rPr kumimoji="0" sz="1800" b="0" i="0" u="none" strike="noStrike" kern="1200" cap="none" spc="-5" normalizeH="0" baseline="0" noProof="0" dirty="0">
                <a:ln>
                  <a:noFill/>
                </a:ln>
                <a:solidFill>
                  <a:prstClr val="black"/>
                </a:solidFill>
                <a:effectLst/>
                <a:uLnTx/>
                <a:uFillTx/>
                <a:latin typeface="Calibri" panose="020F0502020204030204"/>
                <a:ea typeface="+mn-ea"/>
                <a:cs typeface="Calibri" panose="020F0502020204030204"/>
              </a:rPr>
              <a:t>Indoor mapping </a:t>
            </a:r>
            <a:r>
              <a:rPr kumimoji="0" sz="1800" b="0" i="0" u="none" strike="noStrike" kern="1200" cap="none" spc="-10" normalizeH="0" baseline="0" noProof="0" dirty="0">
                <a:ln>
                  <a:noFill/>
                </a:ln>
                <a:solidFill>
                  <a:prstClr val="black"/>
                </a:solidFill>
                <a:effectLst/>
                <a:uLnTx/>
                <a:uFillTx/>
                <a:latin typeface="Calibri" panose="020F0502020204030204"/>
                <a:ea typeface="+mn-ea"/>
                <a:cs typeface="Calibri" panose="020F0502020204030204"/>
              </a:rPr>
              <a:t>software</a:t>
            </a:r>
            <a:r>
              <a:rPr kumimoji="0" sz="1800" b="0" i="0" u="none" strike="noStrike" kern="1200" cap="none" spc="-5" normalizeH="0" baseline="0" noProof="0" dirty="0">
                <a:ln>
                  <a:noFill/>
                </a:ln>
                <a:solidFill>
                  <a:prstClr val="black"/>
                </a:solidFill>
                <a:effectLst/>
                <a:uLnTx/>
                <a:uFillTx/>
                <a:latin typeface="Calibri" panose="020F0502020204030204"/>
                <a:ea typeface="+mn-ea"/>
                <a:cs typeface="Calibri" panose="020F0502020204030204"/>
              </a:rPr>
              <a:t> </a:t>
            </a:r>
            <a:r>
              <a:rPr kumimoji="0" sz="1800" b="0" i="0" u="none" strike="noStrike" kern="1200" cap="none" spc="0" normalizeH="0" baseline="0" noProof="0" dirty="0">
                <a:ln>
                  <a:noFill/>
                </a:ln>
                <a:solidFill>
                  <a:prstClr val="black"/>
                </a:solidFill>
                <a:effectLst/>
                <a:uLnTx/>
                <a:uFillTx/>
                <a:latin typeface="Calibri" panose="020F0502020204030204"/>
                <a:ea typeface="+mn-ea"/>
                <a:cs typeface="Calibri" panose="020F0502020204030204"/>
              </a:rPr>
              <a:t>is</a:t>
            </a:r>
            <a:r>
              <a:rPr kumimoji="0" sz="1800" b="0" i="0" u="none" strike="noStrike" kern="1200" cap="none" spc="-10" normalizeH="0" baseline="0" noProof="0" dirty="0">
                <a:ln>
                  <a:noFill/>
                </a:ln>
                <a:solidFill>
                  <a:prstClr val="black"/>
                </a:solidFill>
                <a:effectLst/>
                <a:uLnTx/>
                <a:uFillTx/>
                <a:latin typeface="Calibri" panose="020F0502020204030204"/>
                <a:ea typeface="+mn-ea"/>
                <a:cs typeface="Calibri" panose="020F0502020204030204"/>
              </a:rPr>
              <a:t> </a:t>
            </a:r>
            <a:r>
              <a:rPr kumimoji="0" sz="1800" b="0" i="0" u="none" strike="noStrike" kern="1200" cap="none" spc="-5" normalizeH="0" baseline="0" noProof="0" dirty="0">
                <a:ln>
                  <a:noFill/>
                </a:ln>
                <a:solidFill>
                  <a:prstClr val="black"/>
                </a:solidFill>
                <a:effectLst/>
                <a:uLnTx/>
                <a:uFillTx/>
                <a:latin typeface="Calibri" panose="020F0502020204030204"/>
                <a:ea typeface="+mn-ea"/>
                <a:cs typeface="Calibri" panose="020F0502020204030204"/>
              </a:rPr>
              <a:t>used </a:t>
            </a:r>
            <a:r>
              <a:rPr kumimoji="0" sz="1800" b="0" i="0" u="none" strike="noStrike" kern="1200" cap="none" spc="-10" normalizeH="0" baseline="0" noProof="0" dirty="0">
                <a:ln>
                  <a:noFill/>
                </a:ln>
                <a:solidFill>
                  <a:prstClr val="black"/>
                </a:solidFill>
                <a:effectLst/>
                <a:uLnTx/>
                <a:uFillTx/>
                <a:latin typeface="Calibri" panose="020F0502020204030204"/>
                <a:ea typeface="+mn-ea"/>
                <a:cs typeface="Calibri" panose="020F0502020204030204"/>
              </a:rPr>
              <a:t>to</a:t>
            </a:r>
            <a:r>
              <a:rPr kumimoji="0" sz="1800" b="0" i="0" u="none" strike="noStrike" kern="1200" cap="none" spc="-5" normalizeH="0" baseline="0" noProof="0" dirty="0">
                <a:ln>
                  <a:noFill/>
                </a:ln>
                <a:solidFill>
                  <a:prstClr val="black"/>
                </a:solidFill>
                <a:effectLst/>
                <a:uLnTx/>
                <a:uFillTx/>
                <a:latin typeface="Calibri" panose="020F0502020204030204"/>
                <a:ea typeface="+mn-ea"/>
                <a:cs typeface="Calibri" panose="020F0502020204030204"/>
              </a:rPr>
              <a:t> </a:t>
            </a:r>
            <a:r>
              <a:rPr kumimoji="0" sz="1800" b="0" i="0" u="none" strike="noStrike" kern="1200" cap="none" spc="-15" normalizeH="0" baseline="0" noProof="0" dirty="0">
                <a:ln>
                  <a:noFill/>
                </a:ln>
                <a:solidFill>
                  <a:prstClr val="black"/>
                </a:solidFill>
                <a:effectLst/>
                <a:uLnTx/>
                <a:uFillTx/>
                <a:latin typeface="Calibri" panose="020F0502020204030204"/>
                <a:ea typeface="+mn-ea"/>
                <a:cs typeface="Calibri" panose="020F0502020204030204"/>
              </a:rPr>
              <a:t>create</a:t>
            </a:r>
            <a:r>
              <a:rPr kumimoji="0" sz="1800" b="0" i="0" u="none" strike="noStrike" kern="1200" cap="none" spc="-5" normalizeH="0" baseline="0" noProof="0" dirty="0">
                <a:ln>
                  <a:noFill/>
                </a:ln>
                <a:solidFill>
                  <a:prstClr val="black"/>
                </a:solidFill>
                <a:effectLst/>
                <a:uLnTx/>
                <a:uFillTx/>
                <a:latin typeface="Calibri" panose="020F0502020204030204"/>
                <a:ea typeface="+mn-ea"/>
                <a:cs typeface="Calibri" panose="020F0502020204030204"/>
              </a:rPr>
              <a:t> </a:t>
            </a:r>
            <a:r>
              <a:rPr kumimoji="0" sz="1800" b="0" i="0" u="none" strike="noStrike" kern="1200" cap="none" spc="0" normalizeH="0" baseline="0" noProof="0" dirty="0">
                <a:ln>
                  <a:noFill/>
                </a:ln>
                <a:solidFill>
                  <a:prstClr val="black"/>
                </a:solidFill>
                <a:effectLst/>
                <a:uLnTx/>
                <a:uFillTx/>
                <a:latin typeface="Calibri" panose="020F0502020204030204"/>
                <a:ea typeface="+mn-ea"/>
                <a:cs typeface="Calibri" panose="020F0502020204030204"/>
              </a:rPr>
              <a:t>a</a:t>
            </a:r>
            <a:endParaRPr kumimoji="0" sz="1800" b="0" i="0" u="none" strike="noStrike" kern="1200" cap="none" spc="0" normalizeH="0" baseline="0" noProof="0">
              <a:ln>
                <a:noFill/>
              </a:ln>
              <a:solidFill>
                <a:prstClr val="black"/>
              </a:solidFill>
              <a:effectLst/>
              <a:uLnTx/>
              <a:uFillTx/>
              <a:latin typeface="Calibri" panose="020F0502020204030204"/>
              <a:ea typeface="+mn-ea"/>
              <a:cs typeface="Calibri" panose="020F0502020204030204"/>
            </a:endParaRPr>
          </a:p>
          <a:p>
            <a:pPr marL="241300" marR="5080" lvl="0" indent="0" algn="just" defTabSz="914400" rtl="0" eaLnBrk="1" fontAlgn="auto" latinLnBrk="0" hangingPunct="1">
              <a:lnSpc>
                <a:spcPts val="1940"/>
              </a:lnSpc>
              <a:spcBef>
                <a:spcPts val="160"/>
              </a:spcBef>
              <a:spcAft>
                <a:spcPts val="0"/>
              </a:spcAft>
              <a:buClrTx/>
              <a:buSzTx/>
              <a:buFontTx/>
              <a:buNone/>
              <a:tabLst/>
              <a:defRPr/>
            </a:pPr>
            <a:r>
              <a:rPr kumimoji="0" sz="1800" b="0" i="0" u="none" strike="noStrike" kern="1200" cap="none" spc="-5" normalizeH="0" baseline="0" noProof="0" dirty="0">
                <a:ln>
                  <a:noFill/>
                </a:ln>
                <a:solidFill>
                  <a:prstClr val="black"/>
                </a:solidFill>
                <a:effectLst/>
                <a:uLnTx/>
                <a:uFillTx/>
                <a:latin typeface="Calibri" panose="020F0502020204030204"/>
                <a:ea typeface="+mn-ea"/>
                <a:cs typeface="Calibri" panose="020F0502020204030204"/>
              </a:rPr>
              <a:t>map </a:t>
            </a:r>
            <a:r>
              <a:rPr kumimoji="0" sz="1800" b="0" i="0" u="none" strike="noStrike" kern="1200" cap="none" spc="0" normalizeH="0" baseline="0" noProof="0" dirty="0">
                <a:ln>
                  <a:noFill/>
                </a:ln>
                <a:solidFill>
                  <a:prstClr val="black"/>
                </a:solidFill>
                <a:effectLst/>
                <a:uLnTx/>
                <a:uFillTx/>
                <a:latin typeface="Calibri" panose="020F0502020204030204"/>
                <a:ea typeface="+mn-ea"/>
                <a:cs typeface="Calibri" panose="020F0502020204030204"/>
              </a:rPr>
              <a:t>of </a:t>
            </a:r>
            <a:r>
              <a:rPr kumimoji="0" sz="1800" b="0" i="0" u="none" strike="noStrike" kern="1200" cap="none" spc="-5" normalizeH="0" baseline="0" noProof="0" dirty="0">
                <a:ln>
                  <a:noFill/>
                </a:ln>
                <a:solidFill>
                  <a:prstClr val="black"/>
                </a:solidFill>
                <a:effectLst/>
                <a:uLnTx/>
                <a:uFillTx/>
                <a:latin typeface="Calibri" panose="020F0502020204030204"/>
                <a:ea typeface="+mn-ea"/>
                <a:cs typeface="Calibri" panose="020F0502020204030204"/>
              </a:rPr>
              <a:t>the building's </a:t>
            </a:r>
            <a:r>
              <a:rPr kumimoji="0" sz="1800" b="0" i="0" u="none" strike="noStrike" kern="1200" cap="none" spc="-30" normalizeH="0" baseline="0" noProof="0" dirty="0">
                <a:ln>
                  <a:noFill/>
                </a:ln>
                <a:solidFill>
                  <a:prstClr val="black"/>
                </a:solidFill>
                <a:effectLst/>
                <a:uLnTx/>
                <a:uFillTx/>
                <a:latin typeface="Calibri" panose="020F0502020204030204"/>
                <a:ea typeface="+mn-ea"/>
                <a:cs typeface="Calibri" panose="020F0502020204030204"/>
              </a:rPr>
              <a:t>interior. </a:t>
            </a:r>
            <a:r>
              <a:rPr kumimoji="0" sz="1800" b="0" i="0" u="none" strike="noStrike" kern="1200" cap="none" spc="-5" normalizeH="0" baseline="0" noProof="0" dirty="0">
                <a:ln>
                  <a:noFill/>
                </a:ln>
                <a:solidFill>
                  <a:prstClr val="black"/>
                </a:solidFill>
                <a:effectLst/>
                <a:uLnTx/>
                <a:uFillTx/>
                <a:latin typeface="Calibri" panose="020F0502020204030204"/>
                <a:ea typeface="+mn-ea"/>
                <a:cs typeface="Calibri" panose="020F0502020204030204"/>
              </a:rPr>
              <a:t>This map </a:t>
            </a:r>
            <a:r>
              <a:rPr kumimoji="0" sz="1800" b="0" i="0" u="none" strike="noStrike" kern="1200" cap="none" spc="-10" normalizeH="0" baseline="0" noProof="0" dirty="0">
                <a:ln>
                  <a:noFill/>
                </a:ln>
                <a:solidFill>
                  <a:prstClr val="black"/>
                </a:solidFill>
                <a:effectLst/>
                <a:uLnTx/>
                <a:uFillTx/>
                <a:latin typeface="Calibri" panose="020F0502020204030204"/>
                <a:ea typeface="+mn-ea"/>
                <a:cs typeface="Calibri" panose="020F0502020204030204"/>
              </a:rPr>
              <a:t>can </a:t>
            </a:r>
            <a:r>
              <a:rPr kumimoji="0" sz="1800" b="0" i="0" u="none" strike="noStrike" kern="1200" cap="none" spc="-5" normalizeH="0" baseline="0" noProof="0" dirty="0">
                <a:ln>
                  <a:noFill/>
                </a:ln>
                <a:solidFill>
                  <a:prstClr val="black"/>
                </a:solidFill>
                <a:effectLst/>
                <a:uLnTx/>
                <a:uFillTx/>
                <a:latin typeface="Calibri" panose="020F0502020204030204"/>
                <a:ea typeface="+mn-ea"/>
                <a:cs typeface="Calibri" panose="020F0502020204030204"/>
              </a:rPr>
              <a:t>then </a:t>
            </a:r>
            <a:r>
              <a:rPr kumimoji="0" sz="1800" b="0" i="0" u="none" strike="noStrike" kern="1200" cap="none" spc="0" normalizeH="0" baseline="0" noProof="0" dirty="0">
                <a:ln>
                  <a:noFill/>
                </a:ln>
                <a:solidFill>
                  <a:prstClr val="black"/>
                </a:solidFill>
                <a:effectLst/>
                <a:uLnTx/>
                <a:uFillTx/>
                <a:latin typeface="Calibri" panose="020F0502020204030204"/>
                <a:ea typeface="+mn-ea"/>
                <a:cs typeface="Calibri" panose="020F0502020204030204"/>
              </a:rPr>
              <a:t> </a:t>
            </a:r>
            <a:r>
              <a:rPr kumimoji="0" sz="1800" b="0" i="0" u="none" strike="noStrike" kern="1200" cap="none" spc="-5" normalizeH="0" baseline="0" noProof="0" dirty="0">
                <a:ln>
                  <a:noFill/>
                </a:ln>
                <a:solidFill>
                  <a:prstClr val="black"/>
                </a:solidFill>
                <a:effectLst/>
                <a:uLnTx/>
                <a:uFillTx/>
                <a:latin typeface="Calibri" panose="020F0502020204030204"/>
                <a:ea typeface="+mn-ea"/>
                <a:cs typeface="Calibri" panose="020F0502020204030204"/>
              </a:rPr>
              <a:t>be used </a:t>
            </a:r>
            <a:r>
              <a:rPr kumimoji="0" sz="1800" b="0" i="0" u="none" strike="noStrike" kern="1200" cap="none" spc="-10" normalizeH="0" baseline="0" noProof="0" dirty="0">
                <a:ln>
                  <a:noFill/>
                </a:ln>
                <a:solidFill>
                  <a:prstClr val="black"/>
                </a:solidFill>
                <a:effectLst/>
                <a:uLnTx/>
                <a:uFillTx/>
                <a:latin typeface="Calibri" panose="020F0502020204030204"/>
                <a:ea typeface="+mn-ea"/>
                <a:cs typeface="Calibri" panose="020F0502020204030204"/>
              </a:rPr>
              <a:t>to </a:t>
            </a:r>
            <a:r>
              <a:rPr kumimoji="0" sz="1800" b="0" i="0" u="none" strike="noStrike" kern="1200" cap="none" spc="-5" normalizeH="0" baseline="0" noProof="0" dirty="0">
                <a:ln>
                  <a:noFill/>
                </a:ln>
                <a:solidFill>
                  <a:prstClr val="black"/>
                </a:solidFill>
                <a:effectLst/>
                <a:uLnTx/>
                <a:uFillTx/>
                <a:latin typeface="Calibri" panose="020F0502020204030204"/>
                <a:ea typeface="+mn-ea"/>
                <a:cs typeface="Calibri" panose="020F0502020204030204"/>
              </a:rPr>
              <a:t>collect </a:t>
            </a:r>
            <a:r>
              <a:rPr kumimoji="0" sz="1800" b="0" i="0" u="none" strike="noStrike" kern="1200" cap="none" spc="-15" normalizeH="0" baseline="0" noProof="0" dirty="0">
                <a:ln>
                  <a:noFill/>
                </a:ln>
                <a:solidFill>
                  <a:prstClr val="black"/>
                </a:solidFill>
                <a:effectLst/>
                <a:uLnTx/>
                <a:uFillTx/>
                <a:latin typeface="Calibri" panose="020F0502020204030204"/>
                <a:ea typeface="+mn-ea"/>
                <a:cs typeface="Calibri" panose="020F0502020204030204"/>
              </a:rPr>
              <a:t>data </a:t>
            </a:r>
            <a:r>
              <a:rPr kumimoji="0" sz="1800" b="0" i="0" u="none" strike="noStrike" kern="1200" cap="none" spc="0" normalizeH="0" baseline="0" noProof="0" dirty="0">
                <a:ln>
                  <a:noFill/>
                </a:ln>
                <a:solidFill>
                  <a:prstClr val="black"/>
                </a:solidFill>
                <a:effectLst/>
                <a:uLnTx/>
                <a:uFillTx/>
                <a:latin typeface="Calibri" panose="020F0502020204030204"/>
                <a:ea typeface="+mn-ea"/>
                <a:cs typeface="Calibri" panose="020F0502020204030204"/>
              </a:rPr>
              <a:t>on </a:t>
            </a:r>
            <a:r>
              <a:rPr kumimoji="0" sz="1800" b="0" i="0" u="none" strike="noStrike" kern="1200" cap="none" spc="-5" normalizeH="0" baseline="0" noProof="0" dirty="0">
                <a:ln>
                  <a:noFill/>
                </a:ln>
                <a:solidFill>
                  <a:prstClr val="black"/>
                </a:solidFill>
                <a:effectLst/>
                <a:uLnTx/>
                <a:uFillTx/>
                <a:latin typeface="Calibri" panose="020F0502020204030204"/>
                <a:ea typeface="+mn-ea"/>
                <a:cs typeface="Calibri" panose="020F0502020204030204"/>
              </a:rPr>
              <a:t>cellular signal </a:t>
            </a:r>
            <a:r>
              <a:rPr kumimoji="0" sz="1800" b="0" i="0" u="none" strike="noStrike" kern="1200" cap="none" spc="-15" normalizeH="0" baseline="0" noProof="0" dirty="0">
                <a:ln>
                  <a:noFill/>
                </a:ln>
                <a:solidFill>
                  <a:prstClr val="black"/>
                </a:solidFill>
                <a:effectLst/>
                <a:uLnTx/>
                <a:uFillTx/>
                <a:latin typeface="Calibri" panose="020F0502020204030204"/>
                <a:ea typeface="+mn-ea"/>
                <a:cs typeface="Calibri" panose="020F0502020204030204"/>
              </a:rPr>
              <a:t>strength </a:t>
            </a:r>
            <a:r>
              <a:rPr kumimoji="0" sz="1800" b="0" i="0" u="none" strike="noStrike" kern="1200" cap="none" spc="-395" normalizeH="0" baseline="0" noProof="0" dirty="0">
                <a:ln>
                  <a:noFill/>
                </a:ln>
                <a:solidFill>
                  <a:prstClr val="black"/>
                </a:solidFill>
                <a:effectLst/>
                <a:uLnTx/>
                <a:uFillTx/>
                <a:latin typeface="Calibri" panose="020F0502020204030204"/>
                <a:ea typeface="+mn-ea"/>
                <a:cs typeface="Calibri" panose="020F0502020204030204"/>
              </a:rPr>
              <a:t> </a:t>
            </a:r>
            <a:r>
              <a:rPr kumimoji="0" sz="1800" b="0" i="0" u="none" strike="noStrike" kern="1200" cap="none" spc="-15" normalizeH="0" baseline="0" noProof="0" dirty="0">
                <a:ln>
                  <a:noFill/>
                </a:ln>
                <a:solidFill>
                  <a:prstClr val="black"/>
                </a:solidFill>
                <a:effectLst/>
                <a:uLnTx/>
                <a:uFillTx/>
                <a:latin typeface="Calibri" panose="020F0502020204030204"/>
                <a:ea typeface="+mn-ea"/>
                <a:cs typeface="Calibri" panose="020F0502020204030204"/>
              </a:rPr>
              <a:t>at</a:t>
            </a:r>
            <a:r>
              <a:rPr kumimoji="0" sz="1800" b="0" i="0" u="none" strike="noStrike" kern="1200" cap="none" spc="-5" normalizeH="0" baseline="0" noProof="0" dirty="0">
                <a:ln>
                  <a:noFill/>
                </a:ln>
                <a:solidFill>
                  <a:prstClr val="black"/>
                </a:solidFill>
                <a:effectLst/>
                <a:uLnTx/>
                <a:uFillTx/>
                <a:latin typeface="Calibri" panose="020F0502020204030204"/>
                <a:ea typeface="+mn-ea"/>
                <a:cs typeface="Calibri" panose="020F0502020204030204"/>
              </a:rPr>
              <a:t> </a:t>
            </a:r>
            <a:r>
              <a:rPr kumimoji="0" sz="1800" b="0" i="0" u="none" strike="noStrike" kern="1200" cap="none" spc="-15" normalizeH="0" baseline="0" noProof="0" dirty="0">
                <a:ln>
                  <a:noFill/>
                </a:ln>
                <a:solidFill>
                  <a:prstClr val="black"/>
                </a:solidFill>
                <a:effectLst/>
                <a:uLnTx/>
                <a:uFillTx/>
                <a:latin typeface="Calibri" panose="020F0502020204030204"/>
                <a:ea typeface="+mn-ea"/>
                <a:cs typeface="Calibri" panose="020F0502020204030204"/>
              </a:rPr>
              <a:t>different</a:t>
            </a:r>
            <a:r>
              <a:rPr kumimoji="0" sz="1800" b="0" i="0" u="none" strike="noStrike" kern="1200" cap="none" spc="0" normalizeH="0" baseline="0" noProof="0" dirty="0">
                <a:ln>
                  <a:noFill/>
                </a:ln>
                <a:solidFill>
                  <a:prstClr val="black"/>
                </a:solidFill>
                <a:effectLst/>
                <a:uLnTx/>
                <a:uFillTx/>
                <a:latin typeface="Calibri" panose="020F0502020204030204"/>
                <a:ea typeface="+mn-ea"/>
                <a:cs typeface="Calibri" panose="020F0502020204030204"/>
              </a:rPr>
              <a:t> </a:t>
            </a:r>
            <a:r>
              <a:rPr kumimoji="0" sz="1800" b="0" i="0" u="none" strike="noStrike" kern="1200" cap="none" spc="-10" normalizeH="0" baseline="0" noProof="0" dirty="0">
                <a:ln>
                  <a:noFill/>
                </a:ln>
                <a:solidFill>
                  <a:prstClr val="black"/>
                </a:solidFill>
                <a:effectLst/>
                <a:uLnTx/>
                <a:uFillTx/>
                <a:latin typeface="Calibri" panose="020F0502020204030204"/>
                <a:ea typeface="+mn-ea"/>
                <a:cs typeface="Calibri" panose="020F0502020204030204"/>
              </a:rPr>
              <a:t>locations</a:t>
            </a:r>
            <a:r>
              <a:rPr kumimoji="0" sz="1800" b="0" i="0" u="none" strike="noStrike" kern="1200" cap="none" spc="-5" normalizeH="0" baseline="0" noProof="0" dirty="0">
                <a:ln>
                  <a:noFill/>
                </a:ln>
                <a:solidFill>
                  <a:prstClr val="black"/>
                </a:solidFill>
                <a:effectLst/>
                <a:uLnTx/>
                <a:uFillTx/>
                <a:latin typeface="Calibri" panose="020F0502020204030204"/>
                <a:ea typeface="+mn-ea"/>
                <a:cs typeface="Calibri" panose="020F0502020204030204"/>
              </a:rPr>
              <a:t> </a:t>
            </a:r>
            <a:r>
              <a:rPr kumimoji="0" sz="1800" b="0" i="0" u="none" strike="noStrike" kern="1200" cap="none" spc="0" normalizeH="0" baseline="0" noProof="0" dirty="0">
                <a:ln>
                  <a:noFill/>
                </a:ln>
                <a:solidFill>
                  <a:prstClr val="black"/>
                </a:solidFill>
                <a:effectLst/>
                <a:uLnTx/>
                <a:uFillTx/>
                <a:latin typeface="Calibri" panose="020F0502020204030204"/>
                <a:ea typeface="+mn-ea"/>
                <a:cs typeface="Calibri" panose="020F0502020204030204"/>
              </a:rPr>
              <a:t>in</a:t>
            </a:r>
            <a:r>
              <a:rPr kumimoji="0" sz="1800" b="0" i="0" u="none" strike="noStrike" kern="1200" cap="none" spc="-5" normalizeH="0" baseline="0" noProof="0" dirty="0">
                <a:ln>
                  <a:noFill/>
                </a:ln>
                <a:solidFill>
                  <a:prstClr val="black"/>
                </a:solidFill>
                <a:effectLst/>
                <a:uLnTx/>
                <a:uFillTx/>
                <a:latin typeface="Calibri" panose="020F0502020204030204"/>
                <a:ea typeface="+mn-ea"/>
                <a:cs typeface="Calibri" panose="020F0502020204030204"/>
              </a:rPr>
              <a:t> the building.</a:t>
            </a:r>
            <a:endParaRPr kumimoji="0" sz="1800" b="0" i="0" u="none" strike="noStrike" kern="1200" cap="none" spc="0" normalizeH="0" baseline="0" noProof="0">
              <a:ln>
                <a:noFill/>
              </a:ln>
              <a:solidFill>
                <a:prstClr val="black"/>
              </a:solidFill>
              <a:effectLst/>
              <a:uLnTx/>
              <a:uFillTx/>
              <a:latin typeface="Calibri" panose="020F0502020204030204"/>
              <a:ea typeface="+mn-ea"/>
              <a:cs typeface="Calibri" panose="020F0502020204030204"/>
            </a:endParaRPr>
          </a:p>
          <a:p>
            <a:pPr marL="12700" marR="0" lvl="0" indent="0" algn="just" defTabSz="914400" rtl="0" eaLnBrk="1" fontAlgn="auto" latinLnBrk="0" hangingPunct="1">
              <a:lnSpc>
                <a:spcPct val="100000"/>
              </a:lnSpc>
              <a:spcBef>
                <a:spcPts val="750"/>
              </a:spcBef>
              <a:spcAft>
                <a:spcPts val="0"/>
              </a:spcAft>
              <a:buClrTx/>
              <a:buSzTx/>
              <a:buFontTx/>
              <a:buNone/>
              <a:tabLst/>
              <a:defRPr/>
            </a:pPr>
            <a:r>
              <a:rPr kumimoji="0" sz="1800" b="1" i="0" u="none" strike="noStrike" kern="1200" cap="none" spc="-10" normalizeH="0" baseline="0" noProof="0" dirty="0">
                <a:ln>
                  <a:noFill/>
                </a:ln>
                <a:solidFill>
                  <a:prstClr val="black"/>
                </a:solidFill>
                <a:effectLst/>
                <a:uLnTx/>
                <a:uFillTx/>
                <a:latin typeface="Calibri" panose="020F0502020204030204"/>
                <a:ea typeface="+mn-ea"/>
                <a:cs typeface="Calibri" panose="020F0502020204030204"/>
              </a:rPr>
              <a:t>Examples</a:t>
            </a:r>
            <a:r>
              <a:rPr kumimoji="0" sz="1800" b="1" i="0" u="none" strike="noStrike" kern="1200" cap="none" spc="-5" normalizeH="0" baseline="0" noProof="0" dirty="0">
                <a:ln>
                  <a:noFill/>
                </a:ln>
                <a:solidFill>
                  <a:prstClr val="black"/>
                </a:solidFill>
                <a:effectLst/>
                <a:uLnTx/>
                <a:uFillTx/>
                <a:latin typeface="Calibri" panose="020F0502020204030204"/>
                <a:ea typeface="+mn-ea"/>
                <a:cs typeface="Calibri" panose="020F0502020204030204"/>
              </a:rPr>
              <a:t> </a:t>
            </a:r>
            <a:r>
              <a:rPr kumimoji="0" sz="1800" b="1" i="0" u="none" strike="noStrike" kern="1200" cap="none" spc="0" normalizeH="0" baseline="0" noProof="0" dirty="0">
                <a:ln>
                  <a:noFill/>
                </a:ln>
                <a:solidFill>
                  <a:prstClr val="black"/>
                </a:solidFill>
                <a:effectLst/>
                <a:uLnTx/>
                <a:uFillTx/>
                <a:latin typeface="Calibri" panose="020F0502020204030204"/>
                <a:ea typeface="+mn-ea"/>
                <a:cs typeface="Calibri" panose="020F0502020204030204"/>
              </a:rPr>
              <a:t>of</a:t>
            </a:r>
            <a:r>
              <a:rPr kumimoji="0" sz="1800" b="1" i="0" u="none" strike="noStrike" kern="1200" cap="none" spc="-5" normalizeH="0" baseline="0" noProof="0" dirty="0">
                <a:ln>
                  <a:noFill/>
                </a:ln>
                <a:solidFill>
                  <a:prstClr val="black"/>
                </a:solidFill>
                <a:effectLst/>
                <a:uLnTx/>
                <a:uFillTx/>
                <a:latin typeface="Calibri" panose="020F0502020204030204"/>
                <a:ea typeface="+mn-ea"/>
                <a:cs typeface="Calibri" panose="020F0502020204030204"/>
              </a:rPr>
              <a:t> indoor mapping </a:t>
            </a:r>
            <a:r>
              <a:rPr kumimoji="0" sz="1800" b="1" i="0" u="none" strike="noStrike" kern="1200" cap="none" spc="-10" normalizeH="0" baseline="0" noProof="0" dirty="0">
                <a:ln>
                  <a:noFill/>
                </a:ln>
                <a:solidFill>
                  <a:prstClr val="black"/>
                </a:solidFill>
                <a:effectLst/>
                <a:uLnTx/>
                <a:uFillTx/>
                <a:latin typeface="Calibri" panose="020F0502020204030204"/>
                <a:ea typeface="+mn-ea"/>
                <a:cs typeface="Calibri" panose="020F0502020204030204"/>
              </a:rPr>
              <a:t>software:</a:t>
            </a:r>
            <a:endParaRPr kumimoji="0" sz="1800" b="0" i="0" u="none" strike="noStrike" kern="1200" cap="none" spc="0" normalizeH="0" baseline="0" noProof="0">
              <a:ln>
                <a:noFill/>
              </a:ln>
              <a:solidFill>
                <a:prstClr val="black"/>
              </a:solidFill>
              <a:effectLst/>
              <a:uLnTx/>
              <a:uFillTx/>
              <a:latin typeface="Calibri" panose="020F0502020204030204"/>
              <a:ea typeface="+mn-ea"/>
              <a:cs typeface="Calibri" panose="020F0502020204030204"/>
            </a:endParaRPr>
          </a:p>
          <a:p>
            <a:pPr marL="12700" marR="354965" lvl="0" indent="154305" algn="just" defTabSz="914400" rtl="0" eaLnBrk="1" fontAlgn="auto" latinLnBrk="0" hangingPunct="1">
              <a:lnSpc>
                <a:spcPts val="1940"/>
              </a:lnSpc>
              <a:spcBef>
                <a:spcPts val="1030"/>
              </a:spcBef>
              <a:spcAft>
                <a:spcPts val="0"/>
              </a:spcAft>
              <a:buClrTx/>
              <a:buSzTx/>
              <a:buFontTx/>
              <a:buNone/>
              <a:tabLst/>
              <a:defRPr/>
            </a:pPr>
            <a:r>
              <a:rPr kumimoji="0" sz="1800" b="1" i="0" u="none" strike="noStrike" kern="1200" cap="none" spc="-5" normalizeH="0" baseline="0" noProof="0" dirty="0">
                <a:ln>
                  <a:noFill/>
                </a:ln>
                <a:solidFill>
                  <a:prstClr val="black"/>
                </a:solidFill>
                <a:effectLst/>
                <a:uLnTx/>
                <a:uFillTx/>
                <a:latin typeface="Calibri" panose="020F0502020204030204"/>
                <a:ea typeface="+mn-ea"/>
                <a:cs typeface="Calibri" panose="020F0502020204030204"/>
              </a:rPr>
              <a:t>Ekahau Sidekick,AirMagnet </a:t>
            </a:r>
            <a:r>
              <a:rPr kumimoji="0" sz="1800" b="1" i="0" u="none" strike="noStrike" kern="1200" cap="none" spc="-10" normalizeH="0" baseline="0" noProof="0" dirty="0">
                <a:ln>
                  <a:noFill/>
                </a:ln>
                <a:solidFill>
                  <a:prstClr val="black"/>
                </a:solidFill>
                <a:effectLst/>
                <a:uLnTx/>
                <a:uFillTx/>
                <a:latin typeface="Calibri" panose="020F0502020204030204"/>
                <a:ea typeface="+mn-ea"/>
                <a:cs typeface="Calibri" panose="020F0502020204030204"/>
              </a:rPr>
              <a:t>Survey Pro,InSite </a:t>
            </a:r>
            <a:r>
              <a:rPr kumimoji="0" sz="1800" b="1" i="0" u="none" strike="noStrike" kern="1200" cap="none" spc="-395" normalizeH="0" baseline="0" noProof="0" dirty="0">
                <a:ln>
                  <a:noFill/>
                </a:ln>
                <a:solidFill>
                  <a:prstClr val="black"/>
                </a:solidFill>
                <a:effectLst/>
                <a:uLnTx/>
                <a:uFillTx/>
                <a:latin typeface="Calibri" panose="020F0502020204030204"/>
                <a:ea typeface="+mn-ea"/>
                <a:cs typeface="Calibri" panose="020F0502020204030204"/>
              </a:rPr>
              <a:t> </a:t>
            </a:r>
            <a:r>
              <a:rPr kumimoji="0" sz="1800" b="1" i="0" u="none" strike="noStrike" kern="1200" cap="none" spc="-10" normalizeH="0" baseline="0" noProof="0" dirty="0">
                <a:ln>
                  <a:noFill/>
                </a:ln>
                <a:solidFill>
                  <a:prstClr val="black"/>
                </a:solidFill>
                <a:effectLst/>
                <a:uLnTx/>
                <a:uFillTx/>
                <a:latin typeface="Calibri" panose="020F0502020204030204"/>
                <a:ea typeface="+mn-ea"/>
                <a:cs typeface="Calibri" panose="020F0502020204030204"/>
              </a:rPr>
              <a:t>Wireless</a:t>
            </a:r>
            <a:endParaRPr kumimoji="0" sz="1800" b="0" i="0" u="none" strike="noStrike" kern="1200" cap="none" spc="0" normalizeH="0" baseline="0" noProof="0">
              <a:ln>
                <a:noFill/>
              </a:ln>
              <a:solidFill>
                <a:prstClr val="black"/>
              </a:solidFill>
              <a:effectLst/>
              <a:uLnTx/>
              <a:uFillTx/>
              <a:latin typeface="Calibri" panose="020F0502020204030204"/>
              <a:ea typeface="+mn-ea"/>
              <a:cs typeface="Calibri" panose="020F0502020204030204"/>
            </a:endParaRPr>
          </a:p>
        </p:txBody>
      </p:sp>
      <p:grpSp>
        <p:nvGrpSpPr>
          <p:cNvPr id="5" name="object 5"/>
          <p:cNvGrpSpPr/>
          <p:nvPr/>
        </p:nvGrpSpPr>
        <p:grpSpPr>
          <a:xfrm>
            <a:off x="5900737" y="1821497"/>
            <a:ext cx="4779645" cy="4361180"/>
            <a:chOff x="5900737" y="1821497"/>
            <a:chExt cx="4779645" cy="4361180"/>
          </a:xfrm>
        </p:grpSpPr>
        <p:sp>
          <p:nvSpPr>
            <p:cNvPr id="6" name="object 6"/>
            <p:cNvSpPr/>
            <p:nvPr/>
          </p:nvSpPr>
          <p:spPr>
            <a:xfrm>
              <a:off x="5905500" y="1826260"/>
              <a:ext cx="4770120" cy="4351655"/>
            </a:xfrm>
            <a:custGeom>
              <a:avLst/>
              <a:gdLst/>
              <a:ahLst/>
              <a:cxnLst/>
              <a:rect l="l" t="t" r="r" b="b"/>
              <a:pathLst>
                <a:path w="4770120" h="4351655">
                  <a:moveTo>
                    <a:pt x="4770120" y="4351655"/>
                  </a:moveTo>
                  <a:lnTo>
                    <a:pt x="0" y="4351655"/>
                  </a:lnTo>
                  <a:lnTo>
                    <a:pt x="0" y="0"/>
                  </a:lnTo>
                  <a:lnTo>
                    <a:pt x="4770120" y="0"/>
                  </a:lnTo>
                  <a:lnTo>
                    <a:pt x="4770120" y="4351655"/>
                  </a:lnTo>
                  <a:close/>
                </a:path>
              </a:pathLst>
            </a:custGeom>
            <a:solidFill>
              <a:srgbClr val="FFFF00"/>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7" name="object 7"/>
            <p:cNvSpPr/>
            <p:nvPr/>
          </p:nvSpPr>
          <p:spPr>
            <a:xfrm>
              <a:off x="5900737" y="1821497"/>
              <a:ext cx="4779645" cy="4361180"/>
            </a:xfrm>
            <a:custGeom>
              <a:avLst/>
              <a:gdLst/>
              <a:ahLst/>
              <a:cxnLst/>
              <a:rect l="l" t="t" r="r" b="b"/>
              <a:pathLst>
                <a:path w="4779645" h="4361180">
                  <a:moveTo>
                    <a:pt x="4774882" y="4361180"/>
                  </a:moveTo>
                  <a:lnTo>
                    <a:pt x="4762" y="4361180"/>
                  </a:lnTo>
                  <a:lnTo>
                    <a:pt x="3289" y="4360951"/>
                  </a:lnTo>
                  <a:lnTo>
                    <a:pt x="1968" y="4360265"/>
                  </a:lnTo>
                  <a:lnTo>
                    <a:pt x="914" y="4359211"/>
                  </a:lnTo>
                  <a:lnTo>
                    <a:pt x="228" y="4357890"/>
                  </a:lnTo>
                  <a:lnTo>
                    <a:pt x="0" y="4356417"/>
                  </a:lnTo>
                  <a:lnTo>
                    <a:pt x="0" y="4762"/>
                  </a:lnTo>
                  <a:lnTo>
                    <a:pt x="4762" y="0"/>
                  </a:lnTo>
                  <a:lnTo>
                    <a:pt x="4774882" y="0"/>
                  </a:lnTo>
                  <a:lnTo>
                    <a:pt x="4779645" y="4762"/>
                  </a:lnTo>
                  <a:lnTo>
                    <a:pt x="9525" y="4762"/>
                  </a:lnTo>
                  <a:lnTo>
                    <a:pt x="4762" y="9524"/>
                  </a:lnTo>
                  <a:lnTo>
                    <a:pt x="9525" y="9524"/>
                  </a:lnTo>
                  <a:lnTo>
                    <a:pt x="9525" y="4351655"/>
                  </a:lnTo>
                  <a:lnTo>
                    <a:pt x="4762" y="4351655"/>
                  </a:lnTo>
                  <a:lnTo>
                    <a:pt x="9525" y="4356417"/>
                  </a:lnTo>
                  <a:lnTo>
                    <a:pt x="4779645" y="4356417"/>
                  </a:lnTo>
                  <a:lnTo>
                    <a:pt x="4779416" y="4357890"/>
                  </a:lnTo>
                  <a:lnTo>
                    <a:pt x="4778730" y="4359211"/>
                  </a:lnTo>
                  <a:lnTo>
                    <a:pt x="4777676" y="4360265"/>
                  </a:lnTo>
                  <a:lnTo>
                    <a:pt x="4776355" y="4360951"/>
                  </a:lnTo>
                  <a:lnTo>
                    <a:pt x="4774882" y="4361180"/>
                  </a:lnTo>
                  <a:close/>
                </a:path>
                <a:path w="4779645" h="4361180">
                  <a:moveTo>
                    <a:pt x="9525" y="9524"/>
                  </a:moveTo>
                  <a:lnTo>
                    <a:pt x="4762" y="9524"/>
                  </a:lnTo>
                  <a:lnTo>
                    <a:pt x="9525" y="4762"/>
                  </a:lnTo>
                  <a:lnTo>
                    <a:pt x="9525" y="9524"/>
                  </a:lnTo>
                  <a:close/>
                </a:path>
                <a:path w="4779645" h="4361180">
                  <a:moveTo>
                    <a:pt x="4770120" y="9524"/>
                  </a:moveTo>
                  <a:lnTo>
                    <a:pt x="9525" y="9524"/>
                  </a:lnTo>
                  <a:lnTo>
                    <a:pt x="9525" y="4762"/>
                  </a:lnTo>
                  <a:lnTo>
                    <a:pt x="4770120" y="4762"/>
                  </a:lnTo>
                  <a:lnTo>
                    <a:pt x="4770120" y="9524"/>
                  </a:lnTo>
                  <a:close/>
                </a:path>
                <a:path w="4779645" h="4361180">
                  <a:moveTo>
                    <a:pt x="4770120" y="4356417"/>
                  </a:moveTo>
                  <a:lnTo>
                    <a:pt x="4770120" y="4762"/>
                  </a:lnTo>
                  <a:lnTo>
                    <a:pt x="4774882" y="9524"/>
                  </a:lnTo>
                  <a:lnTo>
                    <a:pt x="4779645" y="9524"/>
                  </a:lnTo>
                  <a:lnTo>
                    <a:pt x="4779645" y="4351655"/>
                  </a:lnTo>
                  <a:lnTo>
                    <a:pt x="4774882" y="4351655"/>
                  </a:lnTo>
                  <a:lnTo>
                    <a:pt x="4770120" y="4356417"/>
                  </a:lnTo>
                  <a:close/>
                </a:path>
                <a:path w="4779645" h="4361180">
                  <a:moveTo>
                    <a:pt x="4779645" y="9524"/>
                  </a:moveTo>
                  <a:lnTo>
                    <a:pt x="4774882" y="9524"/>
                  </a:lnTo>
                  <a:lnTo>
                    <a:pt x="4770120" y="4762"/>
                  </a:lnTo>
                  <a:lnTo>
                    <a:pt x="4779645" y="4762"/>
                  </a:lnTo>
                  <a:lnTo>
                    <a:pt x="4779645" y="9524"/>
                  </a:lnTo>
                  <a:close/>
                </a:path>
                <a:path w="4779645" h="4361180">
                  <a:moveTo>
                    <a:pt x="9525" y="4356417"/>
                  </a:moveTo>
                  <a:lnTo>
                    <a:pt x="4762" y="4351655"/>
                  </a:lnTo>
                  <a:lnTo>
                    <a:pt x="9525" y="4351655"/>
                  </a:lnTo>
                  <a:lnTo>
                    <a:pt x="9525" y="4356417"/>
                  </a:lnTo>
                  <a:close/>
                </a:path>
                <a:path w="4779645" h="4361180">
                  <a:moveTo>
                    <a:pt x="4770120" y="4356417"/>
                  </a:moveTo>
                  <a:lnTo>
                    <a:pt x="9525" y="4356417"/>
                  </a:lnTo>
                  <a:lnTo>
                    <a:pt x="9525" y="4351655"/>
                  </a:lnTo>
                  <a:lnTo>
                    <a:pt x="4770120" y="4351655"/>
                  </a:lnTo>
                  <a:lnTo>
                    <a:pt x="4770120" y="4356417"/>
                  </a:lnTo>
                  <a:close/>
                </a:path>
                <a:path w="4779645" h="4361180">
                  <a:moveTo>
                    <a:pt x="4779645" y="4356417"/>
                  </a:moveTo>
                  <a:lnTo>
                    <a:pt x="4770120" y="4356417"/>
                  </a:lnTo>
                  <a:lnTo>
                    <a:pt x="4774882" y="4351655"/>
                  </a:lnTo>
                  <a:lnTo>
                    <a:pt x="4779645" y="4351655"/>
                  </a:lnTo>
                  <a:lnTo>
                    <a:pt x="4779645" y="4356417"/>
                  </a:lnTo>
                  <a:close/>
                </a:path>
              </a:pathLst>
            </a:custGeom>
            <a:solidFill>
              <a:srgbClr val="0D0D0D"/>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sp>
        <p:nvSpPr>
          <p:cNvPr id="8" name="object 8"/>
          <p:cNvSpPr txBox="1"/>
          <p:nvPr/>
        </p:nvSpPr>
        <p:spPr>
          <a:xfrm>
            <a:off x="5905500" y="1826260"/>
            <a:ext cx="4770120" cy="4351655"/>
          </a:xfrm>
          <a:prstGeom prst="rect">
            <a:avLst/>
          </a:prstGeom>
        </p:spPr>
        <p:txBody>
          <a:bodyPr vert="horz" wrap="square" lIns="0" tIns="0" rIns="0" bIns="0" rtlCol="0">
            <a:spAutoFit/>
          </a:bodyPr>
          <a:lstStyle/>
          <a:p>
            <a:pPr marL="90805" marR="0" lvl="0" indent="0" algn="l" defTabSz="914400" rtl="0" eaLnBrk="1" fontAlgn="auto" latinLnBrk="0" hangingPunct="1">
              <a:lnSpc>
                <a:spcPts val="2725"/>
              </a:lnSpc>
              <a:spcBef>
                <a:spcPts val="0"/>
              </a:spcBef>
              <a:spcAft>
                <a:spcPts val="0"/>
              </a:spcAft>
              <a:buClrTx/>
              <a:buSzTx/>
              <a:buFontTx/>
              <a:buNone/>
              <a:tabLst/>
              <a:defRPr/>
            </a:pPr>
            <a:r>
              <a:rPr kumimoji="0" sz="2500" b="1" i="0" u="none" strike="noStrike" kern="1200" cap="none" spc="-5" normalizeH="0" baseline="0" noProof="0" dirty="0">
                <a:ln>
                  <a:noFill/>
                </a:ln>
                <a:solidFill>
                  <a:prstClr val="black"/>
                </a:solidFill>
                <a:effectLst/>
                <a:uLnTx/>
                <a:uFillTx/>
                <a:latin typeface="Calibri" panose="020F0502020204030204"/>
                <a:ea typeface="+mn-ea"/>
                <a:cs typeface="Calibri" panose="020F0502020204030204"/>
              </a:rPr>
              <a:t>Model</a:t>
            </a:r>
            <a:r>
              <a:rPr kumimoji="0" sz="2500" b="1" i="0" u="none" strike="noStrike" kern="1200" cap="none" spc="-30" normalizeH="0" baseline="0" noProof="0" dirty="0">
                <a:ln>
                  <a:noFill/>
                </a:ln>
                <a:solidFill>
                  <a:prstClr val="black"/>
                </a:solidFill>
                <a:effectLst/>
                <a:uLnTx/>
                <a:uFillTx/>
                <a:latin typeface="Calibri" panose="020F0502020204030204"/>
                <a:ea typeface="+mn-ea"/>
                <a:cs typeface="Calibri" panose="020F0502020204030204"/>
              </a:rPr>
              <a:t> </a:t>
            </a:r>
            <a:r>
              <a:rPr kumimoji="0" sz="2500" b="1" i="0" u="none" strike="noStrike" kern="1200" cap="none" spc="-10" normalizeH="0" baseline="0" noProof="0" dirty="0">
                <a:ln>
                  <a:noFill/>
                </a:ln>
                <a:solidFill>
                  <a:prstClr val="black"/>
                </a:solidFill>
                <a:effectLst/>
                <a:uLnTx/>
                <a:uFillTx/>
                <a:latin typeface="Calibri" panose="020F0502020204030204"/>
                <a:ea typeface="+mn-ea"/>
                <a:cs typeface="Calibri" panose="020F0502020204030204"/>
              </a:rPr>
              <a:t>development</a:t>
            </a:r>
            <a:endParaRPr kumimoji="0" sz="2500" b="0" i="0" u="none" strike="noStrike" kern="1200" cap="none" spc="0" normalizeH="0" baseline="0" noProof="0">
              <a:ln>
                <a:noFill/>
              </a:ln>
              <a:solidFill>
                <a:prstClr val="black"/>
              </a:solidFill>
              <a:effectLst/>
              <a:uLnTx/>
              <a:uFillTx/>
              <a:latin typeface="Calibri" panose="020F0502020204030204"/>
              <a:ea typeface="+mn-ea"/>
              <a:cs typeface="Calibri" panose="020F0502020204030204"/>
            </a:endParaRPr>
          </a:p>
          <a:p>
            <a:pPr marL="319405" marR="259080" lvl="0" indent="-228600" algn="l" defTabSz="914400" rtl="0" eaLnBrk="1" fontAlgn="auto" latinLnBrk="0" hangingPunct="1">
              <a:lnSpc>
                <a:spcPct val="80000"/>
              </a:lnSpc>
              <a:spcBef>
                <a:spcPts val="995"/>
              </a:spcBef>
              <a:spcAft>
                <a:spcPts val="0"/>
              </a:spcAft>
              <a:buClrTx/>
              <a:buSzTx/>
              <a:buFont typeface="Arial MT"/>
              <a:buChar char="•"/>
              <a:tabLst>
                <a:tab pos="319405" algn="l"/>
                <a:tab pos="320040" algn="l"/>
              </a:tabLst>
              <a:defRPr/>
            </a:pPr>
            <a:r>
              <a:rPr kumimoji="0" sz="2200" b="1" i="0" u="none" strike="noStrike" kern="1200" cap="none" spc="-5" normalizeH="0" baseline="0" noProof="0" dirty="0">
                <a:ln>
                  <a:noFill/>
                </a:ln>
                <a:solidFill>
                  <a:prstClr val="black"/>
                </a:solidFill>
                <a:effectLst/>
                <a:uLnTx/>
                <a:uFillTx/>
                <a:latin typeface="Calibri" panose="020F0502020204030204"/>
                <a:ea typeface="+mn-ea"/>
                <a:cs typeface="Calibri" panose="020F0502020204030204"/>
              </a:rPr>
              <a:t>Computer-aided design </a:t>
            </a:r>
            <a:r>
              <a:rPr kumimoji="0" sz="2200" b="0" i="0" u="none" strike="noStrike" kern="1200" cap="none" spc="-5" normalizeH="0" baseline="0" noProof="0" dirty="0">
                <a:ln>
                  <a:noFill/>
                </a:ln>
                <a:solidFill>
                  <a:prstClr val="black"/>
                </a:solidFill>
                <a:effectLst/>
                <a:uLnTx/>
                <a:uFillTx/>
                <a:latin typeface="Calibri" panose="020F0502020204030204"/>
                <a:ea typeface="+mn-ea"/>
                <a:cs typeface="Calibri" panose="020F0502020204030204"/>
              </a:rPr>
              <a:t>(CAD) </a:t>
            </a:r>
            <a:r>
              <a:rPr kumimoji="0" sz="2200" b="0" i="0" u="none" strike="noStrike" kern="1200" cap="none" spc="0" normalizeH="0" baseline="0" noProof="0" dirty="0">
                <a:ln>
                  <a:noFill/>
                </a:ln>
                <a:solidFill>
                  <a:prstClr val="black"/>
                </a:solidFill>
                <a:effectLst/>
                <a:uLnTx/>
                <a:uFillTx/>
                <a:latin typeface="Calibri" panose="020F0502020204030204"/>
                <a:ea typeface="+mn-ea"/>
                <a:cs typeface="Calibri" panose="020F0502020204030204"/>
              </a:rPr>
              <a:t> </a:t>
            </a:r>
            <a:r>
              <a:rPr kumimoji="0" sz="2200" b="0" i="0" u="none" strike="noStrike" kern="1200" cap="none" spc="-10" normalizeH="0" baseline="0" noProof="0" dirty="0">
                <a:ln>
                  <a:noFill/>
                </a:ln>
                <a:solidFill>
                  <a:prstClr val="black"/>
                </a:solidFill>
                <a:effectLst/>
                <a:uLnTx/>
                <a:uFillTx/>
                <a:latin typeface="Calibri" panose="020F0502020204030204"/>
                <a:ea typeface="+mn-ea"/>
                <a:cs typeface="Calibri" panose="020F0502020204030204"/>
              </a:rPr>
              <a:t>software- </a:t>
            </a:r>
            <a:r>
              <a:rPr kumimoji="0" sz="1800" b="0" i="0" u="none" strike="noStrike" kern="1200" cap="none" spc="-5" normalizeH="0" baseline="0" noProof="0" dirty="0">
                <a:ln>
                  <a:noFill/>
                </a:ln>
                <a:solidFill>
                  <a:prstClr val="black"/>
                </a:solidFill>
                <a:effectLst/>
                <a:uLnTx/>
                <a:uFillTx/>
                <a:latin typeface="Calibri" panose="020F0502020204030204"/>
                <a:ea typeface="+mn-ea"/>
                <a:cs typeface="Calibri" panose="020F0502020204030204"/>
              </a:rPr>
              <a:t>used </a:t>
            </a:r>
            <a:r>
              <a:rPr kumimoji="0" sz="1800" b="0" i="0" u="none" strike="noStrike" kern="1200" cap="none" spc="-10" normalizeH="0" baseline="0" noProof="0" dirty="0">
                <a:ln>
                  <a:noFill/>
                </a:ln>
                <a:solidFill>
                  <a:prstClr val="black"/>
                </a:solidFill>
                <a:effectLst/>
                <a:uLnTx/>
                <a:uFillTx/>
                <a:latin typeface="Calibri" panose="020F0502020204030204"/>
                <a:ea typeface="+mn-ea"/>
                <a:cs typeface="Calibri" panose="020F0502020204030204"/>
              </a:rPr>
              <a:t>to </a:t>
            </a:r>
            <a:r>
              <a:rPr kumimoji="0" sz="1800" b="0" i="0" u="none" strike="noStrike" kern="1200" cap="none" spc="-15" normalizeH="0" baseline="0" noProof="0" dirty="0">
                <a:ln>
                  <a:noFill/>
                </a:ln>
                <a:solidFill>
                  <a:prstClr val="black"/>
                </a:solidFill>
                <a:effectLst/>
                <a:uLnTx/>
                <a:uFillTx/>
                <a:latin typeface="Calibri" panose="020F0502020204030204"/>
                <a:ea typeface="+mn-ea"/>
                <a:cs typeface="Calibri" panose="020F0502020204030204"/>
              </a:rPr>
              <a:t>create </a:t>
            </a:r>
            <a:r>
              <a:rPr kumimoji="0" sz="1800" b="0" i="0" u="none" strike="noStrike" kern="1200" cap="none" spc="0" normalizeH="0" baseline="0" noProof="0" dirty="0">
                <a:ln>
                  <a:noFill/>
                </a:ln>
                <a:solidFill>
                  <a:prstClr val="black"/>
                </a:solidFill>
                <a:effectLst/>
                <a:uLnTx/>
                <a:uFillTx/>
                <a:latin typeface="Calibri" panose="020F0502020204030204"/>
                <a:ea typeface="+mn-ea"/>
                <a:cs typeface="Calibri" panose="020F0502020204030204"/>
              </a:rPr>
              <a:t>a </a:t>
            </a:r>
            <a:r>
              <a:rPr kumimoji="0" sz="1800" b="0" i="0" u="none" strike="noStrike" kern="1200" cap="none" spc="-5" normalizeH="0" baseline="0" noProof="0" dirty="0">
                <a:ln>
                  <a:noFill/>
                </a:ln>
                <a:solidFill>
                  <a:prstClr val="black"/>
                </a:solidFill>
                <a:effectLst/>
                <a:uLnTx/>
                <a:uFillTx/>
                <a:latin typeface="Calibri" panose="020F0502020204030204"/>
                <a:ea typeface="+mn-ea"/>
                <a:cs typeface="Calibri" panose="020F0502020204030204"/>
              </a:rPr>
              <a:t>3D model </a:t>
            </a:r>
            <a:r>
              <a:rPr kumimoji="0" sz="1800" b="0" i="0" u="none" strike="noStrike" kern="1200" cap="none" spc="0" normalizeH="0" baseline="0" noProof="0" dirty="0">
                <a:ln>
                  <a:noFill/>
                </a:ln>
                <a:solidFill>
                  <a:prstClr val="black"/>
                </a:solidFill>
                <a:effectLst/>
                <a:uLnTx/>
                <a:uFillTx/>
                <a:latin typeface="Calibri" panose="020F0502020204030204"/>
                <a:ea typeface="+mn-ea"/>
                <a:cs typeface="Calibri" panose="020F0502020204030204"/>
              </a:rPr>
              <a:t>of </a:t>
            </a:r>
            <a:r>
              <a:rPr kumimoji="0" sz="1800" b="0" i="0" u="none" strike="noStrike" kern="1200" cap="none" spc="-5" normalizeH="0" baseline="0" noProof="0" dirty="0">
                <a:ln>
                  <a:noFill/>
                </a:ln>
                <a:solidFill>
                  <a:prstClr val="black"/>
                </a:solidFill>
                <a:effectLst/>
                <a:uLnTx/>
                <a:uFillTx/>
                <a:latin typeface="Calibri" panose="020F0502020204030204"/>
                <a:ea typeface="+mn-ea"/>
                <a:cs typeface="Calibri" panose="020F0502020204030204"/>
              </a:rPr>
              <a:t>the </a:t>
            </a:r>
            <a:r>
              <a:rPr kumimoji="0" sz="1800" b="0" i="0" u="none" strike="noStrike" kern="1200" cap="none" spc="-395" normalizeH="0" baseline="0" noProof="0" dirty="0">
                <a:ln>
                  <a:noFill/>
                </a:ln>
                <a:solidFill>
                  <a:prstClr val="black"/>
                </a:solidFill>
                <a:effectLst/>
                <a:uLnTx/>
                <a:uFillTx/>
                <a:latin typeface="Calibri" panose="020F0502020204030204"/>
                <a:ea typeface="+mn-ea"/>
                <a:cs typeface="Calibri" panose="020F0502020204030204"/>
              </a:rPr>
              <a:t> </a:t>
            </a:r>
            <a:r>
              <a:rPr kumimoji="0" sz="1800" b="0" i="0" u="none" strike="noStrike" kern="1200" cap="none" spc="-5" normalizeH="0" baseline="0" noProof="0" dirty="0">
                <a:ln>
                  <a:noFill/>
                </a:ln>
                <a:solidFill>
                  <a:prstClr val="black"/>
                </a:solidFill>
                <a:effectLst/>
                <a:uLnTx/>
                <a:uFillTx/>
                <a:latin typeface="Calibri" panose="020F0502020204030204"/>
                <a:ea typeface="+mn-ea"/>
                <a:cs typeface="Calibri" panose="020F0502020204030204"/>
              </a:rPr>
              <a:t>building's </a:t>
            </a:r>
            <a:r>
              <a:rPr kumimoji="0" sz="1800" b="0" i="0" u="none" strike="noStrike" kern="1200" cap="none" spc="-30" normalizeH="0" baseline="0" noProof="0" dirty="0">
                <a:ln>
                  <a:noFill/>
                </a:ln>
                <a:solidFill>
                  <a:prstClr val="black"/>
                </a:solidFill>
                <a:effectLst/>
                <a:uLnTx/>
                <a:uFillTx/>
                <a:latin typeface="Calibri" panose="020F0502020204030204"/>
                <a:ea typeface="+mn-ea"/>
                <a:cs typeface="Calibri" panose="020F0502020204030204"/>
              </a:rPr>
              <a:t>interior.</a:t>
            </a:r>
            <a:r>
              <a:rPr kumimoji="0" sz="1800" b="0" i="0" u="none" strike="noStrike" kern="1200" cap="none" spc="-5" normalizeH="0" baseline="0" noProof="0" dirty="0">
                <a:ln>
                  <a:noFill/>
                </a:ln>
                <a:solidFill>
                  <a:prstClr val="black"/>
                </a:solidFill>
                <a:effectLst/>
                <a:uLnTx/>
                <a:uFillTx/>
                <a:latin typeface="Calibri" panose="020F0502020204030204"/>
                <a:ea typeface="+mn-ea"/>
                <a:cs typeface="Calibri" panose="020F0502020204030204"/>
              </a:rPr>
              <a:t> This model</a:t>
            </a:r>
            <a:r>
              <a:rPr kumimoji="0" sz="1800" b="0" i="0" u="none" strike="noStrike" kern="1200" cap="none" spc="0" normalizeH="0" baseline="0" noProof="0" dirty="0">
                <a:ln>
                  <a:noFill/>
                </a:ln>
                <a:solidFill>
                  <a:prstClr val="black"/>
                </a:solidFill>
                <a:effectLst/>
                <a:uLnTx/>
                <a:uFillTx/>
                <a:latin typeface="Calibri" panose="020F0502020204030204"/>
                <a:ea typeface="+mn-ea"/>
                <a:cs typeface="Calibri" panose="020F0502020204030204"/>
              </a:rPr>
              <a:t> </a:t>
            </a:r>
            <a:r>
              <a:rPr kumimoji="0" sz="1800" b="0" i="0" u="none" strike="noStrike" kern="1200" cap="none" spc="-5" normalizeH="0" baseline="0" noProof="0" dirty="0">
                <a:ln>
                  <a:noFill/>
                </a:ln>
                <a:solidFill>
                  <a:prstClr val="black"/>
                </a:solidFill>
                <a:effectLst/>
                <a:uLnTx/>
                <a:uFillTx/>
                <a:latin typeface="Calibri" panose="020F0502020204030204"/>
                <a:ea typeface="+mn-ea"/>
                <a:cs typeface="Calibri" panose="020F0502020204030204"/>
              </a:rPr>
              <a:t>will</a:t>
            </a:r>
            <a:r>
              <a:rPr kumimoji="0" sz="1800" b="0" i="0" u="none" strike="noStrike" kern="1200" cap="none" spc="5" normalizeH="0" baseline="0" noProof="0" dirty="0">
                <a:ln>
                  <a:noFill/>
                </a:ln>
                <a:solidFill>
                  <a:prstClr val="black"/>
                </a:solidFill>
                <a:effectLst/>
                <a:uLnTx/>
                <a:uFillTx/>
                <a:latin typeface="Calibri" panose="020F0502020204030204"/>
                <a:ea typeface="+mn-ea"/>
                <a:cs typeface="Calibri" panose="020F0502020204030204"/>
              </a:rPr>
              <a:t> </a:t>
            </a:r>
            <a:r>
              <a:rPr kumimoji="0" sz="1800" b="0" i="0" u="none" strike="noStrike" kern="1200" cap="none" spc="-5" normalizeH="0" baseline="0" noProof="0" dirty="0">
                <a:ln>
                  <a:noFill/>
                </a:ln>
                <a:solidFill>
                  <a:prstClr val="black"/>
                </a:solidFill>
                <a:effectLst/>
                <a:uLnTx/>
                <a:uFillTx/>
                <a:latin typeface="Calibri" panose="020F0502020204030204"/>
                <a:ea typeface="+mn-ea"/>
                <a:cs typeface="Calibri" panose="020F0502020204030204"/>
              </a:rPr>
              <a:t>be used </a:t>
            </a:r>
            <a:r>
              <a:rPr kumimoji="0" sz="1800" b="0" i="0" u="none" strike="noStrike" kern="1200" cap="none" spc="-10" normalizeH="0" baseline="0" noProof="0" dirty="0">
                <a:ln>
                  <a:noFill/>
                </a:ln>
                <a:solidFill>
                  <a:prstClr val="black"/>
                </a:solidFill>
                <a:effectLst/>
                <a:uLnTx/>
                <a:uFillTx/>
                <a:latin typeface="Calibri" panose="020F0502020204030204"/>
                <a:ea typeface="+mn-ea"/>
                <a:cs typeface="Calibri" panose="020F0502020204030204"/>
              </a:rPr>
              <a:t>to </a:t>
            </a:r>
            <a:r>
              <a:rPr kumimoji="0" sz="1800" b="0" i="0" u="none" strike="noStrike" kern="1200" cap="none" spc="-5" normalizeH="0" baseline="0" noProof="0" dirty="0">
                <a:ln>
                  <a:noFill/>
                </a:ln>
                <a:solidFill>
                  <a:prstClr val="black"/>
                </a:solidFill>
                <a:effectLst/>
                <a:uLnTx/>
                <a:uFillTx/>
                <a:latin typeface="Calibri" panose="020F0502020204030204"/>
                <a:ea typeface="+mn-ea"/>
                <a:cs typeface="Calibri" panose="020F0502020204030204"/>
              </a:rPr>
              <a:t> input</a:t>
            </a:r>
            <a:r>
              <a:rPr kumimoji="0" sz="1800" b="0" i="0" u="none" strike="noStrike" kern="1200" cap="none" spc="0" normalizeH="0" baseline="0" noProof="0" dirty="0">
                <a:ln>
                  <a:noFill/>
                </a:ln>
                <a:solidFill>
                  <a:prstClr val="black"/>
                </a:solidFill>
                <a:effectLst/>
                <a:uLnTx/>
                <a:uFillTx/>
                <a:latin typeface="Calibri" panose="020F0502020204030204"/>
                <a:ea typeface="+mn-ea"/>
                <a:cs typeface="Calibri" panose="020F0502020204030204"/>
              </a:rPr>
              <a:t> </a:t>
            </a:r>
            <a:r>
              <a:rPr kumimoji="0" sz="1800" b="0" i="0" u="none" strike="noStrike" kern="1200" cap="none" spc="-5" normalizeH="0" baseline="0" noProof="0" dirty="0">
                <a:ln>
                  <a:noFill/>
                </a:ln>
                <a:solidFill>
                  <a:prstClr val="black"/>
                </a:solidFill>
                <a:effectLst/>
                <a:uLnTx/>
                <a:uFillTx/>
                <a:latin typeface="Calibri" panose="020F0502020204030204"/>
                <a:ea typeface="+mn-ea"/>
                <a:cs typeface="Calibri" panose="020F0502020204030204"/>
              </a:rPr>
              <a:t>the building's</a:t>
            </a:r>
            <a:r>
              <a:rPr kumimoji="0" sz="1800" b="0" i="0" u="none" strike="noStrike" kern="1200" cap="none" spc="0" normalizeH="0" baseline="0" noProof="0" dirty="0">
                <a:ln>
                  <a:noFill/>
                </a:ln>
                <a:solidFill>
                  <a:prstClr val="black"/>
                </a:solidFill>
                <a:effectLst/>
                <a:uLnTx/>
                <a:uFillTx/>
                <a:latin typeface="Calibri" panose="020F0502020204030204"/>
                <a:ea typeface="+mn-ea"/>
                <a:cs typeface="Calibri" panose="020F0502020204030204"/>
              </a:rPr>
              <a:t> </a:t>
            </a:r>
            <a:r>
              <a:rPr kumimoji="0" sz="1800" b="0" i="0" u="none" strike="noStrike" kern="1200" cap="none" spc="-15" normalizeH="0" baseline="0" noProof="0" dirty="0">
                <a:ln>
                  <a:noFill/>
                </a:ln>
                <a:solidFill>
                  <a:prstClr val="black"/>
                </a:solidFill>
                <a:effectLst/>
                <a:uLnTx/>
                <a:uFillTx/>
                <a:latin typeface="Calibri" panose="020F0502020204030204"/>
                <a:ea typeface="+mn-ea"/>
                <a:cs typeface="Calibri" panose="020F0502020204030204"/>
              </a:rPr>
              <a:t>layout</a:t>
            </a:r>
            <a:r>
              <a:rPr kumimoji="0" sz="1800" b="0" i="0" u="none" strike="noStrike" kern="1200" cap="none" spc="0" normalizeH="0" baseline="0" noProof="0" dirty="0">
                <a:ln>
                  <a:noFill/>
                </a:ln>
                <a:solidFill>
                  <a:prstClr val="black"/>
                </a:solidFill>
                <a:effectLst/>
                <a:uLnTx/>
                <a:uFillTx/>
                <a:latin typeface="Calibri" panose="020F0502020204030204"/>
                <a:ea typeface="+mn-ea"/>
                <a:cs typeface="Calibri" panose="020F0502020204030204"/>
              </a:rPr>
              <a:t> </a:t>
            </a:r>
            <a:r>
              <a:rPr kumimoji="0" sz="1800" b="0" i="0" u="none" strike="noStrike" kern="1200" cap="none" spc="-5" normalizeH="0" baseline="0" noProof="0" dirty="0">
                <a:ln>
                  <a:noFill/>
                </a:ln>
                <a:solidFill>
                  <a:prstClr val="black"/>
                </a:solidFill>
                <a:effectLst/>
                <a:uLnTx/>
                <a:uFillTx/>
                <a:latin typeface="Calibri" panose="020F0502020204030204"/>
                <a:ea typeface="+mn-ea"/>
                <a:cs typeface="Calibri" panose="020F0502020204030204"/>
              </a:rPr>
              <a:t>and</a:t>
            </a:r>
            <a:r>
              <a:rPr kumimoji="0" sz="1800" b="0" i="0" u="none" strike="noStrike" kern="1200" cap="none" spc="0" normalizeH="0" baseline="0" noProof="0" dirty="0">
                <a:ln>
                  <a:noFill/>
                </a:ln>
                <a:solidFill>
                  <a:prstClr val="black"/>
                </a:solidFill>
                <a:effectLst/>
                <a:uLnTx/>
                <a:uFillTx/>
                <a:latin typeface="Calibri" panose="020F0502020204030204"/>
                <a:ea typeface="+mn-ea"/>
                <a:cs typeface="Calibri" panose="020F0502020204030204"/>
              </a:rPr>
              <a:t> </a:t>
            </a:r>
            <a:r>
              <a:rPr kumimoji="0" sz="1800" b="0" i="0" u="none" strike="noStrike" kern="1200" cap="none" spc="-10" normalizeH="0" baseline="0" noProof="0" dirty="0">
                <a:ln>
                  <a:noFill/>
                </a:ln>
                <a:solidFill>
                  <a:prstClr val="black"/>
                </a:solidFill>
                <a:effectLst/>
                <a:uLnTx/>
                <a:uFillTx/>
                <a:latin typeface="Calibri" panose="020F0502020204030204"/>
                <a:ea typeface="+mn-ea"/>
                <a:cs typeface="Calibri" panose="020F0502020204030204"/>
              </a:rPr>
              <a:t>materials</a:t>
            </a:r>
            <a:r>
              <a:rPr kumimoji="0" sz="1800" b="0" i="0" u="none" strike="noStrike" kern="1200" cap="none" spc="-5" normalizeH="0" baseline="0" noProof="0" dirty="0">
                <a:ln>
                  <a:noFill/>
                </a:ln>
                <a:solidFill>
                  <a:prstClr val="black"/>
                </a:solidFill>
                <a:effectLst/>
                <a:uLnTx/>
                <a:uFillTx/>
                <a:latin typeface="Calibri" panose="020F0502020204030204"/>
                <a:ea typeface="+mn-ea"/>
                <a:cs typeface="Calibri" panose="020F0502020204030204"/>
              </a:rPr>
              <a:t> </a:t>
            </a:r>
            <a:r>
              <a:rPr kumimoji="0" sz="1800" b="0" i="0" u="none" strike="noStrike" kern="1200" cap="none" spc="-15" normalizeH="0" baseline="0" noProof="0" dirty="0">
                <a:ln>
                  <a:noFill/>
                </a:ln>
                <a:solidFill>
                  <a:prstClr val="black"/>
                </a:solidFill>
                <a:effectLst/>
                <a:uLnTx/>
                <a:uFillTx/>
                <a:latin typeface="Calibri" panose="020F0502020204030204"/>
                <a:ea typeface="+mn-ea"/>
                <a:cs typeface="Calibri" panose="020F0502020204030204"/>
              </a:rPr>
              <a:t>into </a:t>
            </a:r>
            <a:r>
              <a:rPr kumimoji="0" sz="1800" b="0" i="0" u="none" strike="noStrike" kern="1200" cap="none" spc="-10" normalizeH="0" baseline="0" noProof="0" dirty="0">
                <a:ln>
                  <a:noFill/>
                </a:ln>
                <a:solidFill>
                  <a:prstClr val="black"/>
                </a:solidFill>
                <a:effectLst/>
                <a:uLnTx/>
                <a:uFillTx/>
                <a:latin typeface="Calibri" panose="020F0502020204030204"/>
                <a:ea typeface="+mn-ea"/>
                <a:cs typeface="Calibri" panose="020F0502020204030204"/>
              </a:rPr>
              <a:t> </a:t>
            </a:r>
            <a:r>
              <a:rPr kumimoji="0" sz="1800" b="0" i="0" u="none" strike="noStrike" kern="1200" cap="none" spc="-5" normalizeH="0" baseline="0" noProof="0" dirty="0">
                <a:ln>
                  <a:noFill/>
                </a:ln>
                <a:solidFill>
                  <a:prstClr val="black"/>
                </a:solidFill>
                <a:effectLst/>
                <a:uLnTx/>
                <a:uFillTx/>
                <a:latin typeface="Calibri" panose="020F0502020204030204"/>
                <a:ea typeface="+mn-ea"/>
                <a:cs typeface="Calibri" panose="020F0502020204030204"/>
              </a:rPr>
              <a:t>the</a:t>
            </a:r>
            <a:r>
              <a:rPr kumimoji="0" sz="1800" b="0" i="0" u="none" strike="noStrike" kern="1200" cap="none" spc="-10" normalizeH="0" baseline="0" noProof="0" dirty="0">
                <a:ln>
                  <a:noFill/>
                </a:ln>
                <a:solidFill>
                  <a:prstClr val="black"/>
                </a:solidFill>
                <a:effectLst/>
                <a:uLnTx/>
                <a:uFillTx/>
                <a:latin typeface="Calibri" panose="020F0502020204030204"/>
                <a:ea typeface="+mn-ea"/>
                <a:cs typeface="Calibri" panose="020F0502020204030204"/>
              </a:rPr>
              <a:t> </a:t>
            </a:r>
            <a:r>
              <a:rPr kumimoji="0" sz="1800" b="0" i="0" u="none" strike="noStrike" kern="1200" cap="none" spc="-5" normalizeH="0" baseline="0" noProof="0" dirty="0">
                <a:ln>
                  <a:noFill/>
                </a:ln>
                <a:solidFill>
                  <a:prstClr val="black"/>
                </a:solidFill>
                <a:effectLst/>
                <a:uLnTx/>
                <a:uFillTx/>
                <a:latin typeface="Calibri" panose="020F0502020204030204"/>
                <a:ea typeface="+mn-ea"/>
                <a:cs typeface="Calibri" panose="020F0502020204030204"/>
              </a:rPr>
              <a:t>electromagnetic</a:t>
            </a:r>
            <a:r>
              <a:rPr kumimoji="0" sz="1800" b="0" i="0" u="none" strike="noStrike" kern="1200" cap="none" spc="-10" normalizeH="0" baseline="0" noProof="0" dirty="0">
                <a:ln>
                  <a:noFill/>
                </a:ln>
                <a:solidFill>
                  <a:prstClr val="black"/>
                </a:solidFill>
                <a:effectLst/>
                <a:uLnTx/>
                <a:uFillTx/>
                <a:latin typeface="Calibri" panose="020F0502020204030204"/>
                <a:ea typeface="+mn-ea"/>
                <a:cs typeface="Calibri" panose="020F0502020204030204"/>
              </a:rPr>
              <a:t> </a:t>
            </a:r>
            <a:r>
              <a:rPr kumimoji="0" sz="1800" b="0" i="0" u="none" strike="noStrike" kern="1200" cap="none" spc="-5" normalizeH="0" baseline="0" noProof="0" dirty="0">
                <a:ln>
                  <a:noFill/>
                </a:ln>
                <a:solidFill>
                  <a:prstClr val="black"/>
                </a:solidFill>
                <a:effectLst/>
                <a:uLnTx/>
                <a:uFillTx/>
                <a:latin typeface="Calibri" panose="020F0502020204030204"/>
                <a:ea typeface="+mn-ea"/>
                <a:cs typeface="Calibri" panose="020F0502020204030204"/>
              </a:rPr>
              <a:t>simulation</a:t>
            </a:r>
            <a:r>
              <a:rPr kumimoji="0" sz="1800" b="0" i="0" u="none" strike="noStrike" kern="1200" cap="none" spc="-10" normalizeH="0" baseline="0" noProof="0" dirty="0">
                <a:ln>
                  <a:noFill/>
                </a:ln>
                <a:solidFill>
                  <a:prstClr val="black"/>
                </a:solidFill>
                <a:effectLst/>
                <a:uLnTx/>
                <a:uFillTx/>
                <a:latin typeface="Calibri" panose="020F0502020204030204"/>
                <a:ea typeface="+mn-ea"/>
                <a:cs typeface="Calibri" panose="020F0502020204030204"/>
              </a:rPr>
              <a:t> software</a:t>
            </a:r>
            <a:endParaRPr kumimoji="0" sz="1800" b="0" i="0" u="none" strike="noStrike" kern="1200" cap="none" spc="0" normalizeH="0" baseline="0" noProof="0">
              <a:ln>
                <a:noFill/>
              </a:ln>
              <a:solidFill>
                <a:prstClr val="black"/>
              </a:solidFill>
              <a:effectLst/>
              <a:uLnTx/>
              <a:uFillTx/>
              <a:latin typeface="Calibri" panose="020F0502020204030204"/>
              <a:ea typeface="+mn-ea"/>
              <a:cs typeface="Calibri" panose="020F0502020204030204"/>
            </a:endParaRPr>
          </a:p>
          <a:p>
            <a:pPr marL="274320" marR="0" lvl="0" indent="0" algn="l" defTabSz="914400" rtl="0" eaLnBrk="1" fontAlgn="auto" latinLnBrk="0" hangingPunct="1">
              <a:lnSpc>
                <a:spcPct val="100000"/>
              </a:lnSpc>
              <a:spcBef>
                <a:spcPts val="565"/>
              </a:spcBef>
              <a:spcAft>
                <a:spcPts val="0"/>
              </a:spcAft>
              <a:buClrTx/>
              <a:buSzTx/>
              <a:buFontTx/>
              <a:buNone/>
              <a:tabLst/>
              <a:defRPr/>
            </a:pPr>
            <a:r>
              <a:rPr kumimoji="0" sz="1800" b="1" i="0" u="none" strike="noStrike" kern="1200" cap="none" spc="0" normalizeH="0" baseline="0" noProof="0" dirty="0">
                <a:ln>
                  <a:noFill/>
                </a:ln>
                <a:solidFill>
                  <a:prstClr val="black"/>
                </a:solidFill>
                <a:effectLst/>
                <a:uLnTx/>
                <a:uFillTx/>
                <a:latin typeface="Calibri" panose="020F0502020204030204"/>
                <a:ea typeface="+mn-ea"/>
                <a:cs typeface="Calibri" panose="020F0502020204030204"/>
              </a:rPr>
              <a:t>Ex</a:t>
            </a:r>
            <a:r>
              <a:rPr kumimoji="0" sz="1800" b="1" i="0" u="none" strike="noStrike" kern="1200" cap="none" spc="-10" normalizeH="0" baseline="0" noProof="0" dirty="0">
                <a:ln>
                  <a:noFill/>
                </a:ln>
                <a:solidFill>
                  <a:prstClr val="black"/>
                </a:solidFill>
                <a:effectLst/>
                <a:uLnTx/>
                <a:uFillTx/>
                <a:latin typeface="Calibri" panose="020F0502020204030204"/>
                <a:ea typeface="+mn-ea"/>
                <a:cs typeface="Calibri" panose="020F0502020204030204"/>
              </a:rPr>
              <a:t> -AutoCAD, </a:t>
            </a:r>
            <a:r>
              <a:rPr kumimoji="0" sz="1800" b="1" i="0" u="none" strike="noStrike" kern="1200" cap="none" spc="-15" normalizeH="0" baseline="0" noProof="0" dirty="0">
                <a:ln>
                  <a:noFill/>
                </a:ln>
                <a:solidFill>
                  <a:prstClr val="black"/>
                </a:solidFill>
                <a:effectLst/>
                <a:uLnTx/>
                <a:uFillTx/>
                <a:latin typeface="Calibri" panose="020F0502020204030204"/>
                <a:ea typeface="+mn-ea"/>
                <a:cs typeface="Calibri" panose="020F0502020204030204"/>
              </a:rPr>
              <a:t>Revit</a:t>
            </a:r>
            <a:r>
              <a:rPr kumimoji="0" sz="1800" b="1" i="0" u="none" strike="noStrike" kern="1200" cap="none" spc="-10" normalizeH="0" baseline="0" noProof="0" dirty="0">
                <a:ln>
                  <a:noFill/>
                </a:ln>
                <a:solidFill>
                  <a:prstClr val="black"/>
                </a:solidFill>
                <a:effectLst/>
                <a:uLnTx/>
                <a:uFillTx/>
                <a:latin typeface="Calibri" panose="020F0502020204030204"/>
                <a:ea typeface="+mn-ea"/>
                <a:cs typeface="Calibri" panose="020F0502020204030204"/>
              </a:rPr>
              <a:t> </a:t>
            </a:r>
            <a:r>
              <a:rPr kumimoji="0" sz="1800" b="1" i="0" u="none" strike="noStrike" kern="1200" cap="none" spc="-15" normalizeH="0" baseline="0" noProof="0" dirty="0">
                <a:ln>
                  <a:noFill/>
                </a:ln>
                <a:solidFill>
                  <a:prstClr val="black"/>
                </a:solidFill>
                <a:effectLst/>
                <a:uLnTx/>
                <a:uFillTx/>
                <a:latin typeface="Calibri" panose="020F0502020204030204"/>
                <a:ea typeface="+mn-ea"/>
                <a:cs typeface="Calibri" panose="020F0502020204030204"/>
              </a:rPr>
              <a:t>,SolidWorks</a:t>
            </a:r>
            <a:endParaRPr kumimoji="0" sz="1800" b="0" i="0" u="none" strike="noStrike" kern="1200" cap="none" spc="0" normalizeH="0" baseline="0" noProof="0">
              <a:ln>
                <a:noFill/>
              </a:ln>
              <a:solidFill>
                <a:prstClr val="black"/>
              </a:solidFill>
              <a:effectLst/>
              <a:uLnTx/>
              <a:uFillTx/>
              <a:latin typeface="Calibri" panose="020F0502020204030204"/>
              <a:ea typeface="+mn-ea"/>
              <a:cs typeface="Calibri" panose="020F0502020204030204"/>
            </a:endParaRPr>
          </a:p>
          <a:p>
            <a:pPr marL="319405" marR="102235" lvl="0" indent="-228600" algn="l" defTabSz="914400" rtl="0" eaLnBrk="1" fontAlgn="auto" latinLnBrk="0" hangingPunct="1">
              <a:lnSpc>
                <a:spcPct val="80000"/>
              </a:lnSpc>
              <a:spcBef>
                <a:spcPts val="985"/>
              </a:spcBef>
              <a:spcAft>
                <a:spcPts val="0"/>
              </a:spcAft>
              <a:buClrTx/>
              <a:buSzTx/>
              <a:buFont typeface="Arial MT"/>
              <a:buChar char="•"/>
              <a:tabLst>
                <a:tab pos="319405" algn="l"/>
                <a:tab pos="320040" algn="l"/>
              </a:tabLst>
              <a:defRPr/>
            </a:pPr>
            <a:r>
              <a:rPr kumimoji="0" sz="2200" b="1" i="0" u="none" strike="noStrike" kern="1200" cap="none" spc="-5" normalizeH="0" baseline="0" noProof="0" dirty="0">
                <a:ln>
                  <a:noFill/>
                </a:ln>
                <a:solidFill>
                  <a:prstClr val="black"/>
                </a:solidFill>
                <a:effectLst/>
                <a:uLnTx/>
                <a:uFillTx/>
                <a:latin typeface="Calibri" panose="020F0502020204030204"/>
                <a:ea typeface="+mn-ea"/>
                <a:cs typeface="Calibri" panose="020F0502020204030204"/>
              </a:rPr>
              <a:t>Electromagnetic simulation </a:t>
            </a:r>
            <a:r>
              <a:rPr kumimoji="0" sz="2200" b="1" i="0" u="none" strike="noStrike" kern="1200" cap="none" spc="-10" normalizeH="0" baseline="0" noProof="0" dirty="0">
                <a:ln>
                  <a:noFill/>
                </a:ln>
                <a:solidFill>
                  <a:prstClr val="black"/>
                </a:solidFill>
                <a:effectLst/>
                <a:uLnTx/>
                <a:uFillTx/>
                <a:latin typeface="Calibri" panose="020F0502020204030204"/>
                <a:ea typeface="+mn-ea"/>
                <a:cs typeface="Calibri" panose="020F0502020204030204"/>
              </a:rPr>
              <a:t>software</a:t>
            </a:r>
            <a:r>
              <a:rPr kumimoji="0" sz="2200" b="0" i="0" u="none" strike="noStrike" kern="1200" cap="none" spc="-10" normalizeH="0" baseline="0" noProof="0" dirty="0">
                <a:ln>
                  <a:noFill/>
                </a:ln>
                <a:solidFill>
                  <a:prstClr val="black"/>
                </a:solidFill>
                <a:effectLst/>
                <a:uLnTx/>
                <a:uFillTx/>
                <a:latin typeface="Calibri" panose="020F0502020204030204"/>
                <a:ea typeface="+mn-ea"/>
                <a:cs typeface="Calibri" panose="020F0502020204030204"/>
              </a:rPr>
              <a:t>- </a:t>
            </a:r>
            <a:r>
              <a:rPr kumimoji="0" sz="2200" b="0" i="0" u="none" strike="noStrike" kern="1200" cap="none" spc="-484" normalizeH="0" baseline="0" noProof="0" dirty="0">
                <a:ln>
                  <a:noFill/>
                </a:ln>
                <a:solidFill>
                  <a:prstClr val="black"/>
                </a:solidFill>
                <a:effectLst/>
                <a:uLnTx/>
                <a:uFillTx/>
                <a:latin typeface="Calibri" panose="020F0502020204030204"/>
                <a:ea typeface="+mn-ea"/>
                <a:cs typeface="Calibri" panose="020F0502020204030204"/>
              </a:rPr>
              <a:t> </a:t>
            </a:r>
            <a:r>
              <a:rPr kumimoji="0" sz="1800" b="0" i="0" u="none" strike="noStrike" kern="1200" cap="none" spc="-5" normalizeH="0" baseline="0" noProof="0" dirty="0">
                <a:ln>
                  <a:noFill/>
                </a:ln>
                <a:solidFill>
                  <a:prstClr val="black"/>
                </a:solidFill>
                <a:effectLst/>
                <a:uLnTx/>
                <a:uFillTx/>
                <a:latin typeface="Calibri" panose="020F0502020204030204"/>
                <a:ea typeface="+mn-ea"/>
                <a:cs typeface="Calibri" panose="020F0502020204030204"/>
              </a:rPr>
              <a:t>used </a:t>
            </a:r>
            <a:r>
              <a:rPr kumimoji="0" sz="1800" b="0" i="0" u="none" strike="noStrike" kern="1200" cap="none" spc="-10" normalizeH="0" baseline="0" noProof="0" dirty="0">
                <a:ln>
                  <a:noFill/>
                </a:ln>
                <a:solidFill>
                  <a:prstClr val="black"/>
                </a:solidFill>
                <a:effectLst/>
                <a:uLnTx/>
                <a:uFillTx/>
                <a:latin typeface="Calibri" panose="020F0502020204030204"/>
                <a:ea typeface="+mn-ea"/>
                <a:cs typeface="Calibri" panose="020F0502020204030204"/>
              </a:rPr>
              <a:t>to simulate </a:t>
            </a:r>
            <a:r>
              <a:rPr kumimoji="0" sz="1800" b="0" i="0" u="none" strike="noStrike" kern="1200" cap="none" spc="-5" normalizeH="0" baseline="0" noProof="0" dirty="0">
                <a:ln>
                  <a:noFill/>
                </a:ln>
                <a:solidFill>
                  <a:prstClr val="black"/>
                </a:solidFill>
                <a:effectLst/>
                <a:uLnTx/>
                <a:uFillTx/>
                <a:latin typeface="Calibri" panose="020F0502020204030204"/>
                <a:ea typeface="+mn-ea"/>
                <a:cs typeface="Calibri" panose="020F0502020204030204"/>
              </a:rPr>
              <a:t>the </a:t>
            </a:r>
            <a:r>
              <a:rPr kumimoji="0" sz="1800" b="0" i="0" u="none" strike="noStrike" kern="1200" cap="none" spc="-10" normalizeH="0" baseline="0" noProof="0" dirty="0">
                <a:ln>
                  <a:noFill/>
                </a:ln>
                <a:solidFill>
                  <a:prstClr val="black"/>
                </a:solidFill>
                <a:effectLst/>
                <a:uLnTx/>
                <a:uFillTx/>
                <a:latin typeface="Calibri" panose="020F0502020204030204"/>
                <a:ea typeface="+mn-ea"/>
                <a:cs typeface="Calibri" panose="020F0502020204030204"/>
              </a:rPr>
              <a:t>propagation </a:t>
            </a:r>
            <a:r>
              <a:rPr kumimoji="0" sz="1800" b="0" i="0" u="none" strike="noStrike" kern="1200" cap="none" spc="0" normalizeH="0" baseline="0" noProof="0" dirty="0">
                <a:ln>
                  <a:noFill/>
                </a:ln>
                <a:solidFill>
                  <a:prstClr val="black"/>
                </a:solidFill>
                <a:effectLst/>
                <a:uLnTx/>
                <a:uFillTx/>
                <a:latin typeface="Calibri" panose="020F0502020204030204"/>
                <a:ea typeface="+mn-ea"/>
                <a:cs typeface="Calibri" panose="020F0502020204030204"/>
              </a:rPr>
              <a:t>of </a:t>
            </a:r>
            <a:r>
              <a:rPr kumimoji="0" sz="1800" b="0" i="0" u="none" strike="noStrike" kern="1200" cap="none" spc="-5" normalizeH="0" baseline="0" noProof="0" dirty="0">
                <a:ln>
                  <a:noFill/>
                </a:ln>
                <a:solidFill>
                  <a:prstClr val="black"/>
                </a:solidFill>
                <a:effectLst/>
                <a:uLnTx/>
                <a:uFillTx/>
                <a:latin typeface="Calibri" panose="020F0502020204030204"/>
                <a:ea typeface="+mn-ea"/>
                <a:cs typeface="Calibri" panose="020F0502020204030204"/>
              </a:rPr>
              <a:t>cellular </a:t>
            </a:r>
            <a:r>
              <a:rPr kumimoji="0" sz="1800" b="0" i="0" u="none" strike="noStrike" kern="1200" cap="none" spc="0" normalizeH="0" baseline="0" noProof="0" dirty="0">
                <a:ln>
                  <a:noFill/>
                </a:ln>
                <a:solidFill>
                  <a:prstClr val="black"/>
                </a:solidFill>
                <a:effectLst/>
                <a:uLnTx/>
                <a:uFillTx/>
                <a:latin typeface="Calibri" panose="020F0502020204030204"/>
                <a:ea typeface="+mn-ea"/>
                <a:cs typeface="Calibri" panose="020F0502020204030204"/>
              </a:rPr>
              <a:t> </a:t>
            </a:r>
            <a:r>
              <a:rPr kumimoji="0" sz="1800" b="0" i="0" u="none" strike="noStrike" kern="1200" cap="none" spc="-5" normalizeH="0" baseline="0" noProof="0" dirty="0">
                <a:ln>
                  <a:noFill/>
                </a:ln>
                <a:solidFill>
                  <a:prstClr val="black"/>
                </a:solidFill>
                <a:effectLst/>
                <a:uLnTx/>
                <a:uFillTx/>
                <a:latin typeface="Calibri" panose="020F0502020204030204"/>
                <a:ea typeface="+mn-ea"/>
                <a:cs typeface="Calibri" panose="020F0502020204030204"/>
              </a:rPr>
              <a:t>signals </a:t>
            </a:r>
            <a:r>
              <a:rPr kumimoji="0" sz="1800" b="0" i="0" u="none" strike="noStrike" kern="1200" cap="none" spc="0" normalizeH="0" baseline="0" noProof="0" dirty="0">
                <a:ln>
                  <a:noFill/>
                </a:ln>
                <a:solidFill>
                  <a:prstClr val="black"/>
                </a:solidFill>
                <a:effectLst/>
                <a:uLnTx/>
                <a:uFillTx/>
                <a:latin typeface="Calibri" panose="020F0502020204030204"/>
                <a:ea typeface="+mn-ea"/>
                <a:cs typeface="Calibri" panose="020F0502020204030204"/>
              </a:rPr>
              <a:t>in </a:t>
            </a:r>
            <a:r>
              <a:rPr kumimoji="0" sz="1800" b="0" i="0" u="none" strike="noStrike" kern="1200" cap="none" spc="-5" normalizeH="0" baseline="0" noProof="0" dirty="0">
                <a:ln>
                  <a:noFill/>
                </a:ln>
                <a:solidFill>
                  <a:prstClr val="black"/>
                </a:solidFill>
                <a:effectLst/>
                <a:uLnTx/>
                <a:uFillTx/>
                <a:latin typeface="Calibri" panose="020F0502020204030204"/>
                <a:ea typeface="+mn-ea"/>
                <a:cs typeface="Calibri" panose="020F0502020204030204"/>
              </a:rPr>
              <a:t>the building and </a:t>
            </a:r>
            <a:r>
              <a:rPr kumimoji="0" sz="1800" b="0" i="0" u="none" strike="noStrike" kern="1200" cap="none" spc="-10" normalizeH="0" baseline="0" noProof="0" dirty="0">
                <a:ln>
                  <a:noFill/>
                </a:ln>
                <a:solidFill>
                  <a:prstClr val="black"/>
                </a:solidFill>
                <a:effectLst/>
                <a:uLnTx/>
                <a:uFillTx/>
                <a:latin typeface="Calibri" panose="020F0502020204030204"/>
                <a:ea typeface="+mn-ea"/>
                <a:cs typeface="Calibri" panose="020F0502020204030204"/>
              </a:rPr>
              <a:t>to </a:t>
            </a:r>
            <a:r>
              <a:rPr kumimoji="0" sz="1800" b="0" i="0" u="none" strike="noStrike" kern="1200" cap="none" spc="-15" normalizeH="0" baseline="0" noProof="0" dirty="0">
                <a:ln>
                  <a:noFill/>
                </a:ln>
                <a:solidFill>
                  <a:prstClr val="black"/>
                </a:solidFill>
                <a:effectLst/>
                <a:uLnTx/>
                <a:uFillTx/>
                <a:latin typeface="Calibri" panose="020F0502020204030204"/>
                <a:ea typeface="+mn-ea"/>
                <a:cs typeface="Calibri" panose="020F0502020204030204"/>
              </a:rPr>
              <a:t>generate </a:t>
            </a:r>
            <a:r>
              <a:rPr kumimoji="0" sz="1800" b="0" i="0" u="none" strike="noStrike" kern="1200" cap="none" spc="-5" normalizeH="0" baseline="0" noProof="0" dirty="0">
                <a:ln>
                  <a:noFill/>
                </a:ln>
                <a:solidFill>
                  <a:prstClr val="black"/>
                </a:solidFill>
                <a:effectLst/>
                <a:uLnTx/>
                <a:uFillTx/>
                <a:latin typeface="Calibri" panose="020F0502020204030204"/>
                <a:ea typeface="+mn-ea"/>
                <a:cs typeface="Calibri" panose="020F0502020204030204"/>
              </a:rPr>
              <a:t>the </a:t>
            </a:r>
            <a:r>
              <a:rPr kumimoji="0" sz="1800" b="0" i="0" u="none" strike="noStrike" kern="1200" cap="none" spc="0" normalizeH="0" baseline="0" noProof="0" dirty="0">
                <a:ln>
                  <a:noFill/>
                </a:ln>
                <a:solidFill>
                  <a:prstClr val="black"/>
                </a:solidFill>
                <a:effectLst/>
                <a:uLnTx/>
                <a:uFillTx/>
                <a:latin typeface="Calibri" panose="020F0502020204030204"/>
                <a:ea typeface="+mn-ea"/>
                <a:cs typeface="Calibri" panose="020F0502020204030204"/>
              </a:rPr>
              <a:t> </a:t>
            </a:r>
            <a:r>
              <a:rPr kumimoji="0" sz="1800" b="0" i="0" u="none" strike="noStrike" kern="1200" cap="none" spc="-5" normalizeH="0" baseline="0" noProof="0" dirty="0">
                <a:ln>
                  <a:noFill/>
                </a:ln>
                <a:solidFill>
                  <a:prstClr val="black"/>
                </a:solidFill>
                <a:effectLst/>
                <a:uLnTx/>
                <a:uFillTx/>
                <a:latin typeface="Calibri" panose="020F0502020204030204"/>
                <a:ea typeface="+mn-ea"/>
                <a:cs typeface="Calibri" panose="020F0502020204030204"/>
              </a:rPr>
              <a:t>indoor </a:t>
            </a:r>
            <a:r>
              <a:rPr kumimoji="0" sz="1800" b="0" i="0" u="none" strike="noStrike" kern="1200" cap="none" spc="-10" normalizeH="0" baseline="0" noProof="0" dirty="0">
                <a:ln>
                  <a:noFill/>
                </a:ln>
                <a:solidFill>
                  <a:prstClr val="black"/>
                </a:solidFill>
                <a:effectLst/>
                <a:uLnTx/>
                <a:uFillTx/>
                <a:latin typeface="Calibri" panose="020F0502020204030204"/>
                <a:ea typeface="+mn-ea"/>
                <a:cs typeface="Calibri" panose="020F0502020204030204"/>
              </a:rPr>
              <a:t>terrain</a:t>
            </a:r>
            <a:r>
              <a:rPr kumimoji="0" sz="1800" b="0" i="0" u="none" strike="noStrike" kern="1200" cap="none" spc="-5" normalizeH="0" baseline="0" noProof="0" dirty="0">
                <a:ln>
                  <a:noFill/>
                </a:ln>
                <a:solidFill>
                  <a:prstClr val="black"/>
                </a:solidFill>
                <a:effectLst/>
                <a:uLnTx/>
                <a:uFillTx/>
                <a:latin typeface="Calibri" panose="020F0502020204030204"/>
                <a:ea typeface="+mn-ea"/>
                <a:cs typeface="Calibri" panose="020F0502020204030204"/>
              </a:rPr>
              <a:t> model. This </a:t>
            </a:r>
            <a:r>
              <a:rPr kumimoji="0" sz="1800" b="0" i="0" u="none" strike="noStrike" kern="1200" cap="none" spc="-10" normalizeH="0" baseline="0" noProof="0" dirty="0">
                <a:ln>
                  <a:noFill/>
                </a:ln>
                <a:solidFill>
                  <a:prstClr val="black"/>
                </a:solidFill>
                <a:effectLst/>
                <a:uLnTx/>
                <a:uFillTx/>
                <a:latin typeface="Calibri" panose="020F0502020204030204"/>
                <a:ea typeface="+mn-ea"/>
                <a:cs typeface="Calibri" panose="020F0502020204030204"/>
              </a:rPr>
              <a:t>software</a:t>
            </a:r>
            <a:r>
              <a:rPr kumimoji="0" sz="1800" b="0" i="0" u="none" strike="noStrike" kern="1200" cap="none" spc="-5" normalizeH="0" baseline="0" noProof="0" dirty="0">
                <a:ln>
                  <a:noFill/>
                </a:ln>
                <a:solidFill>
                  <a:prstClr val="black"/>
                </a:solidFill>
                <a:effectLst/>
                <a:uLnTx/>
                <a:uFillTx/>
                <a:latin typeface="Calibri" panose="020F0502020204030204"/>
                <a:ea typeface="+mn-ea"/>
                <a:cs typeface="Calibri" panose="020F0502020204030204"/>
              </a:rPr>
              <a:t> will</a:t>
            </a:r>
            <a:r>
              <a:rPr kumimoji="0" sz="1800" b="0" i="0" u="none" strike="noStrike" kern="1200" cap="none" spc="0" normalizeH="0" baseline="0" noProof="0" dirty="0">
                <a:ln>
                  <a:noFill/>
                </a:ln>
                <a:solidFill>
                  <a:prstClr val="black"/>
                </a:solidFill>
                <a:effectLst/>
                <a:uLnTx/>
                <a:uFillTx/>
                <a:latin typeface="Calibri" panose="020F0502020204030204"/>
                <a:ea typeface="+mn-ea"/>
                <a:cs typeface="Calibri" panose="020F0502020204030204"/>
              </a:rPr>
              <a:t> </a:t>
            </a:r>
            <a:r>
              <a:rPr kumimoji="0" sz="1800" b="0" i="0" u="none" strike="noStrike" kern="1200" cap="none" spc="-25" normalizeH="0" baseline="0" noProof="0" dirty="0">
                <a:ln>
                  <a:noFill/>
                </a:ln>
                <a:solidFill>
                  <a:prstClr val="black"/>
                </a:solidFill>
                <a:effectLst/>
                <a:uLnTx/>
                <a:uFillTx/>
                <a:latin typeface="Calibri" panose="020F0502020204030204"/>
                <a:ea typeface="+mn-ea"/>
                <a:cs typeface="Calibri" panose="020F0502020204030204"/>
              </a:rPr>
              <a:t>take </a:t>
            </a:r>
            <a:r>
              <a:rPr kumimoji="0" sz="1800" b="0" i="0" u="none" strike="noStrike" kern="1200" cap="none" spc="-20" normalizeH="0" baseline="0" noProof="0" dirty="0">
                <a:ln>
                  <a:noFill/>
                </a:ln>
                <a:solidFill>
                  <a:prstClr val="black"/>
                </a:solidFill>
                <a:effectLst/>
                <a:uLnTx/>
                <a:uFillTx/>
                <a:latin typeface="Calibri" panose="020F0502020204030204"/>
                <a:ea typeface="+mn-ea"/>
                <a:cs typeface="Calibri" panose="020F0502020204030204"/>
              </a:rPr>
              <a:t> </a:t>
            </a:r>
            <a:r>
              <a:rPr kumimoji="0" sz="1800" b="0" i="0" u="none" strike="noStrike" kern="1200" cap="none" spc="-15" normalizeH="0" baseline="0" noProof="0" dirty="0">
                <a:ln>
                  <a:noFill/>
                </a:ln>
                <a:solidFill>
                  <a:prstClr val="black"/>
                </a:solidFill>
                <a:effectLst/>
                <a:uLnTx/>
                <a:uFillTx/>
                <a:latin typeface="Calibri" panose="020F0502020204030204"/>
                <a:ea typeface="+mn-ea"/>
                <a:cs typeface="Calibri" panose="020F0502020204030204"/>
              </a:rPr>
              <a:t>into</a:t>
            </a:r>
            <a:r>
              <a:rPr kumimoji="0" sz="1800" b="0" i="0" u="none" strike="noStrike" kern="1200" cap="none" spc="-5" normalizeH="0" baseline="0" noProof="0" dirty="0">
                <a:ln>
                  <a:noFill/>
                </a:ln>
                <a:solidFill>
                  <a:prstClr val="black"/>
                </a:solidFill>
                <a:effectLst/>
                <a:uLnTx/>
                <a:uFillTx/>
                <a:latin typeface="Calibri" panose="020F0502020204030204"/>
                <a:ea typeface="+mn-ea"/>
                <a:cs typeface="Calibri" panose="020F0502020204030204"/>
              </a:rPr>
              <a:t> </a:t>
            </a:r>
            <a:r>
              <a:rPr kumimoji="0" sz="1800" b="0" i="0" u="none" strike="noStrike" kern="1200" cap="none" spc="-10" normalizeH="0" baseline="0" noProof="0" dirty="0">
                <a:ln>
                  <a:noFill/>
                </a:ln>
                <a:solidFill>
                  <a:prstClr val="black"/>
                </a:solidFill>
                <a:effectLst/>
                <a:uLnTx/>
                <a:uFillTx/>
                <a:latin typeface="Calibri" panose="020F0502020204030204"/>
                <a:ea typeface="+mn-ea"/>
                <a:cs typeface="Calibri" panose="020F0502020204030204"/>
              </a:rPr>
              <a:t>account</a:t>
            </a:r>
            <a:r>
              <a:rPr kumimoji="0" sz="1800" b="0" i="0" u="none" strike="noStrike" kern="1200" cap="none" spc="0" normalizeH="0" baseline="0" noProof="0" dirty="0">
                <a:ln>
                  <a:noFill/>
                </a:ln>
                <a:solidFill>
                  <a:prstClr val="black"/>
                </a:solidFill>
                <a:effectLst/>
                <a:uLnTx/>
                <a:uFillTx/>
                <a:latin typeface="Calibri" panose="020F0502020204030204"/>
                <a:ea typeface="+mn-ea"/>
                <a:cs typeface="Calibri" panose="020F0502020204030204"/>
              </a:rPr>
              <a:t> </a:t>
            </a:r>
            <a:r>
              <a:rPr kumimoji="0" sz="1800" b="0" i="0" u="none" strike="noStrike" kern="1200" cap="none" spc="-5" normalizeH="0" baseline="0" noProof="0" dirty="0">
                <a:ln>
                  <a:noFill/>
                </a:ln>
                <a:solidFill>
                  <a:prstClr val="black"/>
                </a:solidFill>
                <a:effectLst/>
                <a:uLnTx/>
                <a:uFillTx/>
                <a:latin typeface="Calibri" panose="020F0502020204030204"/>
                <a:ea typeface="+mn-ea"/>
                <a:cs typeface="Calibri" panose="020F0502020204030204"/>
              </a:rPr>
              <a:t>the building's </a:t>
            </a:r>
            <a:r>
              <a:rPr kumimoji="0" sz="1800" b="0" i="0" u="none" strike="noStrike" kern="1200" cap="none" spc="-10" normalizeH="0" baseline="0" noProof="0" dirty="0">
                <a:ln>
                  <a:noFill/>
                </a:ln>
                <a:solidFill>
                  <a:prstClr val="black"/>
                </a:solidFill>
                <a:effectLst/>
                <a:uLnTx/>
                <a:uFillTx/>
                <a:latin typeface="Calibri" panose="020F0502020204030204"/>
                <a:ea typeface="+mn-ea"/>
                <a:cs typeface="Calibri" panose="020F0502020204030204"/>
              </a:rPr>
              <a:t>layout,</a:t>
            </a:r>
            <a:r>
              <a:rPr kumimoji="0" sz="1800" b="0" i="0" u="none" strike="noStrike" kern="1200" cap="none" spc="-5" normalizeH="0" baseline="0" noProof="0" dirty="0">
                <a:ln>
                  <a:noFill/>
                </a:ln>
                <a:solidFill>
                  <a:prstClr val="black"/>
                </a:solidFill>
                <a:effectLst/>
                <a:uLnTx/>
                <a:uFillTx/>
                <a:latin typeface="Calibri" panose="020F0502020204030204"/>
                <a:ea typeface="+mn-ea"/>
                <a:cs typeface="Calibri" panose="020F0502020204030204"/>
              </a:rPr>
              <a:t> </a:t>
            </a:r>
            <a:r>
              <a:rPr kumimoji="0" sz="1800" b="0" i="0" u="none" strike="noStrike" kern="1200" cap="none" spc="-10" normalizeH="0" baseline="0" noProof="0" dirty="0">
                <a:ln>
                  <a:noFill/>
                </a:ln>
                <a:solidFill>
                  <a:prstClr val="black"/>
                </a:solidFill>
                <a:effectLst/>
                <a:uLnTx/>
                <a:uFillTx/>
                <a:latin typeface="Calibri" panose="020F0502020204030204"/>
                <a:ea typeface="+mn-ea"/>
                <a:cs typeface="Calibri" panose="020F0502020204030204"/>
              </a:rPr>
              <a:t>materials, </a:t>
            </a:r>
            <a:r>
              <a:rPr kumimoji="0" sz="1800" b="0" i="0" u="none" strike="noStrike" kern="1200" cap="none" spc="-5" normalizeH="0" baseline="0" noProof="0" dirty="0">
                <a:ln>
                  <a:noFill/>
                </a:ln>
                <a:solidFill>
                  <a:prstClr val="black"/>
                </a:solidFill>
                <a:effectLst/>
                <a:uLnTx/>
                <a:uFillTx/>
                <a:latin typeface="Calibri" panose="020F0502020204030204"/>
                <a:ea typeface="+mn-ea"/>
                <a:cs typeface="Calibri" panose="020F0502020204030204"/>
              </a:rPr>
              <a:t> and</a:t>
            </a:r>
            <a:r>
              <a:rPr kumimoji="0" sz="1800" b="0" i="0" u="none" strike="noStrike" kern="1200" cap="none" spc="-10" normalizeH="0" baseline="0" noProof="0" dirty="0">
                <a:ln>
                  <a:noFill/>
                </a:ln>
                <a:solidFill>
                  <a:prstClr val="black"/>
                </a:solidFill>
                <a:effectLst/>
                <a:uLnTx/>
                <a:uFillTx/>
                <a:latin typeface="Calibri" panose="020F0502020204030204"/>
                <a:ea typeface="+mn-ea"/>
                <a:cs typeface="Calibri" panose="020F0502020204030204"/>
              </a:rPr>
              <a:t> </a:t>
            </a:r>
            <a:r>
              <a:rPr kumimoji="0" sz="1800" b="0" i="0" u="none" strike="noStrike" kern="1200" cap="none" spc="-5" normalizeH="0" baseline="0" noProof="0" dirty="0">
                <a:ln>
                  <a:noFill/>
                </a:ln>
                <a:solidFill>
                  <a:prstClr val="black"/>
                </a:solidFill>
                <a:effectLst/>
                <a:uLnTx/>
                <a:uFillTx/>
                <a:latin typeface="Calibri" panose="020F0502020204030204"/>
                <a:ea typeface="+mn-ea"/>
                <a:cs typeface="Calibri" panose="020F0502020204030204"/>
              </a:rPr>
              <a:t>other</a:t>
            </a:r>
            <a:r>
              <a:rPr kumimoji="0" sz="1800" b="0" i="0" u="none" strike="noStrike" kern="1200" cap="none" spc="0" normalizeH="0" baseline="0" noProof="0" dirty="0">
                <a:ln>
                  <a:noFill/>
                </a:ln>
                <a:solidFill>
                  <a:prstClr val="black"/>
                </a:solidFill>
                <a:effectLst/>
                <a:uLnTx/>
                <a:uFillTx/>
                <a:latin typeface="Calibri" panose="020F0502020204030204"/>
                <a:ea typeface="+mn-ea"/>
                <a:cs typeface="Calibri" panose="020F0502020204030204"/>
              </a:rPr>
              <a:t> </a:t>
            </a:r>
            <a:r>
              <a:rPr kumimoji="0" sz="1800" b="0" i="0" u="none" strike="noStrike" kern="1200" cap="none" spc="-15" normalizeH="0" baseline="0" noProof="0" dirty="0">
                <a:ln>
                  <a:noFill/>
                </a:ln>
                <a:solidFill>
                  <a:prstClr val="black"/>
                </a:solidFill>
                <a:effectLst/>
                <a:uLnTx/>
                <a:uFillTx/>
                <a:latin typeface="Calibri" panose="020F0502020204030204"/>
                <a:ea typeface="+mn-ea"/>
                <a:cs typeface="Calibri" panose="020F0502020204030204"/>
              </a:rPr>
              <a:t>factors</a:t>
            </a:r>
            <a:r>
              <a:rPr kumimoji="0" sz="1800" b="0" i="0" u="none" strike="noStrike" kern="1200" cap="none" spc="-5" normalizeH="0" baseline="0" noProof="0" dirty="0">
                <a:ln>
                  <a:noFill/>
                </a:ln>
                <a:solidFill>
                  <a:prstClr val="black"/>
                </a:solidFill>
                <a:effectLst/>
                <a:uLnTx/>
                <a:uFillTx/>
                <a:latin typeface="Calibri" panose="020F0502020204030204"/>
                <a:ea typeface="+mn-ea"/>
                <a:cs typeface="Calibri" panose="020F0502020204030204"/>
              </a:rPr>
              <a:t> </a:t>
            </a:r>
            <a:r>
              <a:rPr kumimoji="0" sz="1800" b="0" i="0" u="none" strike="noStrike" kern="1200" cap="none" spc="-10" normalizeH="0" baseline="0" noProof="0" dirty="0">
                <a:ln>
                  <a:noFill/>
                </a:ln>
                <a:solidFill>
                  <a:prstClr val="black"/>
                </a:solidFill>
                <a:effectLst/>
                <a:uLnTx/>
                <a:uFillTx/>
                <a:latin typeface="Calibri" panose="020F0502020204030204"/>
                <a:ea typeface="+mn-ea"/>
                <a:cs typeface="Calibri" panose="020F0502020204030204"/>
              </a:rPr>
              <a:t>that</a:t>
            </a:r>
            <a:r>
              <a:rPr kumimoji="0" sz="1800" b="0" i="0" u="none" strike="noStrike" kern="1200" cap="none" spc="0" normalizeH="0" baseline="0" noProof="0" dirty="0">
                <a:ln>
                  <a:noFill/>
                </a:ln>
                <a:solidFill>
                  <a:prstClr val="black"/>
                </a:solidFill>
                <a:effectLst/>
                <a:uLnTx/>
                <a:uFillTx/>
                <a:latin typeface="Calibri" panose="020F0502020204030204"/>
                <a:ea typeface="+mn-ea"/>
                <a:cs typeface="Calibri" panose="020F0502020204030204"/>
              </a:rPr>
              <a:t> </a:t>
            </a:r>
            <a:r>
              <a:rPr kumimoji="0" sz="1800" b="0" i="0" u="none" strike="noStrike" kern="1200" cap="none" spc="-10" normalizeH="0" baseline="0" noProof="0" dirty="0">
                <a:ln>
                  <a:noFill/>
                </a:ln>
                <a:solidFill>
                  <a:prstClr val="black"/>
                </a:solidFill>
                <a:effectLst/>
                <a:uLnTx/>
                <a:uFillTx/>
                <a:latin typeface="Calibri" panose="020F0502020204030204"/>
                <a:ea typeface="+mn-ea"/>
                <a:cs typeface="Calibri" panose="020F0502020204030204"/>
              </a:rPr>
              <a:t>can </a:t>
            </a:r>
            <a:r>
              <a:rPr kumimoji="0" sz="1800" b="0" i="0" u="none" strike="noStrike" kern="1200" cap="none" spc="-20" normalizeH="0" baseline="0" noProof="0" dirty="0">
                <a:ln>
                  <a:noFill/>
                </a:ln>
                <a:solidFill>
                  <a:prstClr val="black"/>
                </a:solidFill>
                <a:effectLst/>
                <a:uLnTx/>
                <a:uFillTx/>
                <a:latin typeface="Calibri" panose="020F0502020204030204"/>
                <a:ea typeface="+mn-ea"/>
                <a:cs typeface="Calibri" panose="020F0502020204030204"/>
              </a:rPr>
              <a:t>affect</a:t>
            </a:r>
            <a:r>
              <a:rPr kumimoji="0" sz="1800" b="0" i="0" u="none" strike="noStrike" kern="1200" cap="none" spc="0" normalizeH="0" baseline="0" noProof="0" dirty="0">
                <a:ln>
                  <a:noFill/>
                </a:ln>
                <a:solidFill>
                  <a:prstClr val="black"/>
                </a:solidFill>
                <a:effectLst/>
                <a:uLnTx/>
                <a:uFillTx/>
                <a:latin typeface="Calibri" panose="020F0502020204030204"/>
                <a:ea typeface="+mn-ea"/>
                <a:cs typeface="Calibri" panose="020F0502020204030204"/>
              </a:rPr>
              <a:t> </a:t>
            </a:r>
            <a:r>
              <a:rPr kumimoji="0" sz="1800" b="0" i="0" u="none" strike="noStrike" kern="1200" cap="none" spc="-5" normalizeH="0" baseline="0" noProof="0" dirty="0">
                <a:ln>
                  <a:noFill/>
                </a:ln>
                <a:solidFill>
                  <a:prstClr val="black"/>
                </a:solidFill>
                <a:effectLst/>
                <a:uLnTx/>
                <a:uFillTx/>
                <a:latin typeface="Calibri" panose="020F0502020204030204"/>
                <a:ea typeface="+mn-ea"/>
                <a:cs typeface="Calibri" panose="020F0502020204030204"/>
              </a:rPr>
              <a:t>signal </a:t>
            </a:r>
            <a:r>
              <a:rPr kumimoji="0" sz="1800" b="0" i="0" u="none" strike="noStrike" kern="1200" cap="none" spc="0" normalizeH="0" baseline="0" noProof="0" dirty="0">
                <a:ln>
                  <a:noFill/>
                </a:ln>
                <a:solidFill>
                  <a:prstClr val="black"/>
                </a:solidFill>
                <a:effectLst/>
                <a:uLnTx/>
                <a:uFillTx/>
                <a:latin typeface="Calibri" panose="020F0502020204030204"/>
                <a:ea typeface="+mn-ea"/>
                <a:cs typeface="Calibri" panose="020F0502020204030204"/>
              </a:rPr>
              <a:t> </a:t>
            </a:r>
            <a:r>
              <a:rPr kumimoji="0" sz="1800" b="0" i="0" u="none" strike="noStrike" kern="1200" cap="none" spc="-10" normalizeH="0" baseline="0" noProof="0" dirty="0">
                <a:ln>
                  <a:noFill/>
                </a:ln>
                <a:solidFill>
                  <a:prstClr val="black"/>
                </a:solidFill>
                <a:effectLst/>
                <a:uLnTx/>
                <a:uFillTx/>
                <a:latin typeface="Calibri" panose="020F0502020204030204"/>
                <a:ea typeface="+mn-ea"/>
                <a:cs typeface="Calibri" panose="020F0502020204030204"/>
              </a:rPr>
              <a:t>propagation.</a:t>
            </a:r>
            <a:endParaRPr kumimoji="0" sz="1800" b="0" i="0" u="none" strike="noStrike" kern="1200" cap="none" spc="0" normalizeH="0" baseline="0" noProof="0">
              <a:ln>
                <a:noFill/>
              </a:ln>
              <a:solidFill>
                <a:prstClr val="black"/>
              </a:solidFill>
              <a:effectLst/>
              <a:uLnTx/>
              <a:uFillTx/>
              <a:latin typeface="Calibri" panose="020F0502020204030204"/>
              <a:ea typeface="+mn-ea"/>
              <a:cs typeface="Calibri" panose="020F0502020204030204"/>
            </a:endParaRPr>
          </a:p>
          <a:p>
            <a:pPr marL="348615" marR="0" lvl="0" indent="0" algn="l" defTabSz="914400" rtl="0" eaLnBrk="1" fontAlgn="auto" latinLnBrk="0" hangingPunct="1">
              <a:lnSpc>
                <a:spcPct val="100000"/>
              </a:lnSpc>
              <a:spcBef>
                <a:spcPts val="565"/>
              </a:spcBef>
              <a:spcAft>
                <a:spcPts val="0"/>
              </a:spcAft>
              <a:buClrTx/>
              <a:buSzTx/>
              <a:buFontTx/>
              <a:buNone/>
              <a:tabLst/>
              <a:defRPr/>
            </a:pPr>
            <a:r>
              <a:rPr kumimoji="0" sz="1800" b="1" i="0" u="none" strike="noStrike" kern="1200" cap="none" spc="-15" normalizeH="0" baseline="0" noProof="0" dirty="0">
                <a:ln>
                  <a:noFill/>
                </a:ln>
                <a:solidFill>
                  <a:prstClr val="black"/>
                </a:solidFill>
                <a:effectLst/>
                <a:uLnTx/>
                <a:uFillTx/>
                <a:latin typeface="Calibri" panose="020F0502020204030204"/>
                <a:ea typeface="+mn-ea"/>
                <a:cs typeface="Calibri" panose="020F0502020204030204"/>
              </a:rPr>
              <a:t>Ex-FEKO,CST</a:t>
            </a:r>
            <a:r>
              <a:rPr kumimoji="0" sz="1800" b="1" i="0" u="none" strike="noStrike" kern="1200" cap="none" spc="-20" normalizeH="0" baseline="0" noProof="0" dirty="0">
                <a:ln>
                  <a:noFill/>
                </a:ln>
                <a:solidFill>
                  <a:prstClr val="black"/>
                </a:solidFill>
                <a:effectLst/>
                <a:uLnTx/>
                <a:uFillTx/>
                <a:latin typeface="Calibri" panose="020F0502020204030204"/>
                <a:ea typeface="+mn-ea"/>
                <a:cs typeface="Calibri" panose="020F0502020204030204"/>
              </a:rPr>
              <a:t> </a:t>
            </a:r>
            <a:r>
              <a:rPr kumimoji="0" sz="1800" b="1" i="0" u="none" strike="noStrike" kern="1200" cap="none" spc="-30" normalizeH="0" baseline="0" noProof="0" dirty="0">
                <a:ln>
                  <a:noFill/>
                </a:ln>
                <a:solidFill>
                  <a:prstClr val="black"/>
                </a:solidFill>
                <a:effectLst/>
                <a:uLnTx/>
                <a:uFillTx/>
                <a:latin typeface="Calibri" panose="020F0502020204030204"/>
                <a:ea typeface="+mn-ea"/>
                <a:cs typeface="Calibri" panose="020F0502020204030204"/>
              </a:rPr>
              <a:t>MICROWAVE</a:t>
            </a:r>
            <a:r>
              <a:rPr kumimoji="0" sz="1800" b="1" i="0" u="none" strike="noStrike" kern="1200" cap="none" spc="-15" normalizeH="0" baseline="0" noProof="0" dirty="0">
                <a:ln>
                  <a:noFill/>
                </a:ln>
                <a:solidFill>
                  <a:prstClr val="black"/>
                </a:solidFill>
                <a:effectLst/>
                <a:uLnTx/>
                <a:uFillTx/>
                <a:latin typeface="Calibri" panose="020F0502020204030204"/>
                <a:ea typeface="+mn-ea"/>
                <a:cs typeface="Calibri" panose="020F0502020204030204"/>
              </a:rPr>
              <a:t> </a:t>
            </a:r>
            <a:r>
              <a:rPr kumimoji="0" sz="1800" b="1" i="0" u="none" strike="noStrike" kern="1200" cap="none" spc="-10" normalizeH="0" baseline="0" noProof="0" dirty="0">
                <a:ln>
                  <a:noFill/>
                </a:ln>
                <a:solidFill>
                  <a:prstClr val="black"/>
                </a:solidFill>
                <a:effectLst/>
                <a:uLnTx/>
                <a:uFillTx/>
                <a:latin typeface="Calibri" panose="020F0502020204030204"/>
                <a:ea typeface="+mn-ea"/>
                <a:cs typeface="Calibri" panose="020F0502020204030204"/>
              </a:rPr>
              <a:t>STUDIO</a:t>
            </a:r>
            <a:endParaRPr kumimoji="0" sz="1800" b="0" i="0" u="none" strike="noStrike" kern="1200" cap="none" spc="0" normalizeH="0" baseline="0" noProof="0">
              <a:ln>
                <a:noFill/>
              </a:ln>
              <a:solidFill>
                <a:prstClr val="black"/>
              </a:solidFill>
              <a:effectLst/>
              <a:uLnTx/>
              <a:uFillTx/>
              <a:latin typeface="Calibri" panose="020F0502020204030204"/>
              <a:ea typeface="+mn-ea"/>
              <a:cs typeface="Calibri" panose="020F0502020204030204"/>
            </a:endParaRPr>
          </a:p>
        </p:txBody>
      </p:sp>
      <p:sp>
        <p:nvSpPr>
          <p:cNvPr id="9" name="object 9"/>
          <p:cNvSpPr/>
          <p:nvPr/>
        </p:nvSpPr>
        <p:spPr>
          <a:xfrm>
            <a:off x="761" y="761"/>
            <a:ext cx="12190730" cy="6856730"/>
          </a:xfrm>
          <a:custGeom>
            <a:avLst/>
            <a:gdLst/>
            <a:ahLst/>
            <a:cxnLst/>
            <a:rect l="l" t="t" r="r" b="b"/>
            <a:pathLst>
              <a:path w="12190730" h="6856730">
                <a:moveTo>
                  <a:pt x="0" y="0"/>
                </a:moveTo>
                <a:lnTo>
                  <a:pt x="12190476" y="0"/>
                </a:lnTo>
                <a:lnTo>
                  <a:pt x="12190476" y="6856476"/>
                </a:lnTo>
                <a:lnTo>
                  <a:pt x="0" y="6856476"/>
                </a:lnTo>
                <a:lnTo>
                  <a:pt x="0" y="0"/>
                </a:lnTo>
                <a:close/>
              </a:path>
            </a:pathLst>
          </a:custGeom>
          <a:ln w="3175">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pic>
        <p:nvPicPr>
          <p:cNvPr id="10" name="Picture 9">
            <a:extLst>
              <a:ext uri="{FF2B5EF4-FFF2-40B4-BE49-F238E27FC236}">
                <a16:creationId xmlns:a16="http://schemas.microsoft.com/office/drawing/2014/main" id="{56E6019C-9CA3-015D-DCB4-66170EAE9C3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592315" y="16284"/>
            <a:ext cx="1409897" cy="600159"/>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16939" y="594360"/>
            <a:ext cx="5732145" cy="697230"/>
          </a:xfrm>
          <a:prstGeom prst="rect">
            <a:avLst/>
          </a:prstGeom>
        </p:spPr>
        <p:txBody>
          <a:bodyPr vert="horz" wrap="square" lIns="0" tIns="13335" rIns="0" bIns="0" rtlCol="0">
            <a:spAutoFit/>
          </a:bodyPr>
          <a:lstStyle/>
          <a:p>
            <a:pPr marL="12700">
              <a:lnSpc>
                <a:spcPct val="100000"/>
              </a:lnSpc>
              <a:spcBef>
                <a:spcPts val="105"/>
              </a:spcBef>
            </a:pPr>
            <a:r>
              <a:rPr sz="4400" b="0" spc="-20" dirty="0">
                <a:latin typeface="Calibri Light" panose="020F0302020204030204"/>
                <a:cs typeface="Calibri Light" panose="020F0302020204030204"/>
              </a:rPr>
              <a:t>PROJECT</a:t>
            </a:r>
            <a:r>
              <a:rPr sz="4400" b="0" spc="-50" dirty="0">
                <a:latin typeface="Calibri Light" panose="020F0302020204030204"/>
                <a:cs typeface="Calibri Light" panose="020F0302020204030204"/>
              </a:rPr>
              <a:t> </a:t>
            </a:r>
            <a:r>
              <a:rPr sz="4400" b="0" spc="-15" dirty="0">
                <a:latin typeface="Calibri Light" panose="020F0302020204030204"/>
                <a:cs typeface="Calibri Light" panose="020F0302020204030204"/>
              </a:rPr>
              <a:t>METHODOLOGY</a:t>
            </a:r>
            <a:endParaRPr sz="4400">
              <a:latin typeface="Calibri Light" panose="020F0302020204030204"/>
              <a:cs typeface="Calibri Light" panose="020F0302020204030204"/>
            </a:endParaRPr>
          </a:p>
        </p:txBody>
      </p:sp>
      <p:grpSp>
        <p:nvGrpSpPr>
          <p:cNvPr id="3" name="object 3"/>
          <p:cNvGrpSpPr/>
          <p:nvPr/>
        </p:nvGrpSpPr>
        <p:grpSpPr>
          <a:xfrm>
            <a:off x="833437" y="1820862"/>
            <a:ext cx="5191125" cy="4361180"/>
            <a:chOff x="833437" y="1820862"/>
            <a:chExt cx="5191125" cy="4361180"/>
          </a:xfrm>
        </p:grpSpPr>
        <p:sp>
          <p:nvSpPr>
            <p:cNvPr id="4" name="object 4"/>
            <p:cNvSpPr/>
            <p:nvPr/>
          </p:nvSpPr>
          <p:spPr>
            <a:xfrm>
              <a:off x="838200" y="1825625"/>
              <a:ext cx="5181600" cy="4351655"/>
            </a:xfrm>
            <a:custGeom>
              <a:avLst/>
              <a:gdLst/>
              <a:ahLst/>
              <a:cxnLst/>
              <a:rect l="l" t="t" r="r" b="b"/>
              <a:pathLst>
                <a:path w="5181600" h="4351655">
                  <a:moveTo>
                    <a:pt x="5181600" y="4351337"/>
                  </a:moveTo>
                  <a:lnTo>
                    <a:pt x="0" y="4351337"/>
                  </a:lnTo>
                  <a:lnTo>
                    <a:pt x="0" y="0"/>
                  </a:lnTo>
                  <a:lnTo>
                    <a:pt x="5181600" y="0"/>
                  </a:lnTo>
                  <a:lnTo>
                    <a:pt x="5181600" y="4351337"/>
                  </a:lnTo>
                  <a:close/>
                </a:path>
              </a:pathLst>
            </a:custGeom>
            <a:solidFill>
              <a:srgbClr val="FFFF00"/>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5" name="object 5"/>
            <p:cNvSpPr/>
            <p:nvPr/>
          </p:nvSpPr>
          <p:spPr>
            <a:xfrm>
              <a:off x="833437" y="1820862"/>
              <a:ext cx="5191125" cy="4361180"/>
            </a:xfrm>
            <a:custGeom>
              <a:avLst/>
              <a:gdLst/>
              <a:ahLst/>
              <a:cxnLst/>
              <a:rect l="l" t="t" r="r" b="b"/>
              <a:pathLst>
                <a:path w="5191125" h="4361180">
                  <a:moveTo>
                    <a:pt x="5186362" y="4360862"/>
                  </a:moveTo>
                  <a:lnTo>
                    <a:pt x="4762" y="4360862"/>
                  </a:lnTo>
                  <a:lnTo>
                    <a:pt x="3289" y="4360633"/>
                  </a:lnTo>
                  <a:lnTo>
                    <a:pt x="1968" y="4359948"/>
                  </a:lnTo>
                  <a:lnTo>
                    <a:pt x="914" y="4358894"/>
                  </a:lnTo>
                  <a:lnTo>
                    <a:pt x="228" y="4357573"/>
                  </a:lnTo>
                  <a:lnTo>
                    <a:pt x="0" y="4356100"/>
                  </a:lnTo>
                  <a:lnTo>
                    <a:pt x="0" y="4762"/>
                  </a:lnTo>
                  <a:lnTo>
                    <a:pt x="4762" y="0"/>
                  </a:lnTo>
                  <a:lnTo>
                    <a:pt x="5186362" y="0"/>
                  </a:lnTo>
                  <a:lnTo>
                    <a:pt x="5191125" y="4762"/>
                  </a:lnTo>
                  <a:lnTo>
                    <a:pt x="9525" y="4762"/>
                  </a:lnTo>
                  <a:lnTo>
                    <a:pt x="4762" y="9525"/>
                  </a:lnTo>
                  <a:lnTo>
                    <a:pt x="9525" y="9525"/>
                  </a:lnTo>
                  <a:lnTo>
                    <a:pt x="9525" y="4351337"/>
                  </a:lnTo>
                  <a:lnTo>
                    <a:pt x="4762" y="4351337"/>
                  </a:lnTo>
                  <a:lnTo>
                    <a:pt x="9525" y="4356100"/>
                  </a:lnTo>
                  <a:lnTo>
                    <a:pt x="5191125" y="4356100"/>
                  </a:lnTo>
                  <a:lnTo>
                    <a:pt x="5190896" y="4357573"/>
                  </a:lnTo>
                  <a:lnTo>
                    <a:pt x="5190210" y="4358894"/>
                  </a:lnTo>
                  <a:lnTo>
                    <a:pt x="5189156" y="4359948"/>
                  </a:lnTo>
                  <a:lnTo>
                    <a:pt x="5187835" y="4360633"/>
                  </a:lnTo>
                  <a:lnTo>
                    <a:pt x="5186362" y="4360862"/>
                  </a:lnTo>
                  <a:close/>
                </a:path>
                <a:path w="5191125" h="4361180">
                  <a:moveTo>
                    <a:pt x="9525" y="9525"/>
                  </a:moveTo>
                  <a:lnTo>
                    <a:pt x="4762" y="9525"/>
                  </a:lnTo>
                  <a:lnTo>
                    <a:pt x="9525" y="4762"/>
                  </a:lnTo>
                  <a:lnTo>
                    <a:pt x="9525" y="9525"/>
                  </a:lnTo>
                  <a:close/>
                </a:path>
                <a:path w="5191125" h="4361180">
                  <a:moveTo>
                    <a:pt x="5181600" y="9525"/>
                  </a:moveTo>
                  <a:lnTo>
                    <a:pt x="9525" y="9525"/>
                  </a:lnTo>
                  <a:lnTo>
                    <a:pt x="9525" y="4762"/>
                  </a:lnTo>
                  <a:lnTo>
                    <a:pt x="5181600" y="4762"/>
                  </a:lnTo>
                  <a:lnTo>
                    <a:pt x="5181600" y="9525"/>
                  </a:lnTo>
                  <a:close/>
                </a:path>
                <a:path w="5191125" h="4361180">
                  <a:moveTo>
                    <a:pt x="5181600" y="4356100"/>
                  </a:moveTo>
                  <a:lnTo>
                    <a:pt x="5181600" y="4762"/>
                  </a:lnTo>
                  <a:lnTo>
                    <a:pt x="5186362" y="9525"/>
                  </a:lnTo>
                  <a:lnTo>
                    <a:pt x="5191125" y="9525"/>
                  </a:lnTo>
                  <a:lnTo>
                    <a:pt x="5191125" y="4351337"/>
                  </a:lnTo>
                  <a:lnTo>
                    <a:pt x="5186362" y="4351337"/>
                  </a:lnTo>
                  <a:lnTo>
                    <a:pt x="5181600" y="4356100"/>
                  </a:lnTo>
                  <a:close/>
                </a:path>
                <a:path w="5191125" h="4361180">
                  <a:moveTo>
                    <a:pt x="5191125" y="9525"/>
                  </a:moveTo>
                  <a:lnTo>
                    <a:pt x="5186362" y="9525"/>
                  </a:lnTo>
                  <a:lnTo>
                    <a:pt x="5181600" y="4762"/>
                  </a:lnTo>
                  <a:lnTo>
                    <a:pt x="5191125" y="4762"/>
                  </a:lnTo>
                  <a:lnTo>
                    <a:pt x="5191125" y="9525"/>
                  </a:lnTo>
                  <a:close/>
                </a:path>
                <a:path w="5191125" h="4361180">
                  <a:moveTo>
                    <a:pt x="9525" y="4356100"/>
                  </a:moveTo>
                  <a:lnTo>
                    <a:pt x="4762" y="4351337"/>
                  </a:lnTo>
                  <a:lnTo>
                    <a:pt x="9525" y="4351337"/>
                  </a:lnTo>
                  <a:lnTo>
                    <a:pt x="9525" y="4356100"/>
                  </a:lnTo>
                  <a:close/>
                </a:path>
                <a:path w="5191125" h="4361180">
                  <a:moveTo>
                    <a:pt x="5181600" y="4356100"/>
                  </a:moveTo>
                  <a:lnTo>
                    <a:pt x="9525" y="4356100"/>
                  </a:lnTo>
                  <a:lnTo>
                    <a:pt x="9525" y="4351337"/>
                  </a:lnTo>
                  <a:lnTo>
                    <a:pt x="5181600" y="4351337"/>
                  </a:lnTo>
                  <a:lnTo>
                    <a:pt x="5181600" y="4356100"/>
                  </a:lnTo>
                  <a:close/>
                </a:path>
                <a:path w="5191125" h="4361180">
                  <a:moveTo>
                    <a:pt x="5191125" y="4356100"/>
                  </a:moveTo>
                  <a:lnTo>
                    <a:pt x="5181600" y="4356100"/>
                  </a:lnTo>
                  <a:lnTo>
                    <a:pt x="5186362" y="4351337"/>
                  </a:lnTo>
                  <a:lnTo>
                    <a:pt x="5191125" y="4351337"/>
                  </a:lnTo>
                  <a:lnTo>
                    <a:pt x="5191125" y="4356100"/>
                  </a:lnTo>
                  <a:close/>
                </a:path>
              </a:pathLst>
            </a:custGeom>
            <a:solidFill>
              <a:srgbClr val="000000"/>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sp>
        <p:nvSpPr>
          <p:cNvPr id="6" name="object 6"/>
          <p:cNvSpPr txBox="1">
            <a:spLocks noGrp="1"/>
          </p:cNvSpPr>
          <p:nvPr>
            <p:ph sz="half" idx="2"/>
          </p:nvPr>
        </p:nvSpPr>
        <p:spPr>
          <a:xfrm>
            <a:off x="838200" y="1825625"/>
            <a:ext cx="5181600" cy="2712085"/>
          </a:xfrm>
          <a:prstGeom prst="rect">
            <a:avLst/>
          </a:prstGeom>
        </p:spPr>
        <p:txBody>
          <a:bodyPr vert="horz" wrap="square" lIns="0" tIns="34925" rIns="0" bIns="0" rtlCol="0">
            <a:spAutoFit/>
          </a:bodyPr>
          <a:lstStyle/>
          <a:p>
            <a:pPr marL="320040" marR="182245" indent="-228600">
              <a:lnSpc>
                <a:spcPct val="90000"/>
              </a:lnSpc>
              <a:spcBef>
                <a:spcPts val="275"/>
              </a:spcBef>
              <a:buFont typeface="Arial MT"/>
              <a:buChar char="•"/>
              <a:tabLst>
                <a:tab pos="319405" algn="l"/>
                <a:tab pos="320040" algn="l"/>
              </a:tabLst>
            </a:pPr>
            <a:r>
              <a:rPr sz="2200" b="1" spc="-15" dirty="0">
                <a:latin typeface="Calibri" panose="020F0502020204030204"/>
                <a:cs typeface="Calibri" panose="020F0502020204030204"/>
              </a:rPr>
              <a:t>Data</a:t>
            </a:r>
            <a:r>
              <a:rPr sz="2200" b="1" spc="-10" dirty="0">
                <a:latin typeface="Calibri" panose="020F0502020204030204"/>
                <a:cs typeface="Calibri" panose="020F0502020204030204"/>
              </a:rPr>
              <a:t> </a:t>
            </a:r>
            <a:r>
              <a:rPr sz="2200" b="1" spc="-5" dirty="0">
                <a:latin typeface="Calibri" panose="020F0502020204030204"/>
                <a:cs typeface="Calibri" panose="020F0502020204030204"/>
              </a:rPr>
              <a:t>analysis </a:t>
            </a:r>
            <a:r>
              <a:rPr sz="2200" b="1" spc="-10" dirty="0">
                <a:latin typeface="Calibri" panose="020F0502020204030204"/>
                <a:cs typeface="Calibri" panose="020F0502020204030204"/>
              </a:rPr>
              <a:t>software</a:t>
            </a:r>
            <a:r>
              <a:rPr sz="2200" b="1" spc="-5" dirty="0">
                <a:latin typeface="Calibri" panose="020F0502020204030204"/>
                <a:cs typeface="Calibri" panose="020F0502020204030204"/>
              </a:rPr>
              <a:t> </a:t>
            </a:r>
            <a:r>
              <a:rPr sz="2200" b="1" spc="-15" dirty="0">
                <a:latin typeface="Calibri" panose="020F0502020204030204"/>
                <a:cs typeface="Calibri" panose="020F0502020204030204"/>
              </a:rPr>
              <a:t>-</a:t>
            </a:r>
            <a:r>
              <a:rPr spc="-15" dirty="0"/>
              <a:t>Data</a:t>
            </a:r>
            <a:r>
              <a:rPr spc="-5" dirty="0"/>
              <a:t> analysis </a:t>
            </a:r>
            <a:r>
              <a:rPr dirty="0"/>
              <a:t> </a:t>
            </a:r>
            <a:r>
              <a:rPr spc="-10" dirty="0"/>
              <a:t>software</a:t>
            </a:r>
            <a:r>
              <a:rPr spc="-5" dirty="0"/>
              <a:t> </a:t>
            </a:r>
            <a:r>
              <a:rPr dirty="0"/>
              <a:t>is</a:t>
            </a:r>
            <a:r>
              <a:rPr spc="-5" dirty="0"/>
              <a:t> used </a:t>
            </a:r>
            <a:r>
              <a:rPr spc="-10" dirty="0"/>
              <a:t>to</a:t>
            </a:r>
            <a:r>
              <a:rPr spc="-5" dirty="0"/>
              <a:t> </a:t>
            </a:r>
            <a:r>
              <a:rPr spc="-15" dirty="0"/>
              <a:t>analyze</a:t>
            </a:r>
            <a:r>
              <a:rPr dirty="0"/>
              <a:t> </a:t>
            </a:r>
            <a:r>
              <a:rPr spc="-5" dirty="0"/>
              <a:t>the </a:t>
            </a:r>
            <a:r>
              <a:rPr spc="-10" dirty="0"/>
              <a:t>collected</a:t>
            </a:r>
            <a:r>
              <a:rPr spc="-5" dirty="0"/>
              <a:t> </a:t>
            </a:r>
            <a:r>
              <a:rPr spc="-15" dirty="0"/>
              <a:t>data</a:t>
            </a:r>
            <a:r>
              <a:rPr spc="-5" dirty="0"/>
              <a:t> and </a:t>
            </a:r>
            <a:r>
              <a:rPr dirty="0"/>
              <a:t> </a:t>
            </a:r>
            <a:r>
              <a:rPr spc="-10" dirty="0"/>
              <a:t>to</a:t>
            </a:r>
            <a:r>
              <a:rPr spc="-5" dirty="0"/>
              <a:t> </a:t>
            </a:r>
            <a:r>
              <a:rPr spc="-15" dirty="0"/>
              <a:t>validate</a:t>
            </a:r>
            <a:r>
              <a:rPr spc="-5" dirty="0"/>
              <a:t> the</a:t>
            </a:r>
            <a:r>
              <a:rPr dirty="0"/>
              <a:t> </a:t>
            </a:r>
            <a:r>
              <a:rPr spc="-5" dirty="0"/>
              <a:t>indoor</a:t>
            </a:r>
            <a:r>
              <a:rPr dirty="0"/>
              <a:t> </a:t>
            </a:r>
            <a:r>
              <a:rPr spc="-10" dirty="0"/>
              <a:t>terrain</a:t>
            </a:r>
            <a:r>
              <a:rPr dirty="0"/>
              <a:t> </a:t>
            </a:r>
            <a:r>
              <a:rPr spc="-5" dirty="0"/>
              <a:t>model. This </a:t>
            </a:r>
            <a:r>
              <a:rPr spc="-10" dirty="0"/>
              <a:t>software </a:t>
            </a:r>
            <a:r>
              <a:rPr spc="-390" dirty="0"/>
              <a:t> </a:t>
            </a:r>
            <a:r>
              <a:rPr spc="-5" dirty="0"/>
              <a:t>will</a:t>
            </a:r>
            <a:r>
              <a:rPr dirty="0"/>
              <a:t> </a:t>
            </a:r>
            <a:r>
              <a:rPr spc="-5" dirty="0"/>
              <a:t>be used </a:t>
            </a:r>
            <a:r>
              <a:rPr spc="-10" dirty="0"/>
              <a:t>to</a:t>
            </a:r>
            <a:r>
              <a:rPr spc="-5" dirty="0"/>
              <a:t> identify </a:t>
            </a:r>
            <a:r>
              <a:rPr spc="-15" dirty="0"/>
              <a:t>patterns</a:t>
            </a:r>
            <a:r>
              <a:rPr spc="-5" dirty="0"/>
              <a:t> and </a:t>
            </a:r>
            <a:r>
              <a:rPr spc="-10" dirty="0"/>
              <a:t>trends</a:t>
            </a:r>
            <a:r>
              <a:rPr spc="-5" dirty="0"/>
              <a:t> </a:t>
            </a:r>
            <a:r>
              <a:rPr dirty="0"/>
              <a:t>in</a:t>
            </a:r>
            <a:r>
              <a:rPr spc="-5" dirty="0"/>
              <a:t> the </a:t>
            </a:r>
            <a:r>
              <a:rPr dirty="0"/>
              <a:t> </a:t>
            </a:r>
            <a:r>
              <a:rPr spc="-15" dirty="0"/>
              <a:t>data </a:t>
            </a:r>
            <a:r>
              <a:rPr spc="-5" dirty="0"/>
              <a:t>and </a:t>
            </a:r>
            <a:r>
              <a:rPr spc="-10" dirty="0"/>
              <a:t>to compare </a:t>
            </a:r>
            <a:r>
              <a:rPr spc="-5" dirty="0"/>
              <a:t>the model's predictions </a:t>
            </a:r>
            <a:r>
              <a:rPr spc="-10" dirty="0"/>
              <a:t>to </a:t>
            </a:r>
            <a:r>
              <a:rPr spc="-5" dirty="0"/>
              <a:t> actual</a:t>
            </a:r>
            <a:r>
              <a:rPr dirty="0"/>
              <a:t> </a:t>
            </a:r>
            <a:r>
              <a:rPr spc="-10" dirty="0"/>
              <a:t>measurements</a:t>
            </a:r>
            <a:r>
              <a:rPr dirty="0"/>
              <a:t> of</a:t>
            </a:r>
            <a:r>
              <a:rPr spc="-5" dirty="0"/>
              <a:t> cellular</a:t>
            </a:r>
            <a:r>
              <a:rPr spc="5" dirty="0"/>
              <a:t> </a:t>
            </a:r>
            <a:r>
              <a:rPr spc="-5" dirty="0"/>
              <a:t>signal</a:t>
            </a:r>
            <a:r>
              <a:rPr dirty="0"/>
              <a:t> </a:t>
            </a:r>
            <a:r>
              <a:rPr spc="-15" dirty="0"/>
              <a:t>strength.</a:t>
            </a:r>
            <a:endParaRPr sz="2200">
              <a:latin typeface="Calibri" panose="020F0502020204030204"/>
              <a:cs typeface="Calibri" panose="020F0502020204030204"/>
            </a:endParaRPr>
          </a:p>
          <a:p>
            <a:pPr marL="548640" marR="1250950">
              <a:lnSpc>
                <a:spcPct val="136000"/>
              </a:lnSpc>
            </a:pPr>
            <a:r>
              <a:rPr b="1" spc="-10" dirty="0">
                <a:latin typeface="Calibri" panose="020F0502020204030204"/>
                <a:cs typeface="Calibri" panose="020F0502020204030204"/>
              </a:rPr>
              <a:t>Examples</a:t>
            </a:r>
            <a:r>
              <a:rPr b="1" spc="-5" dirty="0">
                <a:latin typeface="Calibri" panose="020F0502020204030204"/>
                <a:cs typeface="Calibri" panose="020F0502020204030204"/>
              </a:rPr>
              <a:t> </a:t>
            </a:r>
            <a:r>
              <a:rPr b="1" dirty="0">
                <a:latin typeface="Calibri" panose="020F0502020204030204"/>
                <a:cs typeface="Calibri" panose="020F0502020204030204"/>
              </a:rPr>
              <a:t>of</a:t>
            </a:r>
            <a:r>
              <a:rPr b="1" spc="-5" dirty="0">
                <a:latin typeface="Calibri" panose="020F0502020204030204"/>
                <a:cs typeface="Calibri" panose="020F0502020204030204"/>
              </a:rPr>
              <a:t> </a:t>
            </a:r>
            <a:r>
              <a:rPr b="1" spc="-15" dirty="0">
                <a:latin typeface="Calibri" panose="020F0502020204030204"/>
                <a:cs typeface="Calibri" panose="020F0502020204030204"/>
              </a:rPr>
              <a:t>data</a:t>
            </a:r>
            <a:r>
              <a:rPr b="1" spc="-10" dirty="0">
                <a:latin typeface="Calibri" panose="020F0502020204030204"/>
                <a:cs typeface="Calibri" panose="020F0502020204030204"/>
              </a:rPr>
              <a:t> </a:t>
            </a:r>
            <a:r>
              <a:rPr b="1" spc="-5" dirty="0">
                <a:latin typeface="Calibri" panose="020F0502020204030204"/>
                <a:cs typeface="Calibri" panose="020F0502020204030204"/>
              </a:rPr>
              <a:t>analysis</a:t>
            </a:r>
            <a:r>
              <a:rPr b="1" dirty="0">
                <a:latin typeface="Calibri" panose="020F0502020204030204"/>
                <a:cs typeface="Calibri" panose="020F0502020204030204"/>
              </a:rPr>
              <a:t> </a:t>
            </a:r>
            <a:r>
              <a:rPr b="1" spc="-10" dirty="0">
                <a:latin typeface="Calibri" panose="020F0502020204030204"/>
                <a:cs typeface="Calibri" panose="020F0502020204030204"/>
              </a:rPr>
              <a:t>software: </a:t>
            </a:r>
            <a:r>
              <a:rPr b="1" spc="-395" dirty="0">
                <a:latin typeface="Calibri" panose="020F0502020204030204"/>
                <a:cs typeface="Calibri" panose="020F0502020204030204"/>
              </a:rPr>
              <a:t> </a:t>
            </a:r>
            <a:r>
              <a:rPr b="1" spc="-30" dirty="0">
                <a:latin typeface="Calibri" panose="020F0502020204030204"/>
                <a:cs typeface="Calibri" panose="020F0502020204030204"/>
              </a:rPr>
              <a:t>MATLAB</a:t>
            </a:r>
          </a:p>
          <a:p>
            <a:pPr marL="548640" marR="3944620">
              <a:lnSpc>
                <a:spcPct val="136000"/>
              </a:lnSpc>
            </a:pPr>
            <a:endParaRPr b="1" dirty="0">
              <a:latin typeface="Calibri" panose="020F0502020204030204"/>
              <a:cs typeface="Calibri" panose="020F0502020204030204"/>
            </a:endParaRPr>
          </a:p>
        </p:txBody>
      </p:sp>
      <p:grpSp>
        <p:nvGrpSpPr>
          <p:cNvPr id="7" name="object 7"/>
          <p:cNvGrpSpPr/>
          <p:nvPr/>
        </p:nvGrpSpPr>
        <p:grpSpPr>
          <a:xfrm>
            <a:off x="6015037" y="1820862"/>
            <a:ext cx="4794885" cy="4361180"/>
            <a:chOff x="6015037" y="1820862"/>
            <a:chExt cx="4794885" cy="4361180"/>
          </a:xfrm>
        </p:grpSpPr>
        <p:sp>
          <p:nvSpPr>
            <p:cNvPr id="8" name="object 8"/>
            <p:cNvSpPr/>
            <p:nvPr/>
          </p:nvSpPr>
          <p:spPr>
            <a:xfrm>
              <a:off x="6019800" y="1825625"/>
              <a:ext cx="4785360" cy="4351655"/>
            </a:xfrm>
            <a:custGeom>
              <a:avLst/>
              <a:gdLst/>
              <a:ahLst/>
              <a:cxnLst/>
              <a:rect l="l" t="t" r="r" b="b"/>
              <a:pathLst>
                <a:path w="4785359" h="4351655">
                  <a:moveTo>
                    <a:pt x="4785359" y="4351655"/>
                  </a:moveTo>
                  <a:lnTo>
                    <a:pt x="0" y="4351655"/>
                  </a:lnTo>
                  <a:lnTo>
                    <a:pt x="0" y="0"/>
                  </a:lnTo>
                  <a:lnTo>
                    <a:pt x="4785359" y="0"/>
                  </a:lnTo>
                  <a:lnTo>
                    <a:pt x="4785359" y="4351655"/>
                  </a:lnTo>
                  <a:close/>
                </a:path>
              </a:pathLst>
            </a:custGeom>
            <a:solidFill>
              <a:srgbClr val="92D050"/>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9" name="object 9"/>
            <p:cNvSpPr/>
            <p:nvPr/>
          </p:nvSpPr>
          <p:spPr>
            <a:xfrm>
              <a:off x="6015037" y="1820862"/>
              <a:ext cx="4794885" cy="4361180"/>
            </a:xfrm>
            <a:custGeom>
              <a:avLst/>
              <a:gdLst/>
              <a:ahLst/>
              <a:cxnLst/>
              <a:rect l="l" t="t" r="r" b="b"/>
              <a:pathLst>
                <a:path w="4794884" h="4361180">
                  <a:moveTo>
                    <a:pt x="4790122" y="4361180"/>
                  </a:moveTo>
                  <a:lnTo>
                    <a:pt x="4762" y="4361180"/>
                  </a:lnTo>
                  <a:lnTo>
                    <a:pt x="3289" y="4360951"/>
                  </a:lnTo>
                  <a:lnTo>
                    <a:pt x="1968" y="4360265"/>
                  </a:lnTo>
                  <a:lnTo>
                    <a:pt x="914" y="4359211"/>
                  </a:lnTo>
                  <a:lnTo>
                    <a:pt x="228" y="4357890"/>
                  </a:lnTo>
                  <a:lnTo>
                    <a:pt x="0" y="4356417"/>
                  </a:lnTo>
                  <a:lnTo>
                    <a:pt x="0" y="4762"/>
                  </a:lnTo>
                  <a:lnTo>
                    <a:pt x="4762" y="0"/>
                  </a:lnTo>
                  <a:lnTo>
                    <a:pt x="4790122" y="0"/>
                  </a:lnTo>
                  <a:lnTo>
                    <a:pt x="4794884" y="4762"/>
                  </a:lnTo>
                  <a:lnTo>
                    <a:pt x="9525" y="4762"/>
                  </a:lnTo>
                  <a:lnTo>
                    <a:pt x="4762" y="9525"/>
                  </a:lnTo>
                  <a:lnTo>
                    <a:pt x="9525" y="9525"/>
                  </a:lnTo>
                  <a:lnTo>
                    <a:pt x="9525" y="4351655"/>
                  </a:lnTo>
                  <a:lnTo>
                    <a:pt x="4762" y="4351655"/>
                  </a:lnTo>
                  <a:lnTo>
                    <a:pt x="9525" y="4356417"/>
                  </a:lnTo>
                  <a:lnTo>
                    <a:pt x="4794884" y="4356417"/>
                  </a:lnTo>
                  <a:lnTo>
                    <a:pt x="4794656" y="4357890"/>
                  </a:lnTo>
                  <a:lnTo>
                    <a:pt x="4793970" y="4359211"/>
                  </a:lnTo>
                  <a:lnTo>
                    <a:pt x="4792916" y="4360265"/>
                  </a:lnTo>
                  <a:lnTo>
                    <a:pt x="4791595" y="4360951"/>
                  </a:lnTo>
                  <a:lnTo>
                    <a:pt x="4790122" y="4361180"/>
                  </a:lnTo>
                  <a:close/>
                </a:path>
                <a:path w="4794884" h="4361180">
                  <a:moveTo>
                    <a:pt x="9525" y="9525"/>
                  </a:moveTo>
                  <a:lnTo>
                    <a:pt x="4762" y="9525"/>
                  </a:lnTo>
                  <a:lnTo>
                    <a:pt x="9525" y="4762"/>
                  </a:lnTo>
                  <a:lnTo>
                    <a:pt x="9525" y="9525"/>
                  </a:lnTo>
                  <a:close/>
                </a:path>
                <a:path w="4794884" h="4361180">
                  <a:moveTo>
                    <a:pt x="4785359" y="9525"/>
                  </a:moveTo>
                  <a:lnTo>
                    <a:pt x="9525" y="9525"/>
                  </a:lnTo>
                  <a:lnTo>
                    <a:pt x="9525" y="4762"/>
                  </a:lnTo>
                  <a:lnTo>
                    <a:pt x="4785359" y="4762"/>
                  </a:lnTo>
                  <a:lnTo>
                    <a:pt x="4785359" y="9525"/>
                  </a:lnTo>
                  <a:close/>
                </a:path>
                <a:path w="4794884" h="4361180">
                  <a:moveTo>
                    <a:pt x="4785359" y="4356417"/>
                  </a:moveTo>
                  <a:lnTo>
                    <a:pt x="4785359" y="4762"/>
                  </a:lnTo>
                  <a:lnTo>
                    <a:pt x="4790122" y="9525"/>
                  </a:lnTo>
                  <a:lnTo>
                    <a:pt x="4794884" y="9525"/>
                  </a:lnTo>
                  <a:lnTo>
                    <a:pt x="4794884" y="4351655"/>
                  </a:lnTo>
                  <a:lnTo>
                    <a:pt x="4790122" y="4351655"/>
                  </a:lnTo>
                  <a:lnTo>
                    <a:pt x="4785359" y="4356417"/>
                  </a:lnTo>
                  <a:close/>
                </a:path>
                <a:path w="4794884" h="4361180">
                  <a:moveTo>
                    <a:pt x="4794884" y="9525"/>
                  </a:moveTo>
                  <a:lnTo>
                    <a:pt x="4790122" y="9525"/>
                  </a:lnTo>
                  <a:lnTo>
                    <a:pt x="4785359" y="4762"/>
                  </a:lnTo>
                  <a:lnTo>
                    <a:pt x="4794884" y="4762"/>
                  </a:lnTo>
                  <a:lnTo>
                    <a:pt x="4794884" y="9525"/>
                  </a:lnTo>
                  <a:close/>
                </a:path>
                <a:path w="4794884" h="4361180">
                  <a:moveTo>
                    <a:pt x="9525" y="4356417"/>
                  </a:moveTo>
                  <a:lnTo>
                    <a:pt x="4762" y="4351655"/>
                  </a:lnTo>
                  <a:lnTo>
                    <a:pt x="9525" y="4351655"/>
                  </a:lnTo>
                  <a:lnTo>
                    <a:pt x="9525" y="4356417"/>
                  </a:lnTo>
                  <a:close/>
                </a:path>
                <a:path w="4794884" h="4361180">
                  <a:moveTo>
                    <a:pt x="4785359" y="4356417"/>
                  </a:moveTo>
                  <a:lnTo>
                    <a:pt x="9525" y="4356417"/>
                  </a:lnTo>
                  <a:lnTo>
                    <a:pt x="9525" y="4351655"/>
                  </a:lnTo>
                  <a:lnTo>
                    <a:pt x="4785359" y="4351655"/>
                  </a:lnTo>
                  <a:lnTo>
                    <a:pt x="4785359" y="4356417"/>
                  </a:lnTo>
                  <a:close/>
                </a:path>
                <a:path w="4794884" h="4361180">
                  <a:moveTo>
                    <a:pt x="4794884" y="4356417"/>
                  </a:moveTo>
                  <a:lnTo>
                    <a:pt x="4785359" y="4356417"/>
                  </a:lnTo>
                  <a:lnTo>
                    <a:pt x="4790122" y="4351655"/>
                  </a:lnTo>
                  <a:lnTo>
                    <a:pt x="4794884" y="4351655"/>
                  </a:lnTo>
                  <a:lnTo>
                    <a:pt x="4794884" y="4356417"/>
                  </a:lnTo>
                  <a:close/>
                </a:path>
              </a:pathLst>
            </a:custGeom>
            <a:solidFill>
              <a:srgbClr val="000000"/>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sp>
        <p:nvSpPr>
          <p:cNvPr id="10" name="object 10"/>
          <p:cNvSpPr txBox="1"/>
          <p:nvPr/>
        </p:nvSpPr>
        <p:spPr>
          <a:xfrm>
            <a:off x="6019800" y="1825625"/>
            <a:ext cx="4785360" cy="4351655"/>
          </a:xfrm>
          <a:prstGeom prst="rect">
            <a:avLst/>
          </a:prstGeom>
        </p:spPr>
        <p:txBody>
          <a:bodyPr vert="horz" wrap="square" lIns="0" tIns="0" rIns="0" bIns="0" rtlCol="0">
            <a:spAutoFit/>
          </a:bodyPr>
          <a:lstStyle/>
          <a:p>
            <a:pPr marL="90805" marR="0" lvl="0" indent="0" algn="l" defTabSz="914400" rtl="0" eaLnBrk="1" fontAlgn="auto" latinLnBrk="0" hangingPunct="1">
              <a:lnSpc>
                <a:spcPts val="3280"/>
              </a:lnSpc>
              <a:spcBef>
                <a:spcPts val="0"/>
              </a:spcBef>
              <a:spcAft>
                <a:spcPts val="0"/>
              </a:spcAft>
              <a:buClrTx/>
              <a:buSzTx/>
              <a:buFontTx/>
              <a:buNone/>
              <a:tabLst/>
              <a:defRPr/>
            </a:pPr>
            <a:r>
              <a:rPr kumimoji="0" sz="2800" b="1" i="0" u="none" strike="noStrike" kern="1200" cap="none" spc="-5" normalizeH="0" baseline="0" noProof="0" dirty="0">
                <a:ln>
                  <a:noFill/>
                </a:ln>
                <a:solidFill>
                  <a:prstClr val="black"/>
                </a:solidFill>
                <a:effectLst/>
                <a:uLnTx/>
                <a:uFillTx/>
                <a:latin typeface="Calibri" panose="020F0502020204030204"/>
                <a:ea typeface="+mn-ea"/>
                <a:cs typeface="Calibri" panose="020F0502020204030204"/>
              </a:rPr>
              <a:t>Model</a:t>
            </a:r>
            <a:r>
              <a:rPr kumimoji="0" sz="2800" b="1" i="0" u="none" strike="noStrike" kern="1200" cap="none" spc="-25" normalizeH="0" baseline="0" noProof="0" dirty="0">
                <a:ln>
                  <a:noFill/>
                </a:ln>
                <a:solidFill>
                  <a:prstClr val="black"/>
                </a:solidFill>
                <a:effectLst/>
                <a:uLnTx/>
                <a:uFillTx/>
                <a:latin typeface="Calibri" panose="020F0502020204030204"/>
                <a:ea typeface="+mn-ea"/>
                <a:cs typeface="Calibri" panose="020F0502020204030204"/>
              </a:rPr>
              <a:t> </a:t>
            </a:r>
            <a:r>
              <a:rPr kumimoji="0" sz="2800" b="1" i="0" u="none" strike="noStrike" kern="1200" cap="none" spc="-10" normalizeH="0" baseline="0" noProof="0" dirty="0">
                <a:ln>
                  <a:noFill/>
                </a:ln>
                <a:solidFill>
                  <a:prstClr val="black"/>
                </a:solidFill>
                <a:effectLst/>
                <a:uLnTx/>
                <a:uFillTx/>
                <a:latin typeface="Calibri" panose="020F0502020204030204"/>
                <a:ea typeface="+mn-ea"/>
                <a:cs typeface="Calibri" panose="020F0502020204030204"/>
              </a:rPr>
              <a:t>verification</a:t>
            </a:r>
            <a:endParaRPr kumimoji="0" sz="2800" b="0" i="0" u="none" strike="noStrike" kern="1200" cap="none" spc="0" normalizeH="0" baseline="0" noProof="0">
              <a:ln>
                <a:noFill/>
              </a:ln>
              <a:solidFill>
                <a:prstClr val="black"/>
              </a:solidFill>
              <a:effectLst/>
              <a:uLnTx/>
              <a:uFillTx/>
              <a:latin typeface="Calibri" panose="020F0502020204030204"/>
              <a:ea typeface="+mn-ea"/>
              <a:cs typeface="Calibri" panose="020F0502020204030204"/>
            </a:endParaRPr>
          </a:p>
          <a:p>
            <a:pPr marL="90805" marR="237490" lvl="0" indent="0" algn="l" defTabSz="914400" rtl="0" eaLnBrk="1" fontAlgn="auto" latinLnBrk="0" hangingPunct="1">
              <a:lnSpc>
                <a:spcPts val="2590"/>
              </a:lnSpc>
              <a:spcBef>
                <a:spcPts val="1050"/>
              </a:spcBef>
              <a:spcAft>
                <a:spcPts val="0"/>
              </a:spcAft>
              <a:buClrTx/>
              <a:buSzTx/>
              <a:buFontTx/>
              <a:buNone/>
              <a:tabLst/>
              <a:defRPr/>
            </a:pPr>
            <a:r>
              <a:rPr kumimoji="0" sz="2400" b="0" i="0" u="none" strike="noStrike" kern="1200" cap="none" spc="-5" normalizeH="0" baseline="0" noProof="0" dirty="0">
                <a:ln>
                  <a:noFill/>
                </a:ln>
                <a:solidFill>
                  <a:prstClr val="black"/>
                </a:solidFill>
                <a:effectLst/>
                <a:uLnTx/>
                <a:uFillTx/>
                <a:latin typeface="Calibri" panose="020F0502020204030204"/>
                <a:ea typeface="+mn-ea"/>
                <a:cs typeface="Calibri" panose="020F0502020204030204"/>
              </a:rPr>
              <a:t>Comparison of model </a:t>
            </a:r>
            <a:r>
              <a:rPr kumimoji="0" sz="2400" b="0" i="0" u="none" strike="noStrike" kern="1200" cap="none" spc="-10" normalizeH="0" baseline="0" noProof="0" dirty="0">
                <a:ln>
                  <a:noFill/>
                </a:ln>
                <a:solidFill>
                  <a:prstClr val="black"/>
                </a:solidFill>
                <a:effectLst/>
                <a:uLnTx/>
                <a:uFillTx/>
                <a:latin typeface="Calibri" panose="020F0502020204030204"/>
                <a:ea typeface="+mn-ea"/>
                <a:cs typeface="Calibri" panose="020F0502020204030204"/>
              </a:rPr>
              <a:t>predictions</a:t>
            </a:r>
            <a:r>
              <a:rPr kumimoji="0" sz="2400" b="0" i="0" u="none" strike="noStrike" kern="1200" cap="none" spc="-5" normalizeH="0" baseline="0" noProof="0" dirty="0">
                <a:ln>
                  <a:noFill/>
                </a:ln>
                <a:solidFill>
                  <a:prstClr val="black"/>
                </a:solidFill>
                <a:effectLst/>
                <a:uLnTx/>
                <a:uFillTx/>
                <a:latin typeface="Calibri" panose="020F0502020204030204"/>
                <a:ea typeface="+mn-ea"/>
                <a:cs typeface="Calibri" panose="020F0502020204030204"/>
              </a:rPr>
              <a:t> </a:t>
            </a:r>
            <a:r>
              <a:rPr kumimoji="0" sz="2400" b="0" i="0" u="none" strike="noStrike" kern="1200" cap="none" spc="-15" normalizeH="0" baseline="0" noProof="0" dirty="0">
                <a:ln>
                  <a:noFill/>
                </a:ln>
                <a:solidFill>
                  <a:prstClr val="black"/>
                </a:solidFill>
                <a:effectLst/>
                <a:uLnTx/>
                <a:uFillTx/>
                <a:latin typeface="Calibri" panose="020F0502020204030204"/>
                <a:ea typeface="+mn-ea"/>
                <a:cs typeface="Calibri" panose="020F0502020204030204"/>
              </a:rPr>
              <a:t>to </a:t>
            </a:r>
            <a:r>
              <a:rPr kumimoji="0" sz="2400" b="0" i="0" u="none" strike="noStrike" kern="1200" cap="none" spc="-530" normalizeH="0" baseline="0" noProof="0" dirty="0">
                <a:ln>
                  <a:noFill/>
                </a:ln>
                <a:solidFill>
                  <a:prstClr val="black"/>
                </a:solidFill>
                <a:effectLst/>
                <a:uLnTx/>
                <a:uFillTx/>
                <a:latin typeface="Calibri" panose="020F0502020204030204"/>
                <a:ea typeface="+mn-ea"/>
                <a:cs typeface="Calibri" panose="020F0502020204030204"/>
              </a:rPr>
              <a:t> </a:t>
            </a:r>
            <a:r>
              <a:rPr kumimoji="0" sz="2400" b="0" i="0" u="none" strike="noStrike" kern="1200" cap="none" spc="-5" normalizeH="0" baseline="0" noProof="0" dirty="0">
                <a:ln>
                  <a:noFill/>
                </a:ln>
                <a:solidFill>
                  <a:prstClr val="black"/>
                </a:solidFill>
                <a:effectLst/>
                <a:uLnTx/>
                <a:uFillTx/>
                <a:latin typeface="Calibri" panose="020F0502020204030204"/>
                <a:ea typeface="+mn-ea"/>
                <a:cs typeface="Calibri" panose="020F0502020204030204"/>
              </a:rPr>
              <a:t>actual </a:t>
            </a:r>
            <a:r>
              <a:rPr kumimoji="0" sz="2400" b="0" i="0" u="none" strike="noStrike" kern="1200" cap="none" spc="-10" normalizeH="0" baseline="0" noProof="0" dirty="0">
                <a:ln>
                  <a:noFill/>
                </a:ln>
                <a:solidFill>
                  <a:prstClr val="black"/>
                </a:solidFill>
                <a:effectLst/>
                <a:uLnTx/>
                <a:uFillTx/>
                <a:latin typeface="Calibri" panose="020F0502020204030204"/>
                <a:ea typeface="+mn-ea"/>
                <a:cs typeface="Calibri" panose="020F0502020204030204"/>
              </a:rPr>
              <a:t>measurements</a:t>
            </a:r>
            <a:r>
              <a:rPr kumimoji="0" sz="2400" b="0" i="0" u="none" strike="noStrike" kern="1200" cap="none" spc="0" normalizeH="0" baseline="0" noProof="0" dirty="0">
                <a:ln>
                  <a:noFill/>
                </a:ln>
                <a:solidFill>
                  <a:prstClr val="black"/>
                </a:solidFill>
                <a:effectLst/>
                <a:uLnTx/>
                <a:uFillTx/>
                <a:latin typeface="Calibri" panose="020F0502020204030204"/>
                <a:ea typeface="+mn-ea"/>
                <a:cs typeface="Calibri" panose="020F0502020204030204"/>
              </a:rPr>
              <a:t> </a:t>
            </a:r>
            <a:r>
              <a:rPr kumimoji="0" sz="2400" b="0" i="0" u="none" strike="noStrike" kern="1200" cap="none" spc="-5" normalizeH="0" baseline="0" noProof="0" dirty="0">
                <a:ln>
                  <a:noFill/>
                </a:ln>
                <a:solidFill>
                  <a:prstClr val="black"/>
                </a:solidFill>
                <a:effectLst/>
                <a:uLnTx/>
                <a:uFillTx/>
                <a:latin typeface="Calibri" panose="020F0502020204030204"/>
                <a:ea typeface="+mn-ea"/>
                <a:cs typeface="Calibri" panose="020F0502020204030204"/>
              </a:rPr>
              <a:t>of</a:t>
            </a:r>
            <a:r>
              <a:rPr kumimoji="0" sz="2400" b="0" i="0" u="none" strike="noStrike" kern="1200" cap="none" spc="0" normalizeH="0" baseline="0" noProof="0" dirty="0">
                <a:ln>
                  <a:noFill/>
                </a:ln>
                <a:solidFill>
                  <a:prstClr val="black"/>
                </a:solidFill>
                <a:effectLst/>
                <a:uLnTx/>
                <a:uFillTx/>
                <a:latin typeface="Calibri" panose="020F0502020204030204"/>
                <a:ea typeface="+mn-ea"/>
                <a:cs typeface="Calibri" panose="020F0502020204030204"/>
              </a:rPr>
              <a:t> </a:t>
            </a:r>
            <a:r>
              <a:rPr kumimoji="0" sz="2400" b="0" i="0" u="none" strike="noStrike" kern="1200" cap="none" spc="-5" normalizeH="0" baseline="0" noProof="0" dirty="0">
                <a:ln>
                  <a:noFill/>
                </a:ln>
                <a:solidFill>
                  <a:prstClr val="black"/>
                </a:solidFill>
                <a:effectLst/>
                <a:uLnTx/>
                <a:uFillTx/>
                <a:latin typeface="Calibri" panose="020F0502020204030204"/>
                <a:ea typeface="+mn-ea"/>
                <a:cs typeface="Calibri" panose="020F0502020204030204"/>
              </a:rPr>
              <a:t>cellular </a:t>
            </a:r>
            <a:r>
              <a:rPr kumimoji="0" sz="2400" b="0" i="0" u="none" strike="noStrike" kern="1200" cap="none" spc="0" normalizeH="0" baseline="0" noProof="0" dirty="0">
                <a:ln>
                  <a:noFill/>
                </a:ln>
                <a:solidFill>
                  <a:prstClr val="black"/>
                </a:solidFill>
                <a:effectLst/>
                <a:uLnTx/>
                <a:uFillTx/>
                <a:latin typeface="Calibri" panose="020F0502020204030204"/>
                <a:ea typeface="+mn-ea"/>
                <a:cs typeface="Calibri" panose="020F0502020204030204"/>
              </a:rPr>
              <a:t> </a:t>
            </a:r>
            <a:r>
              <a:rPr kumimoji="0" sz="2400" b="0" i="0" u="none" strike="noStrike" kern="1200" cap="none" spc="-5" normalizeH="0" baseline="0" noProof="0" dirty="0">
                <a:ln>
                  <a:noFill/>
                </a:ln>
                <a:solidFill>
                  <a:prstClr val="black"/>
                </a:solidFill>
                <a:effectLst/>
                <a:uLnTx/>
                <a:uFillTx/>
                <a:latin typeface="Calibri" panose="020F0502020204030204"/>
                <a:ea typeface="+mn-ea"/>
                <a:cs typeface="Calibri" panose="020F0502020204030204"/>
              </a:rPr>
              <a:t>signal </a:t>
            </a:r>
            <a:r>
              <a:rPr kumimoji="0" sz="2400" b="0" i="0" u="none" strike="noStrike" kern="1200" cap="none" spc="-15" normalizeH="0" baseline="0" noProof="0" dirty="0">
                <a:ln>
                  <a:noFill/>
                </a:ln>
                <a:solidFill>
                  <a:prstClr val="black"/>
                </a:solidFill>
                <a:effectLst/>
                <a:uLnTx/>
                <a:uFillTx/>
                <a:latin typeface="Calibri" panose="020F0502020204030204"/>
                <a:ea typeface="+mn-ea"/>
                <a:cs typeface="Calibri" panose="020F0502020204030204"/>
              </a:rPr>
              <a:t>strength</a:t>
            </a:r>
            <a:r>
              <a:rPr kumimoji="0" sz="2400" b="0" i="0" u="none" strike="noStrike" kern="1200" cap="none" spc="-5" normalizeH="0" baseline="0" noProof="0" dirty="0">
                <a:ln>
                  <a:noFill/>
                </a:ln>
                <a:solidFill>
                  <a:prstClr val="black"/>
                </a:solidFill>
                <a:effectLst/>
                <a:uLnTx/>
                <a:uFillTx/>
                <a:latin typeface="Calibri" panose="020F0502020204030204"/>
                <a:ea typeface="+mn-ea"/>
                <a:cs typeface="Calibri" panose="020F0502020204030204"/>
              </a:rPr>
              <a:t> </a:t>
            </a:r>
            <a:r>
              <a:rPr kumimoji="0" sz="2400" b="0" i="0" u="none" strike="noStrike" kern="1200" cap="none" spc="-10" normalizeH="0" baseline="0" noProof="0" dirty="0">
                <a:ln>
                  <a:noFill/>
                </a:ln>
                <a:solidFill>
                  <a:prstClr val="black"/>
                </a:solidFill>
                <a:effectLst/>
                <a:uLnTx/>
                <a:uFillTx/>
                <a:latin typeface="Calibri" panose="020F0502020204030204"/>
                <a:ea typeface="+mn-ea"/>
                <a:cs typeface="Calibri" panose="020F0502020204030204"/>
              </a:rPr>
              <a:t>throughout</a:t>
            </a:r>
            <a:r>
              <a:rPr kumimoji="0" sz="2400" b="0" i="0" u="none" strike="noStrike" kern="1200" cap="none" spc="0" normalizeH="0" baseline="0" noProof="0" dirty="0">
                <a:ln>
                  <a:noFill/>
                </a:ln>
                <a:solidFill>
                  <a:prstClr val="black"/>
                </a:solidFill>
                <a:effectLst/>
                <a:uLnTx/>
                <a:uFillTx/>
                <a:latin typeface="Calibri" panose="020F0502020204030204"/>
                <a:ea typeface="+mn-ea"/>
                <a:cs typeface="Calibri" panose="020F0502020204030204"/>
              </a:rPr>
              <a:t> </a:t>
            </a:r>
            <a:r>
              <a:rPr kumimoji="0" sz="2400" b="0" i="0" u="none" strike="noStrike" kern="1200" cap="none" spc="-5" normalizeH="0" baseline="0" noProof="0" dirty="0">
                <a:ln>
                  <a:noFill/>
                </a:ln>
                <a:solidFill>
                  <a:prstClr val="black"/>
                </a:solidFill>
                <a:effectLst/>
                <a:uLnTx/>
                <a:uFillTx/>
                <a:latin typeface="Calibri" panose="020F0502020204030204"/>
                <a:ea typeface="+mn-ea"/>
                <a:cs typeface="Calibri" panose="020F0502020204030204"/>
              </a:rPr>
              <a:t>the </a:t>
            </a:r>
            <a:r>
              <a:rPr kumimoji="0" sz="2400" b="0" i="0" u="none" strike="noStrike" kern="1200" cap="none" spc="0" normalizeH="0" baseline="0" noProof="0" dirty="0">
                <a:ln>
                  <a:noFill/>
                </a:ln>
                <a:solidFill>
                  <a:prstClr val="black"/>
                </a:solidFill>
                <a:effectLst/>
                <a:uLnTx/>
                <a:uFillTx/>
                <a:latin typeface="Calibri" panose="020F0502020204030204"/>
                <a:ea typeface="+mn-ea"/>
                <a:cs typeface="Calibri" panose="020F0502020204030204"/>
              </a:rPr>
              <a:t> </a:t>
            </a:r>
            <a:r>
              <a:rPr kumimoji="0" sz="2400" b="0" i="0" u="none" strike="noStrike" kern="1200" cap="none" spc="-5" normalizeH="0" baseline="0" noProof="0" dirty="0">
                <a:ln>
                  <a:noFill/>
                </a:ln>
                <a:solidFill>
                  <a:prstClr val="black"/>
                </a:solidFill>
                <a:effectLst/>
                <a:uLnTx/>
                <a:uFillTx/>
                <a:latin typeface="Calibri" panose="020F0502020204030204"/>
                <a:ea typeface="+mn-ea"/>
                <a:cs typeface="Calibri" panose="020F0502020204030204"/>
              </a:rPr>
              <a:t>building</a:t>
            </a:r>
            <a:endParaRPr kumimoji="0" sz="2400" b="0" i="0" u="none" strike="noStrike" kern="1200" cap="none" spc="0" normalizeH="0" baseline="0" noProof="0">
              <a:ln>
                <a:noFill/>
              </a:ln>
              <a:solidFill>
                <a:prstClr val="black"/>
              </a:solidFill>
              <a:effectLst/>
              <a:uLnTx/>
              <a:uFillTx/>
              <a:latin typeface="Calibri" panose="020F0502020204030204"/>
              <a:ea typeface="+mn-ea"/>
              <a:cs typeface="Calibri" panose="020F0502020204030204"/>
            </a:endParaRPr>
          </a:p>
        </p:txBody>
      </p:sp>
      <p:sp>
        <p:nvSpPr>
          <p:cNvPr id="11" name="object 11"/>
          <p:cNvSpPr/>
          <p:nvPr/>
        </p:nvSpPr>
        <p:spPr>
          <a:xfrm>
            <a:off x="761" y="761"/>
            <a:ext cx="12190730" cy="6856730"/>
          </a:xfrm>
          <a:custGeom>
            <a:avLst/>
            <a:gdLst/>
            <a:ahLst/>
            <a:cxnLst/>
            <a:rect l="l" t="t" r="r" b="b"/>
            <a:pathLst>
              <a:path w="12190730" h="6856730">
                <a:moveTo>
                  <a:pt x="0" y="0"/>
                </a:moveTo>
                <a:lnTo>
                  <a:pt x="12190476" y="0"/>
                </a:lnTo>
                <a:lnTo>
                  <a:pt x="12190476" y="6856476"/>
                </a:lnTo>
                <a:lnTo>
                  <a:pt x="0" y="6856476"/>
                </a:lnTo>
                <a:lnTo>
                  <a:pt x="0" y="0"/>
                </a:lnTo>
                <a:close/>
              </a:path>
            </a:pathLst>
          </a:custGeom>
          <a:ln w="3175">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pic>
        <p:nvPicPr>
          <p:cNvPr id="12" name="Picture 11">
            <a:extLst>
              <a:ext uri="{FF2B5EF4-FFF2-40B4-BE49-F238E27FC236}">
                <a16:creationId xmlns:a16="http://schemas.microsoft.com/office/drawing/2014/main" id="{FFDC98B5-94ED-28E0-9E9D-E0A78646B0E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592315" y="16284"/>
            <a:ext cx="1409897" cy="600159"/>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15BAC9-BC29-7C56-45C8-5B861EA446AE}"/>
              </a:ext>
            </a:extLst>
          </p:cNvPr>
          <p:cNvSpPr>
            <a:spLocks noGrp="1"/>
          </p:cNvSpPr>
          <p:nvPr>
            <p:ph type="title"/>
          </p:nvPr>
        </p:nvSpPr>
        <p:spPr>
          <a:xfrm>
            <a:off x="614150" y="464023"/>
            <a:ext cx="9978165" cy="5841243"/>
          </a:xfrm>
          <a:ln w="28575">
            <a:solidFill>
              <a:srgbClr val="002060"/>
            </a:solidFill>
          </a:ln>
        </p:spPr>
        <p:txBody>
          <a:bodyPr/>
          <a:lstStyle/>
          <a:p>
            <a:r>
              <a:rPr lang="de-DE" dirty="0"/>
              <a:t>   </a:t>
            </a:r>
            <a:br>
              <a:rPr lang="de-DE" dirty="0"/>
            </a:br>
            <a:r>
              <a:rPr lang="de-DE" dirty="0"/>
              <a:t>   Solution _(Install DAS Repeater System)</a:t>
            </a:r>
            <a:endParaRPr lang="en-GB" dirty="0"/>
          </a:p>
        </p:txBody>
      </p:sp>
      <p:pic>
        <p:nvPicPr>
          <p:cNvPr id="7" name="Picture 6">
            <a:extLst>
              <a:ext uri="{FF2B5EF4-FFF2-40B4-BE49-F238E27FC236}">
                <a16:creationId xmlns:a16="http://schemas.microsoft.com/office/drawing/2014/main" id="{ED30F827-8BB6-DC7F-8DBD-0AFBF52D20A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592315" y="16284"/>
            <a:ext cx="1409897" cy="600159"/>
          </a:xfrm>
          <a:prstGeom prst="rect">
            <a:avLst/>
          </a:prstGeom>
        </p:spPr>
      </p:pic>
      <p:graphicFrame>
        <p:nvGraphicFramePr>
          <p:cNvPr id="3" name="Table 2">
            <a:extLst>
              <a:ext uri="{FF2B5EF4-FFF2-40B4-BE49-F238E27FC236}">
                <a16:creationId xmlns:a16="http://schemas.microsoft.com/office/drawing/2014/main" id="{0E031CAE-34DD-A484-4913-7FA2CF5C1559}"/>
              </a:ext>
            </a:extLst>
          </p:cNvPr>
          <p:cNvGraphicFramePr>
            <a:graphicFrameLocks noGrp="1"/>
          </p:cNvGraphicFramePr>
          <p:nvPr>
            <p:extLst>
              <p:ext uri="{D42A27DB-BD31-4B8C-83A1-F6EECF244321}">
                <p14:modId xmlns:p14="http://schemas.microsoft.com/office/powerpoint/2010/main" val="2874241248"/>
              </p:ext>
            </p:extLst>
          </p:nvPr>
        </p:nvGraphicFramePr>
        <p:xfrm>
          <a:off x="2032000" y="1454785"/>
          <a:ext cx="5487916" cy="3294636"/>
        </p:xfrm>
        <a:graphic>
          <a:graphicData uri="http://schemas.openxmlformats.org/drawingml/2006/table">
            <a:tbl>
              <a:tblPr firstRow="1" bandRow="1">
                <a:tableStyleId>{5C22544A-7EE6-4342-B048-85BDC9FD1C3A}</a:tableStyleId>
              </a:tblPr>
              <a:tblGrid>
                <a:gridCol w="5487916">
                  <a:extLst>
                    <a:ext uri="{9D8B030D-6E8A-4147-A177-3AD203B41FA5}">
                      <a16:colId xmlns:a16="http://schemas.microsoft.com/office/drawing/2014/main" val="3216963834"/>
                    </a:ext>
                  </a:extLst>
                </a:gridCol>
              </a:tblGrid>
              <a:tr h="3294636">
                <a:tc>
                  <a:txBody>
                    <a:bodyPr/>
                    <a:lstStyle/>
                    <a:p>
                      <a:endParaRPr lang="en-US" dirty="0"/>
                    </a:p>
                  </a:txBody>
                  <a:tcPr>
                    <a:solidFill>
                      <a:schemeClr val="bg1"/>
                    </a:solidFill>
                  </a:tcPr>
                </a:tc>
                <a:extLst>
                  <a:ext uri="{0D108BD9-81ED-4DB2-BD59-A6C34878D82A}">
                    <a16:rowId xmlns:a16="http://schemas.microsoft.com/office/drawing/2014/main" val="1128357866"/>
                  </a:ext>
                </a:extLst>
              </a:tr>
            </a:tbl>
          </a:graphicData>
        </a:graphic>
      </p:graphicFrame>
      <p:pic>
        <p:nvPicPr>
          <p:cNvPr id="4" name="Picture 3">
            <a:extLst>
              <a:ext uri="{FF2B5EF4-FFF2-40B4-BE49-F238E27FC236}">
                <a16:creationId xmlns:a16="http://schemas.microsoft.com/office/drawing/2014/main" id="{8DDB3157-ACEE-B5A7-2EFA-E16198BDC3EC}"/>
              </a:ext>
            </a:extLst>
          </p:cNvPr>
          <p:cNvPicPr>
            <a:picLocks noChangeAspect="1"/>
          </p:cNvPicPr>
          <p:nvPr/>
        </p:nvPicPr>
        <p:blipFill>
          <a:blip r:embed="rId3"/>
          <a:stretch>
            <a:fillRect/>
          </a:stretch>
        </p:blipFill>
        <p:spPr>
          <a:xfrm>
            <a:off x="1673533" y="1263942"/>
            <a:ext cx="7415876" cy="4771099"/>
          </a:xfrm>
          <a:prstGeom prst="rect">
            <a:avLst/>
          </a:prstGeom>
        </p:spPr>
      </p:pic>
    </p:spTree>
    <p:extLst>
      <p:ext uri="{BB962C8B-B14F-4D97-AF65-F5344CB8AC3E}">
        <p14:creationId xmlns:p14="http://schemas.microsoft.com/office/powerpoint/2010/main" val="139348974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90940091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89CA43-375B-E06F-DDA8-39C523977ECB}"/>
              </a:ext>
            </a:extLst>
          </p:cNvPr>
          <p:cNvSpPr>
            <a:spLocks noGrp="1"/>
          </p:cNvSpPr>
          <p:nvPr>
            <p:ph type="title"/>
          </p:nvPr>
        </p:nvSpPr>
        <p:spPr>
          <a:xfrm>
            <a:off x="1312914" y="124868"/>
            <a:ext cx="8858250" cy="369332"/>
          </a:xfrm>
        </p:spPr>
        <p:txBody>
          <a:bodyPr/>
          <a:lstStyle/>
          <a:p>
            <a:r>
              <a:rPr lang="en-GB" dirty="0"/>
              <a:t>Results and discussion</a:t>
            </a:r>
          </a:p>
        </p:txBody>
      </p:sp>
      <p:pic>
        <p:nvPicPr>
          <p:cNvPr id="6" name="Content Placeholder 5">
            <a:extLst>
              <a:ext uri="{FF2B5EF4-FFF2-40B4-BE49-F238E27FC236}">
                <a16:creationId xmlns:a16="http://schemas.microsoft.com/office/drawing/2014/main" id="{B056F031-83F7-606A-084A-A4BC31E13100}"/>
              </a:ext>
            </a:extLst>
          </p:cNvPr>
          <p:cNvPicPr>
            <a:picLocks noGrp="1" noChangeAspect="1"/>
          </p:cNvPicPr>
          <p:nvPr>
            <p:ph sz="half" idx="2"/>
          </p:nvPr>
        </p:nvPicPr>
        <p:blipFill>
          <a:blip r:embed="rId2"/>
          <a:stretch>
            <a:fillRect/>
          </a:stretch>
        </p:blipFill>
        <p:spPr>
          <a:xfrm>
            <a:off x="520144" y="1321910"/>
            <a:ext cx="5664346" cy="3454805"/>
          </a:xfrm>
        </p:spPr>
      </p:pic>
      <p:pic>
        <p:nvPicPr>
          <p:cNvPr id="8" name="Picture 7">
            <a:extLst>
              <a:ext uri="{FF2B5EF4-FFF2-40B4-BE49-F238E27FC236}">
                <a16:creationId xmlns:a16="http://schemas.microsoft.com/office/drawing/2014/main" id="{540D3762-CFD2-058E-C050-17FC765A398F}"/>
              </a:ext>
            </a:extLst>
          </p:cNvPr>
          <p:cNvPicPr>
            <a:picLocks noChangeAspect="1"/>
          </p:cNvPicPr>
          <p:nvPr/>
        </p:nvPicPr>
        <p:blipFill>
          <a:blip r:embed="rId3"/>
          <a:stretch>
            <a:fillRect/>
          </a:stretch>
        </p:blipFill>
        <p:spPr>
          <a:xfrm>
            <a:off x="6322142" y="1212735"/>
            <a:ext cx="5010705" cy="4832389"/>
          </a:xfrm>
          <a:prstGeom prst="rect">
            <a:avLst/>
          </a:prstGeom>
        </p:spPr>
      </p:pic>
      <p:sp>
        <p:nvSpPr>
          <p:cNvPr id="10" name="TextBox 9">
            <a:extLst>
              <a:ext uri="{FF2B5EF4-FFF2-40B4-BE49-F238E27FC236}">
                <a16:creationId xmlns:a16="http://schemas.microsoft.com/office/drawing/2014/main" id="{39B8A0FE-5E43-FD6B-F974-E421E05271AF}"/>
              </a:ext>
            </a:extLst>
          </p:cNvPr>
          <p:cNvSpPr txBox="1"/>
          <p:nvPr/>
        </p:nvSpPr>
        <p:spPr>
          <a:xfrm>
            <a:off x="6695766" y="6133942"/>
            <a:ext cx="6096000" cy="369332"/>
          </a:xfrm>
          <a:prstGeom prst="rect">
            <a:avLst/>
          </a:prstGeom>
          <a:noFill/>
        </p:spPr>
        <p:txBody>
          <a:bodyPr wrap="square">
            <a:spAutoFit/>
          </a:bodyPr>
          <a:lstStyle/>
          <a:p>
            <a:r>
              <a:rPr lang="en-GB" b="1" dirty="0"/>
              <a:t>Vivo out side of the building  walk testing result  1</a:t>
            </a:r>
          </a:p>
        </p:txBody>
      </p:sp>
      <p:pic>
        <p:nvPicPr>
          <p:cNvPr id="11" name="Picture 10">
            <a:extLst>
              <a:ext uri="{FF2B5EF4-FFF2-40B4-BE49-F238E27FC236}">
                <a16:creationId xmlns:a16="http://schemas.microsoft.com/office/drawing/2014/main" id="{A3A6F9AB-77D1-FD93-1E8D-305FC363F61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592315" y="16284"/>
            <a:ext cx="1409897" cy="600159"/>
          </a:xfrm>
          <a:prstGeom prst="rect">
            <a:avLst/>
          </a:prstGeom>
        </p:spPr>
      </p:pic>
      <p:sp>
        <p:nvSpPr>
          <p:cNvPr id="3" name="TextBox 2">
            <a:extLst>
              <a:ext uri="{FF2B5EF4-FFF2-40B4-BE49-F238E27FC236}">
                <a16:creationId xmlns:a16="http://schemas.microsoft.com/office/drawing/2014/main" id="{BB7E82BB-7746-58B9-2AB7-3B59D7EE907E}"/>
              </a:ext>
            </a:extLst>
          </p:cNvPr>
          <p:cNvSpPr txBox="1"/>
          <p:nvPr/>
        </p:nvSpPr>
        <p:spPr>
          <a:xfrm>
            <a:off x="520143" y="3924152"/>
            <a:ext cx="5130029" cy="1200329"/>
          </a:xfrm>
          <a:prstGeom prst="rect">
            <a:avLst/>
          </a:prstGeom>
          <a:noFill/>
        </p:spPr>
        <p:txBody>
          <a:bodyPr wrap="square" rtlCol="0">
            <a:spAutoFit/>
          </a:bodyPr>
          <a:lstStyle/>
          <a:p>
            <a:pPr algn="ctr"/>
            <a:endParaRPr lang="en-US" b="1" dirty="0"/>
          </a:p>
          <a:p>
            <a:pPr algn="ctr"/>
            <a:endParaRPr lang="en-US" b="1" dirty="0"/>
          </a:p>
          <a:p>
            <a:pPr algn="ctr"/>
            <a:endParaRPr lang="en-US" b="1" dirty="0"/>
          </a:p>
          <a:p>
            <a:pPr algn="ctr"/>
            <a:r>
              <a:rPr lang="en-US" b="1" dirty="0"/>
              <a:t>Signal strength diagram</a:t>
            </a:r>
          </a:p>
        </p:txBody>
      </p:sp>
    </p:spTree>
    <p:extLst>
      <p:ext uri="{BB962C8B-B14F-4D97-AF65-F5344CB8AC3E}">
        <p14:creationId xmlns:p14="http://schemas.microsoft.com/office/powerpoint/2010/main" val="269630022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B4AF287E-D9C8-BF38-E49C-10EAFF088E72}"/>
              </a:ext>
            </a:extLst>
          </p:cNvPr>
          <p:cNvPicPr>
            <a:picLocks noChangeAspect="1"/>
          </p:cNvPicPr>
          <p:nvPr/>
        </p:nvPicPr>
        <p:blipFill>
          <a:blip r:embed="rId2"/>
          <a:stretch>
            <a:fillRect/>
          </a:stretch>
        </p:blipFill>
        <p:spPr>
          <a:xfrm>
            <a:off x="189788" y="597183"/>
            <a:ext cx="5326876" cy="2831817"/>
          </a:xfrm>
          <a:prstGeom prst="rect">
            <a:avLst/>
          </a:prstGeom>
        </p:spPr>
      </p:pic>
      <p:sp>
        <p:nvSpPr>
          <p:cNvPr id="8" name="TextBox 7">
            <a:extLst>
              <a:ext uri="{FF2B5EF4-FFF2-40B4-BE49-F238E27FC236}">
                <a16:creationId xmlns:a16="http://schemas.microsoft.com/office/drawing/2014/main" id="{B1620926-C350-0029-6176-6D1AF8ADA73E}"/>
              </a:ext>
            </a:extLst>
          </p:cNvPr>
          <p:cNvSpPr txBox="1"/>
          <p:nvPr/>
        </p:nvSpPr>
        <p:spPr>
          <a:xfrm>
            <a:off x="711150" y="3429000"/>
            <a:ext cx="4502294" cy="369332"/>
          </a:xfrm>
          <a:prstGeom prst="rect">
            <a:avLst/>
          </a:prstGeom>
          <a:noFill/>
        </p:spPr>
        <p:txBody>
          <a:bodyPr wrap="square">
            <a:spAutoFit/>
          </a:bodyPr>
          <a:lstStyle/>
          <a:p>
            <a:r>
              <a:rPr lang="en-GB" b="1" dirty="0"/>
              <a:t>RSRP verification results using </a:t>
            </a:r>
            <a:r>
              <a:rPr lang="en-GB" b="1" dirty="0" err="1"/>
              <a:t>matlab</a:t>
            </a:r>
            <a:r>
              <a:rPr lang="en-GB" b="1" dirty="0"/>
              <a:t>(VIVO)</a:t>
            </a:r>
          </a:p>
        </p:txBody>
      </p:sp>
      <p:pic>
        <p:nvPicPr>
          <p:cNvPr id="10" name="Picture 9">
            <a:extLst>
              <a:ext uri="{FF2B5EF4-FFF2-40B4-BE49-F238E27FC236}">
                <a16:creationId xmlns:a16="http://schemas.microsoft.com/office/drawing/2014/main" id="{FFBEFFBE-844B-8A1D-3CE8-80AA1DEF1DE3}"/>
              </a:ext>
            </a:extLst>
          </p:cNvPr>
          <p:cNvPicPr>
            <a:picLocks noChangeAspect="1"/>
          </p:cNvPicPr>
          <p:nvPr/>
        </p:nvPicPr>
        <p:blipFill>
          <a:blip r:embed="rId3"/>
          <a:stretch>
            <a:fillRect/>
          </a:stretch>
        </p:blipFill>
        <p:spPr>
          <a:xfrm>
            <a:off x="5595468" y="616443"/>
            <a:ext cx="5544965" cy="2856255"/>
          </a:xfrm>
          <a:prstGeom prst="rect">
            <a:avLst/>
          </a:prstGeom>
        </p:spPr>
      </p:pic>
      <p:sp>
        <p:nvSpPr>
          <p:cNvPr id="12" name="TextBox 11">
            <a:extLst>
              <a:ext uri="{FF2B5EF4-FFF2-40B4-BE49-F238E27FC236}">
                <a16:creationId xmlns:a16="http://schemas.microsoft.com/office/drawing/2014/main" id="{B47419FD-E8B5-2BC9-6B62-F48677C697AB}"/>
              </a:ext>
            </a:extLst>
          </p:cNvPr>
          <p:cNvSpPr txBox="1"/>
          <p:nvPr/>
        </p:nvSpPr>
        <p:spPr>
          <a:xfrm>
            <a:off x="5852395" y="3472698"/>
            <a:ext cx="4165062" cy="369332"/>
          </a:xfrm>
          <a:prstGeom prst="rect">
            <a:avLst/>
          </a:prstGeom>
          <a:noFill/>
        </p:spPr>
        <p:txBody>
          <a:bodyPr wrap="square">
            <a:spAutoFit/>
          </a:bodyPr>
          <a:lstStyle/>
          <a:p>
            <a:r>
              <a:rPr lang="en-GB" b="1" dirty="0" err="1"/>
              <a:t>Rsrq</a:t>
            </a:r>
            <a:r>
              <a:rPr lang="en-GB" b="1" dirty="0"/>
              <a:t> verification result of </a:t>
            </a:r>
            <a:r>
              <a:rPr lang="en-GB" b="1" dirty="0" err="1"/>
              <a:t>Matlab</a:t>
            </a:r>
            <a:r>
              <a:rPr lang="en-GB" b="1" dirty="0"/>
              <a:t>(VIVO)</a:t>
            </a:r>
          </a:p>
        </p:txBody>
      </p:sp>
      <p:pic>
        <p:nvPicPr>
          <p:cNvPr id="13" name="Picture 12">
            <a:extLst>
              <a:ext uri="{FF2B5EF4-FFF2-40B4-BE49-F238E27FC236}">
                <a16:creationId xmlns:a16="http://schemas.microsoft.com/office/drawing/2014/main" id="{C7BC2A37-4881-6C02-930E-BEE86F79AF0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592315" y="16284"/>
            <a:ext cx="1409897" cy="600159"/>
          </a:xfrm>
          <a:prstGeom prst="rect">
            <a:avLst/>
          </a:prstGeom>
        </p:spPr>
      </p:pic>
      <p:pic>
        <p:nvPicPr>
          <p:cNvPr id="3" name="Picture 2">
            <a:extLst>
              <a:ext uri="{FF2B5EF4-FFF2-40B4-BE49-F238E27FC236}">
                <a16:creationId xmlns:a16="http://schemas.microsoft.com/office/drawing/2014/main" id="{10688BCD-70CD-FCDC-6E01-C6CCCC6816F7}"/>
              </a:ext>
            </a:extLst>
          </p:cNvPr>
          <p:cNvPicPr>
            <a:picLocks noChangeAspect="1"/>
          </p:cNvPicPr>
          <p:nvPr/>
        </p:nvPicPr>
        <p:blipFill>
          <a:blip r:embed="rId5"/>
          <a:stretch>
            <a:fillRect/>
          </a:stretch>
        </p:blipFill>
        <p:spPr>
          <a:xfrm>
            <a:off x="271346" y="3873580"/>
            <a:ext cx="5163760" cy="2761727"/>
          </a:xfrm>
          <a:prstGeom prst="rect">
            <a:avLst/>
          </a:prstGeom>
        </p:spPr>
      </p:pic>
      <p:sp>
        <p:nvSpPr>
          <p:cNvPr id="4" name="TextBox 3">
            <a:extLst>
              <a:ext uri="{FF2B5EF4-FFF2-40B4-BE49-F238E27FC236}">
                <a16:creationId xmlns:a16="http://schemas.microsoft.com/office/drawing/2014/main" id="{733B93ED-8EE3-342F-BE3C-50438749BA09}"/>
              </a:ext>
            </a:extLst>
          </p:cNvPr>
          <p:cNvSpPr txBox="1"/>
          <p:nvPr/>
        </p:nvSpPr>
        <p:spPr>
          <a:xfrm>
            <a:off x="5595468" y="4121624"/>
            <a:ext cx="5991481" cy="369332"/>
          </a:xfrm>
          <a:prstGeom prst="rect">
            <a:avLst/>
          </a:prstGeom>
          <a:noFill/>
        </p:spPr>
        <p:txBody>
          <a:bodyPr wrap="square" rtlCol="0">
            <a:spAutoFit/>
          </a:bodyPr>
          <a:lstStyle/>
          <a:p>
            <a:r>
              <a:rPr lang="en-US" b="1" dirty="0"/>
              <a:t>SNR  verification result of out side of the building</a:t>
            </a:r>
          </a:p>
        </p:txBody>
      </p:sp>
      <p:sp>
        <p:nvSpPr>
          <p:cNvPr id="5" name="TextBox 4">
            <a:extLst>
              <a:ext uri="{FF2B5EF4-FFF2-40B4-BE49-F238E27FC236}">
                <a16:creationId xmlns:a16="http://schemas.microsoft.com/office/drawing/2014/main" id="{D2AC083A-36CD-B30C-6B6D-8801DBCC999A}"/>
              </a:ext>
            </a:extLst>
          </p:cNvPr>
          <p:cNvSpPr txBox="1"/>
          <p:nvPr/>
        </p:nvSpPr>
        <p:spPr>
          <a:xfrm>
            <a:off x="5595468" y="4490956"/>
            <a:ext cx="5882299" cy="2031325"/>
          </a:xfrm>
          <a:prstGeom prst="rect">
            <a:avLst/>
          </a:prstGeom>
          <a:noFill/>
          <a:ln>
            <a:solidFill>
              <a:srgbClr val="7030A0"/>
            </a:solidFill>
          </a:ln>
        </p:spPr>
        <p:txBody>
          <a:bodyPr wrap="square" rtlCol="0">
            <a:spAutoFit/>
          </a:bodyPr>
          <a:lstStyle/>
          <a:p>
            <a:r>
              <a:rPr lang="en-US" dirty="0"/>
              <a:t>Good-RSRQ (-12)</a:t>
            </a:r>
          </a:p>
          <a:p>
            <a:endParaRPr lang="en-US" dirty="0"/>
          </a:p>
          <a:p>
            <a:r>
              <a:rPr lang="en-US" dirty="0"/>
              <a:t>Acceptable- RSRP (-71 dBm)</a:t>
            </a:r>
          </a:p>
          <a:p>
            <a:endParaRPr lang="en-US" dirty="0"/>
          </a:p>
          <a:p>
            <a:r>
              <a:rPr lang="en-US" dirty="0"/>
              <a:t>Needs improvement - SNR (3.5)</a:t>
            </a:r>
          </a:p>
          <a:p>
            <a:endParaRPr lang="en-US" dirty="0"/>
          </a:p>
          <a:p>
            <a:r>
              <a:rPr lang="en-US" dirty="0"/>
              <a:t>RSRP: -71 dBm: This is a strong</a:t>
            </a:r>
          </a:p>
        </p:txBody>
      </p:sp>
      <p:sp>
        <p:nvSpPr>
          <p:cNvPr id="9" name="Right Brace 8">
            <a:extLst>
              <a:ext uri="{FF2B5EF4-FFF2-40B4-BE49-F238E27FC236}">
                <a16:creationId xmlns:a16="http://schemas.microsoft.com/office/drawing/2014/main" id="{CB513F14-3ADD-9843-1E8E-EE7799733A60}"/>
              </a:ext>
            </a:extLst>
          </p:cNvPr>
          <p:cNvSpPr/>
          <p:nvPr/>
        </p:nvSpPr>
        <p:spPr>
          <a:xfrm>
            <a:off x="8591208" y="4655437"/>
            <a:ext cx="1160060" cy="1702362"/>
          </a:xfrm>
          <a:prstGeom prst="rightBrace">
            <a:avLst/>
          </a:prstGeom>
        </p:spPr>
        <p:style>
          <a:lnRef idx="3">
            <a:schemeClr val="accent4"/>
          </a:lnRef>
          <a:fillRef idx="0">
            <a:schemeClr val="accent4"/>
          </a:fillRef>
          <a:effectRef idx="2">
            <a:schemeClr val="accent4"/>
          </a:effectRef>
          <a:fontRef idx="minor">
            <a:schemeClr val="tx1"/>
          </a:fontRef>
        </p:style>
        <p:txBody>
          <a:bodyPr rtlCol="0" anchor="ctr"/>
          <a:lstStyle/>
          <a:p>
            <a:pPr algn="ctr"/>
            <a:endParaRPr lang="en-US"/>
          </a:p>
        </p:txBody>
      </p:sp>
      <p:sp>
        <p:nvSpPr>
          <p:cNvPr id="11" name="TextBox 10">
            <a:extLst>
              <a:ext uri="{FF2B5EF4-FFF2-40B4-BE49-F238E27FC236}">
                <a16:creationId xmlns:a16="http://schemas.microsoft.com/office/drawing/2014/main" id="{A2908CA1-CA72-2A01-3892-56661BD22812}"/>
              </a:ext>
            </a:extLst>
          </p:cNvPr>
          <p:cNvSpPr txBox="1"/>
          <p:nvPr/>
        </p:nvSpPr>
        <p:spPr>
          <a:xfrm>
            <a:off x="10017457" y="4860288"/>
            <a:ext cx="1160060" cy="1477328"/>
          </a:xfrm>
          <a:prstGeom prst="rect">
            <a:avLst/>
          </a:prstGeom>
          <a:noFill/>
        </p:spPr>
        <p:txBody>
          <a:bodyPr wrap="square" rtlCol="0">
            <a:spAutoFit/>
          </a:bodyPr>
          <a:lstStyle/>
          <a:p>
            <a:r>
              <a:rPr lang="en-US" dirty="0"/>
              <a:t>Finalize result of out side of the building</a:t>
            </a:r>
          </a:p>
        </p:txBody>
      </p:sp>
    </p:spTree>
    <p:extLst>
      <p:ext uri="{BB962C8B-B14F-4D97-AF65-F5344CB8AC3E}">
        <p14:creationId xmlns:p14="http://schemas.microsoft.com/office/powerpoint/2010/main" val="318080418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6D66E4A0-99BA-6E09-9286-0E2D934A836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592315" y="16284"/>
            <a:ext cx="1409897" cy="600159"/>
          </a:xfrm>
          <a:prstGeom prst="rect">
            <a:avLst/>
          </a:prstGeom>
        </p:spPr>
      </p:pic>
      <p:sp>
        <p:nvSpPr>
          <p:cNvPr id="3" name="TextBox 2">
            <a:extLst>
              <a:ext uri="{FF2B5EF4-FFF2-40B4-BE49-F238E27FC236}">
                <a16:creationId xmlns:a16="http://schemas.microsoft.com/office/drawing/2014/main" id="{FF526692-C580-F535-B1F8-7830BE8E284B}"/>
              </a:ext>
            </a:extLst>
          </p:cNvPr>
          <p:cNvSpPr txBox="1"/>
          <p:nvPr/>
        </p:nvSpPr>
        <p:spPr>
          <a:xfrm>
            <a:off x="696036" y="491319"/>
            <a:ext cx="9703558" cy="3754874"/>
          </a:xfrm>
          <a:prstGeom prst="rect">
            <a:avLst/>
          </a:prstGeom>
          <a:noFill/>
        </p:spPr>
        <p:txBody>
          <a:bodyPr wrap="square" rtlCol="0">
            <a:spAutoFit/>
          </a:bodyPr>
          <a:lstStyle/>
          <a:p>
            <a:r>
              <a:rPr lang="en-US" sz="2000" b="1" dirty="0"/>
              <a:t>1st-floor result, verification, and implementation</a:t>
            </a:r>
          </a:p>
          <a:p>
            <a:endParaRPr lang="en-US" sz="2000" b="1" dirty="0"/>
          </a:p>
          <a:p>
            <a:endParaRPr lang="en-US" b="1" dirty="0"/>
          </a:p>
          <a:p>
            <a:endParaRPr lang="en-US" b="1" dirty="0"/>
          </a:p>
          <a:p>
            <a:endParaRPr lang="en-US" b="1" dirty="0"/>
          </a:p>
          <a:p>
            <a:endParaRPr lang="en-US" b="1" dirty="0"/>
          </a:p>
          <a:p>
            <a:endParaRPr lang="en-US" b="1" dirty="0"/>
          </a:p>
          <a:p>
            <a:endParaRPr lang="en-US" b="1" dirty="0"/>
          </a:p>
          <a:p>
            <a:endParaRPr lang="en-US" b="1" dirty="0"/>
          </a:p>
          <a:p>
            <a:endParaRPr lang="en-US" b="1" dirty="0"/>
          </a:p>
          <a:p>
            <a:endParaRPr lang="en-US" b="1" dirty="0"/>
          </a:p>
          <a:p>
            <a:endParaRPr lang="en-US" b="1" dirty="0"/>
          </a:p>
          <a:p>
            <a:r>
              <a:rPr lang="en-US" b="1" dirty="0"/>
              <a:t> </a:t>
            </a:r>
          </a:p>
        </p:txBody>
      </p:sp>
      <p:pic>
        <p:nvPicPr>
          <p:cNvPr id="5" name="Picture 4">
            <a:extLst>
              <a:ext uri="{FF2B5EF4-FFF2-40B4-BE49-F238E27FC236}">
                <a16:creationId xmlns:a16="http://schemas.microsoft.com/office/drawing/2014/main" id="{2F0ACEEF-98DA-44A1-1608-7E38BDC9B739}"/>
              </a:ext>
            </a:extLst>
          </p:cNvPr>
          <p:cNvPicPr>
            <a:picLocks noChangeAspect="1"/>
          </p:cNvPicPr>
          <p:nvPr/>
        </p:nvPicPr>
        <p:blipFill>
          <a:blip r:embed="rId3"/>
          <a:stretch>
            <a:fillRect/>
          </a:stretch>
        </p:blipFill>
        <p:spPr>
          <a:xfrm>
            <a:off x="356249" y="937983"/>
            <a:ext cx="6826354" cy="3873735"/>
          </a:xfrm>
          <a:prstGeom prst="rect">
            <a:avLst/>
          </a:prstGeom>
        </p:spPr>
      </p:pic>
      <p:pic>
        <p:nvPicPr>
          <p:cNvPr id="9" name="Picture 8">
            <a:extLst>
              <a:ext uri="{FF2B5EF4-FFF2-40B4-BE49-F238E27FC236}">
                <a16:creationId xmlns:a16="http://schemas.microsoft.com/office/drawing/2014/main" id="{A4E1A34B-E83E-1133-886A-13E3ED36A496}"/>
              </a:ext>
            </a:extLst>
          </p:cNvPr>
          <p:cNvPicPr>
            <a:picLocks noChangeAspect="1"/>
          </p:cNvPicPr>
          <p:nvPr/>
        </p:nvPicPr>
        <p:blipFill>
          <a:blip r:embed="rId4"/>
          <a:stretch>
            <a:fillRect/>
          </a:stretch>
        </p:blipFill>
        <p:spPr>
          <a:xfrm>
            <a:off x="7182603" y="875686"/>
            <a:ext cx="4486901" cy="4563112"/>
          </a:xfrm>
          <a:prstGeom prst="rect">
            <a:avLst/>
          </a:prstGeom>
        </p:spPr>
      </p:pic>
      <p:sp>
        <p:nvSpPr>
          <p:cNvPr id="12" name="TextBox 11">
            <a:extLst>
              <a:ext uri="{FF2B5EF4-FFF2-40B4-BE49-F238E27FC236}">
                <a16:creationId xmlns:a16="http://schemas.microsoft.com/office/drawing/2014/main" id="{92B776E2-D1DC-A105-03BE-E1966576A09C}"/>
              </a:ext>
            </a:extLst>
          </p:cNvPr>
          <p:cNvSpPr txBox="1"/>
          <p:nvPr/>
        </p:nvSpPr>
        <p:spPr>
          <a:xfrm>
            <a:off x="2110854" y="4811718"/>
            <a:ext cx="3985146" cy="369332"/>
          </a:xfrm>
          <a:prstGeom prst="rect">
            <a:avLst/>
          </a:prstGeom>
          <a:noFill/>
        </p:spPr>
        <p:txBody>
          <a:bodyPr wrap="square" rtlCol="0">
            <a:spAutoFit/>
          </a:bodyPr>
          <a:lstStyle/>
          <a:p>
            <a:r>
              <a:rPr lang="en-US" b="1" dirty="0"/>
              <a:t>1st-floor cad drawing</a:t>
            </a:r>
          </a:p>
        </p:txBody>
      </p:sp>
      <p:sp>
        <p:nvSpPr>
          <p:cNvPr id="13" name="TextBox 12">
            <a:extLst>
              <a:ext uri="{FF2B5EF4-FFF2-40B4-BE49-F238E27FC236}">
                <a16:creationId xmlns:a16="http://schemas.microsoft.com/office/drawing/2014/main" id="{3EE5CE8F-F886-4F88-59AA-DCFA26B33460}"/>
              </a:ext>
            </a:extLst>
          </p:cNvPr>
          <p:cNvSpPr txBox="1"/>
          <p:nvPr/>
        </p:nvSpPr>
        <p:spPr>
          <a:xfrm>
            <a:off x="7590629" y="5612982"/>
            <a:ext cx="3955377" cy="369332"/>
          </a:xfrm>
          <a:prstGeom prst="rect">
            <a:avLst/>
          </a:prstGeom>
          <a:noFill/>
        </p:spPr>
        <p:txBody>
          <a:bodyPr wrap="square" rtlCol="0">
            <a:spAutoFit/>
          </a:bodyPr>
          <a:lstStyle/>
          <a:p>
            <a:r>
              <a:rPr lang="en-US" b="1" dirty="0"/>
              <a:t>Walk testing result of first floor</a:t>
            </a:r>
          </a:p>
        </p:txBody>
      </p:sp>
    </p:spTree>
    <p:extLst>
      <p:ext uri="{BB962C8B-B14F-4D97-AF65-F5344CB8AC3E}">
        <p14:creationId xmlns:p14="http://schemas.microsoft.com/office/powerpoint/2010/main" val="366758865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2A38552D-8137-1852-FA1D-13B1B944511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592315" y="16284"/>
            <a:ext cx="1409897" cy="600159"/>
          </a:xfrm>
          <a:prstGeom prst="rect">
            <a:avLst/>
          </a:prstGeom>
        </p:spPr>
      </p:pic>
      <p:sp>
        <p:nvSpPr>
          <p:cNvPr id="2" name="TextBox 1">
            <a:extLst>
              <a:ext uri="{FF2B5EF4-FFF2-40B4-BE49-F238E27FC236}">
                <a16:creationId xmlns:a16="http://schemas.microsoft.com/office/drawing/2014/main" id="{B3F19A56-BFDD-FD0F-4EB9-A2083E5C5BB9}"/>
              </a:ext>
            </a:extLst>
          </p:cNvPr>
          <p:cNvSpPr txBox="1"/>
          <p:nvPr/>
        </p:nvSpPr>
        <p:spPr>
          <a:xfrm>
            <a:off x="645994" y="2156347"/>
            <a:ext cx="11204812" cy="3971498"/>
          </a:xfrm>
          <a:prstGeom prst="rect">
            <a:avLst/>
          </a:prstGeom>
          <a:noFill/>
        </p:spPr>
        <p:txBody>
          <a:bodyPr wrap="square" rtlCol="0">
            <a:spAutoFit/>
          </a:bodyPr>
          <a:lstStyle/>
          <a:p>
            <a:endParaRPr lang="en-US" dirty="0"/>
          </a:p>
        </p:txBody>
      </p:sp>
      <p:pic>
        <p:nvPicPr>
          <p:cNvPr id="4" name="Picture 3">
            <a:extLst>
              <a:ext uri="{FF2B5EF4-FFF2-40B4-BE49-F238E27FC236}">
                <a16:creationId xmlns:a16="http://schemas.microsoft.com/office/drawing/2014/main" id="{F25245A9-CB41-93A0-5578-7ABA69E77DA6}"/>
              </a:ext>
            </a:extLst>
          </p:cNvPr>
          <p:cNvPicPr>
            <a:picLocks noChangeAspect="1"/>
          </p:cNvPicPr>
          <p:nvPr/>
        </p:nvPicPr>
        <p:blipFill>
          <a:blip r:embed="rId3"/>
          <a:stretch>
            <a:fillRect/>
          </a:stretch>
        </p:blipFill>
        <p:spPr>
          <a:xfrm>
            <a:off x="504023" y="557536"/>
            <a:ext cx="5744377" cy="3778728"/>
          </a:xfrm>
          <a:prstGeom prst="rect">
            <a:avLst/>
          </a:prstGeom>
        </p:spPr>
      </p:pic>
      <p:pic>
        <p:nvPicPr>
          <p:cNvPr id="7" name="Picture 6">
            <a:extLst>
              <a:ext uri="{FF2B5EF4-FFF2-40B4-BE49-F238E27FC236}">
                <a16:creationId xmlns:a16="http://schemas.microsoft.com/office/drawing/2014/main" id="{EB0925DF-307B-21AD-AE2F-DA585A852A4A}"/>
              </a:ext>
            </a:extLst>
          </p:cNvPr>
          <p:cNvPicPr>
            <a:picLocks noChangeAspect="1"/>
          </p:cNvPicPr>
          <p:nvPr/>
        </p:nvPicPr>
        <p:blipFill>
          <a:blip r:embed="rId4"/>
          <a:stretch>
            <a:fillRect/>
          </a:stretch>
        </p:blipFill>
        <p:spPr>
          <a:xfrm>
            <a:off x="493594" y="4229751"/>
            <a:ext cx="6726072" cy="2239287"/>
          </a:xfrm>
          <a:prstGeom prst="rect">
            <a:avLst/>
          </a:prstGeom>
        </p:spPr>
      </p:pic>
      <p:sp>
        <p:nvSpPr>
          <p:cNvPr id="9" name="Right Brace 8">
            <a:extLst>
              <a:ext uri="{FF2B5EF4-FFF2-40B4-BE49-F238E27FC236}">
                <a16:creationId xmlns:a16="http://schemas.microsoft.com/office/drawing/2014/main" id="{995C9298-65E1-1555-980D-7F8D717BBD6A}"/>
              </a:ext>
            </a:extLst>
          </p:cNvPr>
          <p:cNvSpPr/>
          <p:nvPr/>
        </p:nvSpPr>
        <p:spPr>
          <a:xfrm>
            <a:off x="7219666" y="1842448"/>
            <a:ext cx="1282889" cy="4285397"/>
          </a:xfrm>
          <a:prstGeom prst="rightBrace">
            <a:avLst/>
          </a:prstGeom>
        </p:spPr>
        <p:style>
          <a:lnRef idx="3">
            <a:schemeClr val="accent4"/>
          </a:lnRef>
          <a:fillRef idx="0">
            <a:schemeClr val="accent4"/>
          </a:fillRef>
          <a:effectRef idx="2">
            <a:schemeClr val="accent4"/>
          </a:effectRef>
          <a:fontRef idx="minor">
            <a:schemeClr val="tx1"/>
          </a:fontRef>
        </p:style>
        <p:txBody>
          <a:bodyPr rtlCol="0" anchor="ctr"/>
          <a:lstStyle/>
          <a:p>
            <a:pPr algn="ctr"/>
            <a:endParaRPr lang="en-US"/>
          </a:p>
        </p:txBody>
      </p:sp>
      <p:sp>
        <p:nvSpPr>
          <p:cNvPr id="11" name="TextBox 10">
            <a:extLst>
              <a:ext uri="{FF2B5EF4-FFF2-40B4-BE49-F238E27FC236}">
                <a16:creationId xmlns:a16="http://schemas.microsoft.com/office/drawing/2014/main" id="{49D60C1D-2728-24DA-F5AB-2483BB3ECB6F}"/>
              </a:ext>
            </a:extLst>
          </p:cNvPr>
          <p:cNvSpPr txBox="1"/>
          <p:nvPr/>
        </p:nvSpPr>
        <p:spPr>
          <a:xfrm>
            <a:off x="8654955" y="3523481"/>
            <a:ext cx="1951630" cy="1754326"/>
          </a:xfrm>
          <a:prstGeom prst="rect">
            <a:avLst/>
          </a:prstGeom>
          <a:noFill/>
          <a:ln>
            <a:solidFill>
              <a:schemeClr val="tx2"/>
            </a:solidFill>
          </a:ln>
        </p:spPr>
        <p:txBody>
          <a:bodyPr wrap="square" rtlCol="0">
            <a:spAutoFit/>
          </a:bodyPr>
          <a:lstStyle/>
          <a:p>
            <a:r>
              <a:rPr lang="en-US" dirty="0"/>
              <a:t>1</a:t>
            </a:r>
            <a:r>
              <a:rPr lang="en-US" baseline="30000" dirty="0"/>
              <a:t>st</a:t>
            </a:r>
            <a:r>
              <a:rPr lang="en-US" dirty="0"/>
              <a:t> floor finalizing verification   result of </a:t>
            </a:r>
            <a:r>
              <a:rPr lang="en-US" dirty="0" err="1"/>
              <a:t>Matlab</a:t>
            </a:r>
            <a:r>
              <a:rPr lang="en-US" dirty="0"/>
              <a:t> , signal power is lower than outside of the building .</a:t>
            </a:r>
          </a:p>
        </p:txBody>
      </p:sp>
    </p:spTree>
    <p:extLst>
      <p:ext uri="{BB962C8B-B14F-4D97-AF65-F5344CB8AC3E}">
        <p14:creationId xmlns:p14="http://schemas.microsoft.com/office/powerpoint/2010/main" val="118023073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Picture 13">
            <a:extLst>
              <a:ext uri="{FF2B5EF4-FFF2-40B4-BE49-F238E27FC236}">
                <a16:creationId xmlns:a16="http://schemas.microsoft.com/office/drawing/2014/main" id="{41704BBA-8F2E-590B-1009-47184AFA4D2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592315" y="16284"/>
            <a:ext cx="1409897" cy="600159"/>
          </a:xfrm>
          <a:prstGeom prst="rect">
            <a:avLst/>
          </a:prstGeom>
        </p:spPr>
      </p:pic>
      <p:sp>
        <p:nvSpPr>
          <p:cNvPr id="2" name="TextBox 1">
            <a:extLst>
              <a:ext uri="{FF2B5EF4-FFF2-40B4-BE49-F238E27FC236}">
                <a16:creationId xmlns:a16="http://schemas.microsoft.com/office/drawing/2014/main" id="{4FDE8642-1C92-FCF8-395D-9769B5D4833D}"/>
              </a:ext>
            </a:extLst>
          </p:cNvPr>
          <p:cNvSpPr txBox="1"/>
          <p:nvPr/>
        </p:nvSpPr>
        <p:spPr>
          <a:xfrm>
            <a:off x="1187354" y="616443"/>
            <a:ext cx="8993875" cy="1323439"/>
          </a:xfrm>
          <a:prstGeom prst="rect">
            <a:avLst/>
          </a:prstGeom>
          <a:noFill/>
        </p:spPr>
        <p:txBody>
          <a:bodyPr wrap="square" rtlCol="0">
            <a:spAutoFit/>
          </a:bodyPr>
          <a:lstStyle/>
          <a:p>
            <a:r>
              <a:rPr lang="en-US" sz="2000" b="1" dirty="0"/>
              <a:t>2nd-floor result, verification, and implementation</a:t>
            </a:r>
          </a:p>
          <a:p>
            <a:endParaRPr lang="en-US" sz="2000" b="1" dirty="0"/>
          </a:p>
          <a:p>
            <a:endParaRPr lang="en-US" sz="2000" b="1" dirty="0"/>
          </a:p>
          <a:p>
            <a:endParaRPr lang="en-US" sz="2000" b="1" dirty="0"/>
          </a:p>
        </p:txBody>
      </p:sp>
      <p:pic>
        <p:nvPicPr>
          <p:cNvPr id="4" name="Picture 3">
            <a:extLst>
              <a:ext uri="{FF2B5EF4-FFF2-40B4-BE49-F238E27FC236}">
                <a16:creationId xmlns:a16="http://schemas.microsoft.com/office/drawing/2014/main" id="{CA931418-602F-F2F2-AB17-925363EBBCAC}"/>
              </a:ext>
            </a:extLst>
          </p:cNvPr>
          <p:cNvPicPr>
            <a:picLocks noChangeAspect="1"/>
          </p:cNvPicPr>
          <p:nvPr/>
        </p:nvPicPr>
        <p:blipFill>
          <a:blip r:embed="rId3"/>
          <a:stretch>
            <a:fillRect/>
          </a:stretch>
        </p:blipFill>
        <p:spPr>
          <a:xfrm>
            <a:off x="347442" y="935153"/>
            <a:ext cx="6488940" cy="4387473"/>
          </a:xfrm>
          <a:prstGeom prst="rect">
            <a:avLst/>
          </a:prstGeom>
        </p:spPr>
      </p:pic>
      <p:pic>
        <p:nvPicPr>
          <p:cNvPr id="7" name="Picture 6">
            <a:extLst>
              <a:ext uri="{FF2B5EF4-FFF2-40B4-BE49-F238E27FC236}">
                <a16:creationId xmlns:a16="http://schemas.microsoft.com/office/drawing/2014/main" id="{0933B671-EAFD-1D4F-7809-3228B975804E}"/>
              </a:ext>
            </a:extLst>
          </p:cNvPr>
          <p:cNvPicPr>
            <a:picLocks noChangeAspect="1"/>
          </p:cNvPicPr>
          <p:nvPr/>
        </p:nvPicPr>
        <p:blipFill>
          <a:blip r:embed="rId4"/>
          <a:stretch>
            <a:fillRect/>
          </a:stretch>
        </p:blipFill>
        <p:spPr>
          <a:xfrm>
            <a:off x="7041751" y="536007"/>
            <a:ext cx="3235013" cy="4831514"/>
          </a:xfrm>
          <a:prstGeom prst="rect">
            <a:avLst/>
          </a:prstGeom>
        </p:spPr>
      </p:pic>
      <p:sp>
        <p:nvSpPr>
          <p:cNvPr id="9" name="TextBox 8">
            <a:extLst>
              <a:ext uri="{FF2B5EF4-FFF2-40B4-BE49-F238E27FC236}">
                <a16:creationId xmlns:a16="http://schemas.microsoft.com/office/drawing/2014/main" id="{CECF48BE-B120-FB2B-9845-611EE93D076B}"/>
              </a:ext>
            </a:extLst>
          </p:cNvPr>
          <p:cNvSpPr txBox="1"/>
          <p:nvPr/>
        </p:nvSpPr>
        <p:spPr>
          <a:xfrm>
            <a:off x="941696" y="5766667"/>
            <a:ext cx="4858603" cy="374826"/>
          </a:xfrm>
          <a:prstGeom prst="rect">
            <a:avLst/>
          </a:prstGeom>
          <a:noFill/>
        </p:spPr>
        <p:txBody>
          <a:bodyPr wrap="square" rtlCol="0">
            <a:spAutoFit/>
          </a:bodyPr>
          <a:lstStyle/>
          <a:p>
            <a:pPr algn="ctr"/>
            <a:r>
              <a:rPr lang="en-US" b="1" dirty="0"/>
              <a:t>Cad drawing of 2</a:t>
            </a:r>
            <a:r>
              <a:rPr lang="en-US" b="1" baseline="30000" dirty="0"/>
              <a:t>nd</a:t>
            </a:r>
            <a:r>
              <a:rPr lang="en-US" b="1" dirty="0"/>
              <a:t> floor</a:t>
            </a:r>
          </a:p>
        </p:txBody>
      </p:sp>
      <p:sp>
        <p:nvSpPr>
          <p:cNvPr id="11" name="TextBox 10">
            <a:extLst>
              <a:ext uri="{FF2B5EF4-FFF2-40B4-BE49-F238E27FC236}">
                <a16:creationId xmlns:a16="http://schemas.microsoft.com/office/drawing/2014/main" id="{FEF6F72C-F9E6-AFCA-7DD7-A87435F02067}"/>
              </a:ext>
            </a:extLst>
          </p:cNvPr>
          <p:cNvSpPr txBox="1"/>
          <p:nvPr/>
        </p:nvSpPr>
        <p:spPr>
          <a:xfrm>
            <a:off x="7151933" y="5766667"/>
            <a:ext cx="3235013" cy="374826"/>
          </a:xfrm>
          <a:prstGeom prst="rect">
            <a:avLst/>
          </a:prstGeom>
          <a:noFill/>
        </p:spPr>
        <p:txBody>
          <a:bodyPr wrap="square" rtlCol="0">
            <a:spAutoFit/>
          </a:bodyPr>
          <a:lstStyle/>
          <a:p>
            <a:r>
              <a:rPr lang="en-US" b="1" dirty="0"/>
              <a:t>Walk testing result of 2</a:t>
            </a:r>
            <a:r>
              <a:rPr lang="en-US" b="1" baseline="30000" dirty="0"/>
              <a:t>nd</a:t>
            </a:r>
            <a:r>
              <a:rPr lang="en-US" b="1" dirty="0"/>
              <a:t> floor</a:t>
            </a:r>
          </a:p>
        </p:txBody>
      </p:sp>
    </p:spTree>
    <p:extLst>
      <p:ext uri="{BB962C8B-B14F-4D97-AF65-F5344CB8AC3E}">
        <p14:creationId xmlns:p14="http://schemas.microsoft.com/office/powerpoint/2010/main" val="61987656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CB8C26D1-AC20-37F0-101C-D9CD5432BDF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592315" y="16284"/>
            <a:ext cx="1409897" cy="600159"/>
          </a:xfrm>
          <a:prstGeom prst="rect">
            <a:avLst/>
          </a:prstGeom>
        </p:spPr>
      </p:pic>
      <p:pic>
        <p:nvPicPr>
          <p:cNvPr id="3" name="Picture 2">
            <a:extLst>
              <a:ext uri="{FF2B5EF4-FFF2-40B4-BE49-F238E27FC236}">
                <a16:creationId xmlns:a16="http://schemas.microsoft.com/office/drawing/2014/main" id="{63DBBEA4-35CF-E17A-C1FC-EADC283AE4D6}"/>
              </a:ext>
            </a:extLst>
          </p:cNvPr>
          <p:cNvPicPr>
            <a:picLocks noChangeAspect="1"/>
          </p:cNvPicPr>
          <p:nvPr/>
        </p:nvPicPr>
        <p:blipFill>
          <a:blip r:embed="rId3"/>
          <a:stretch>
            <a:fillRect/>
          </a:stretch>
        </p:blipFill>
        <p:spPr>
          <a:xfrm>
            <a:off x="634217" y="609206"/>
            <a:ext cx="5792008" cy="2819794"/>
          </a:xfrm>
          <a:prstGeom prst="rect">
            <a:avLst/>
          </a:prstGeom>
        </p:spPr>
      </p:pic>
      <p:pic>
        <p:nvPicPr>
          <p:cNvPr id="5" name="Picture 4">
            <a:extLst>
              <a:ext uri="{FF2B5EF4-FFF2-40B4-BE49-F238E27FC236}">
                <a16:creationId xmlns:a16="http://schemas.microsoft.com/office/drawing/2014/main" id="{5C6B6651-FD8D-4F33-614A-B46E8B1F0F46}"/>
              </a:ext>
            </a:extLst>
          </p:cNvPr>
          <p:cNvPicPr>
            <a:picLocks noChangeAspect="1"/>
          </p:cNvPicPr>
          <p:nvPr/>
        </p:nvPicPr>
        <p:blipFill>
          <a:blip r:embed="rId4"/>
          <a:stretch>
            <a:fillRect/>
          </a:stretch>
        </p:blipFill>
        <p:spPr>
          <a:xfrm>
            <a:off x="6652532" y="939860"/>
            <a:ext cx="4243908" cy="3618491"/>
          </a:xfrm>
          <a:prstGeom prst="rect">
            <a:avLst/>
          </a:prstGeom>
        </p:spPr>
      </p:pic>
      <p:sp>
        <p:nvSpPr>
          <p:cNvPr id="7" name="Right Brace 6">
            <a:extLst>
              <a:ext uri="{FF2B5EF4-FFF2-40B4-BE49-F238E27FC236}">
                <a16:creationId xmlns:a16="http://schemas.microsoft.com/office/drawing/2014/main" id="{E36CD79C-F3FA-7630-3150-C1404622E1E3}"/>
              </a:ext>
            </a:extLst>
          </p:cNvPr>
          <p:cNvSpPr/>
          <p:nvPr/>
        </p:nvSpPr>
        <p:spPr>
          <a:xfrm rot="5400000">
            <a:off x="4615979" y="3224660"/>
            <a:ext cx="702859" cy="3370245"/>
          </a:xfrm>
          <a:prstGeom prst="rightBrace">
            <a:avLst/>
          </a:prstGeom>
        </p:spPr>
        <p:style>
          <a:lnRef idx="3">
            <a:schemeClr val="accent4"/>
          </a:lnRef>
          <a:fillRef idx="0">
            <a:schemeClr val="accent4"/>
          </a:fillRef>
          <a:effectRef idx="2">
            <a:schemeClr val="accent4"/>
          </a:effectRef>
          <a:fontRef idx="minor">
            <a:schemeClr val="tx1"/>
          </a:fontRef>
        </p:style>
        <p:txBody>
          <a:bodyPr rtlCol="0" anchor="ctr"/>
          <a:lstStyle/>
          <a:p>
            <a:pPr algn="ctr"/>
            <a:endParaRPr lang="en-US"/>
          </a:p>
        </p:txBody>
      </p:sp>
      <p:sp>
        <p:nvSpPr>
          <p:cNvPr id="9" name="TextBox 8">
            <a:extLst>
              <a:ext uri="{FF2B5EF4-FFF2-40B4-BE49-F238E27FC236}">
                <a16:creationId xmlns:a16="http://schemas.microsoft.com/office/drawing/2014/main" id="{FD71744B-DC6E-9555-8495-CBD6897378FF}"/>
              </a:ext>
            </a:extLst>
          </p:cNvPr>
          <p:cNvSpPr txBox="1"/>
          <p:nvPr/>
        </p:nvSpPr>
        <p:spPr>
          <a:xfrm>
            <a:off x="341194" y="5459104"/>
            <a:ext cx="10555246" cy="923330"/>
          </a:xfrm>
          <a:prstGeom prst="rect">
            <a:avLst/>
          </a:prstGeom>
          <a:noFill/>
          <a:ln>
            <a:solidFill>
              <a:srgbClr val="002060"/>
            </a:solidFill>
          </a:ln>
        </p:spPr>
        <p:txBody>
          <a:bodyPr wrap="square" rtlCol="0">
            <a:spAutoFit/>
          </a:bodyPr>
          <a:lstStyle/>
          <a:p>
            <a:pPr algn="ctr"/>
            <a:r>
              <a:rPr lang="en-US" b="1" dirty="0"/>
              <a:t>(MATLAB verification result) signal strength on the 2nd floor appears acceptable for basic use, judging by the RSRP, </a:t>
            </a:r>
          </a:p>
          <a:p>
            <a:pPr algn="ctr"/>
            <a:r>
              <a:rPr lang="en-US" b="1" dirty="0"/>
              <a:t>RSRQ, and SNR values. However, occasional call drops or slow data speeds may still occur</a:t>
            </a:r>
          </a:p>
        </p:txBody>
      </p:sp>
    </p:spTree>
    <p:extLst>
      <p:ext uri="{BB962C8B-B14F-4D97-AF65-F5344CB8AC3E}">
        <p14:creationId xmlns:p14="http://schemas.microsoft.com/office/powerpoint/2010/main" val="81139947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77B53195-E8E3-6DDC-E787-1B4B15FD173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592315" y="16284"/>
            <a:ext cx="1409897" cy="600159"/>
          </a:xfrm>
          <a:prstGeom prst="rect">
            <a:avLst/>
          </a:prstGeom>
        </p:spPr>
      </p:pic>
      <p:sp>
        <p:nvSpPr>
          <p:cNvPr id="10" name="TextBox 9">
            <a:extLst>
              <a:ext uri="{FF2B5EF4-FFF2-40B4-BE49-F238E27FC236}">
                <a16:creationId xmlns:a16="http://schemas.microsoft.com/office/drawing/2014/main" id="{1B606AD3-7EA7-8DC3-DB59-D97E54FBC6F1}"/>
              </a:ext>
            </a:extLst>
          </p:cNvPr>
          <p:cNvSpPr txBox="1"/>
          <p:nvPr/>
        </p:nvSpPr>
        <p:spPr>
          <a:xfrm>
            <a:off x="532263" y="616443"/>
            <a:ext cx="9785444" cy="369332"/>
          </a:xfrm>
          <a:prstGeom prst="rect">
            <a:avLst/>
          </a:prstGeom>
          <a:noFill/>
        </p:spPr>
        <p:txBody>
          <a:bodyPr wrap="square" rtlCol="0">
            <a:spAutoFit/>
          </a:bodyPr>
          <a:lstStyle/>
          <a:p>
            <a:r>
              <a:rPr lang="en-US" b="1" dirty="0"/>
              <a:t>3</a:t>
            </a:r>
            <a:r>
              <a:rPr lang="en-US" b="1" baseline="30000" dirty="0"/>
              <a:t>rd</a:t>
            </a:r>
            <a:r>
              <a:rPr lang="en-US" b="1" dirty="0"/>
              <a:t> floor result, verification, and implementation</a:t>
            </a:r>
          </a:p>
        </p:txBody>
      </p:sp>
      <p:pic>
        <p:nvPicPr>
          <p:cNvPr id="12" name="Picture 11">
            <a:extLst>
              <a:ext uri="{FF2B5EF4-FFF2-40B4-BE49-F238E27FC236}">
                <a16:creationId xmlns:a16="http://schemas.microsoft.com/office/drawing/2014/main" id="{84192CBB-7380-BB37-D19B-C6E7C115B727}"/>
              </a:ext>
            </a:extLst>
          </p:cNvPr>
          <p:cNvPicPr>
            <a:picLocks noChangeAspect="1"/>
          </p:cNvPicPr>
          <p:nvPr/>
        </p:nvPicPr>
        <p:blipFill>
          <a:blip r:embed="rId3"/>
          <a:stretch>
            <a:fillRect/>
          </a:stretch>
        </p:blipFill>
        <p:spPr>
          <a:xfrm>
            <a:off x="257655" y="985775"/>
            <a:ext cx="7188695" cy="3968362"/>
          </a:xfrm>
          <a:prstGeom prst="rect">
            <a:avLst/>
          </a:prstGeom>
        </p:spPr>
      </p:pic>
      <p:pic>
        <p:nvPicPr>
          <p:cNvPr id="14" name="Picture 13">
            <a:extLst>
              <a:ext uri="{FF2B5EF4-FFF2-40B4-BE49-F238E27FC236}">
                <a16:creationId xmlns:a16="http://schemas.microsoft.com/office/drawing/2014/main" id="{F140C14C-7603-58C2-68AD-AB0D016B4E21}"/>
              </a:ext>
            </a:extLst>
          </p:cNvPr>
          <p:cNvPicPr>
            <a:picLocks noChangeAspect="1"/>
          </p:cNvPicPr>
          <p:nvPr/>
        </p:nvPicPr>
        <p:blipFill>
          <a:blip r:embed="rId4"/>
          <a:stretch>
            <a:fillRect/>
          </a:stretch>
        </p:blipFill>
        <p:spPr>
          <a:xfrm>
            <a:off x="7122463" y="616443"/>
            <a:ext cx="3359018" cy="5223720"/>
          </a:xfrm>
          <a:prstGeom prst="rect">
            <a:avLst/>
          </a:prstGeom>
        </p:spPr>
      </p:pic>
      <p:sp>
        <p:nvSpPr>
          <p:cNvPr id="15" name="TextBox 14">
            <a:extLst>
              <a:ext uri="{FF2B5EF4-FFF2-40B4-BE49-F238E27FC236}">
                <a16:creationId xmlns:a16="http://schemas.microsoft.com/office/drawing/2014/main" id="{4CE0650D-C7EF-9280-C10A-B2715F234824}"/>
              </a:ext>
            </a:extLst>
          </p:cNvPr>
          <p:cNvSpPr txBox="1"/>
          <p:nvPr/>
        </p:nvSpPr>
        <p:spPr>
          <a:xfrm>
            <a:off x="1419367" y="5063319"/>
            <a:ext cx="4189863" cy="369332"/>
          </a:xfrm>
          <a:prstGeom prst="rect">
            <a:avLst/>
          </a:prstGeom>
          <a:noFill/>
        </p:spPr>
        <p:txBody>
          <a:bodyPr wrap="square" rtlCol="0">
            <a:spAutoFit/>
          </a:bodyPr>
          <a:lstStyle/>
          <a:p>
            <a:r>
              <a:rPr lang="en-US" b="1" dirty="0"/>
              <a:t>Cad drawing of 3</a:t>
            </a:r>
            <a:r>
              <a:rPr lang="en-US" b="1" baseline="30000" dirty="0"/>
              <a:t>rd</a:t>
            </a:r>
            <a:r>
              <a:rPr lang="en-US" b="1" dirty="0"/>
              <a:t> floor</a:t>
            </a:r>
          </a:p>
        </p:txBody>
      </p:sp>
      <p:sp>
        <p:nvSpPr>
          <p:cNvPr id="16" name="TextBox 15">
            <a:extLst>
              <a:ext uri="{FF2B5EF4-FFF2-40B4-BE49-F238E27FC236}">
                <a16:creationId xmlns:a16="http://schemas.microsoft.com/office/drawing/2014/main" id="{B9A00D8D-7A9D-143B-91A1-211658AA75B1}"/>
              </a:ext>
            </a:extLst>
          </p:cNvPr>
          <p:cNvSpPr txBox="1"/>
          <p:nvPr/>
        </p:nvSpPr>
        <p:spPr>
          <a:xfrm>
            <a:off x="7243286" y="5913844"/>
            <a:ext cx="3647628" cy="369332"/>
          </a:xfrm>
          <a:prstGeom prst="rect">
            <a:avLst/>
          </a:prstGeom>
          <a:noFill/>
        </p:spPr>
        <p:txBody>
          <a:bodyPr wrap="square" rtlCol="0">
            <a:spAutoFit/>
          </a:bodyPr>
          <a:lstStyle/>
          <a:p>
            <a:r>
              <a:rPr lang="en-US" b="1" dirty="0"/>
              <a:t>Walk testing result of 3</a:t>
            </a:r>
            <a:r>
              <a:rPr lang="en-US" b="1" baseline="30000" dirty="0"/>
              <a:t>rd</a:t>
            </a:r>
            <a:r>
              <a:rPr lang="en-US" b="1" dirty="0"/>
              <a:t> floor</a:t>
            </a:r>
          </a:p>
        </p:txBody>
      </p:sp>
    </p:spTree>
    <p:extLst>
      <p:ext uri="{BB962C8B-B14F-4D97-AF65-F5344CB8AC3E}">
        <p14:creationId xmlns:p14="http://schemas.microsoft.com/office/powerpoint/2010/main" val="348583731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3B6154D-121B-0C47-9508-E7F29D3E2406}"/>
              </a:ext>
            </a:extLst>
          </p:cNvPr>
          <p:cNvPicPr>
            <a:picLocks noChangeAspect="1"/>
          </p:cNvPicPr>
          <p:nvPr/>
        </p:nvPicPr>
        <p:blipFill>
          <a:blip r:embed="rId2"/>
          <a:stretch>
            <a:fillRect/>
          </a:stretch>
        </p:blipFill>
        <p:spPr>
          <a:xfrm>
            <a:off x="608834" y="206147"/>
            <a:ext cx="6654934" cy="3222853"/>
          </a:xfrm>
          <a:prstGeom prst="rect">
            <a:avLst/>
          </a:prstGeom>
        </p:spPr>
      </p:pic>
      <p:pic>
        <p:nvPicPr>
          <p:cNvPr id="5" name="Picture 4">
            <a:extLst>
              <a:ext uri="{FF2B5EF4-FFF2-40B4-BE49-F238E27FC236}">
                <a16:creationId xmlns:a16="http://schemas.microsoft.com/office/drawing/2014/main" id="{5962C794-A15C-7C02-DCD3-94C0C2C1A213}"/>
              </a:ext>
            </a:extLst>
          </p:cNvPr>
          <p:cNvPicPr>
            <a:picLocks noChangeAspect="1"/>
          </p:cNvPicPr>
          <p:nvPr/>
        </p:nvPicPr>
        <p:blipFill>
          <a:blip r:embed="rId3"/>
          <a:stretch>
            <a:fillRect/>
          </a:stretch>
        </p:blipFill>
        <p:spPr>
          <a:xfrm>
            <a:off x="608833" y="3568889"/>
            <a:ext cx="8357097" cy="3082964"/>
          </a:xfrm>
          <a:prstGeom prst="rect">
            <a:avLst/>
          </a:prstGeom>
        </p:spPr>
      </p:pic>
      <p:sp>
        <p:nvSpPr>
          <p:cNvPr id="6" name="Right Brace 5">
            <a:extLst>
              <a:ext uri="{FF2B5EF4-FFF2-40B4-BE49-F238E27FC236}">
                <a16:creationId xmlns:a16="http://schemas.microsoft.com/office/drawing/2014/main" id="{B2F4BDBB-1D2A-0B55-5E4B-68E3B64ABE94}"/>
              </a:ext>
            </a:extLst>
          </p:cNvPr>
          <p:cNvSpPr/>
          <p:nvPr/>
        </p:nvSpPr>
        <p:spPr>
          <a:xfrm>
            <a:off x="7629099" y="859809"/>
            <a:ext cx="1132764" cy="4940490"/>
          </a:xfrm>
          <a:prstGeom prst="rightBrace">
            <a:avLst/>
          </a:prstGeom>
        </p:spPr>
        <p:style>
          <a:lnRef idx="3">
            <a:schemeClr val="accent4"/>
          </a:lnRef>
          <a:fillRef idx="0">
            <a:schemeClr val="accent4"/>
          </a:fillRef>
          <a:effectRef idx="2">
            <a:schemeClr val="accent4"/>
          </a:effectRef>
          <a:fontRef idx="minor">
            <a:schemeClr val="tx1"/>
          </a:fontRef>
        </p:style>
        <p:txBody>
          <a:bodyPr rtlCol="0" anchor="ctr"/>
          <a:lstStyle/>
          <a:p>
            <a:pPr algn="ctr"/>
            <a:endParaRPr lang="en-US"/>
          </a:p>
        </p:txBody>
      </p:sp>
      <p:sp>
        <p:nvSpPr>
          <p:cNvPr id="7" name="TextBox 6">
            <a:extLst>
              <a:ext uri="{FF2B5EF4-FFF2-40B4-BE49-F238E27FC236}">
                <a16:creationId xmlns:a16="http://schemas.microsoft.com/office/drawing/2014/main" id="{556003C0-AF88-E4CE-E55C-518C1F504A18}"/>
              </a:ext>
            </a:extLst>
          </p:cNvPr>
          <p:cNvSpPr txBox="1"/>
          <p:nvPr/>
        </p:nvSpPr>
        <p:spPr>
          <a:xfrm>
            <a:off x="9062113" y="955343"/>
            <a:ext cx="2674962" cy="3416320"/>
          </a:xfrm>
          <a:prstGeom prst="rect">
            <a:avLst/>
          </a:prstGeom>
          <a:noFill/>
          <a:ln>
            <a:solidFill>
              <a:srgbClr val="002060"/>
            </a:solidFill>
          </a:ln>
        </p:spPr>
        <p:txBody>
          <a:bodyPr wrap="square" rtlCol="0">
            <a:spAutoFit/>
          </a:bodyPr>
          <a:lstStyle/>
          <a:p>
            <a:r>
              <a:rPr lang="en-US" b="1" dirty="0"/>
              <a:t>(MATLAB result)Signal strength seems acceptable for basic use on the 2nd floor based on the RSRP and RSRQ </a:t>
            </a:r>
          </a:p>
          <a:p>
            <a:r>
              <a:rPr lang="en-US" b="1" dirty="0"/>
              <a:t>values. However, the SNR is low, suggesting you might experience more frequent call drops or </a:t>
            </a:r>
          </a:p>
          <a:p>
            <a:r>
              <a:rPr lang="en-US" b="1" dirty="0"/>
              <a:t>slow data speeds compared to a higher SNR value.</a:t>
            </a:r>
          </a:p>
        </p:txBody>
      </p:sp>
    </p:spTree>
    <p:extLst>
      <p:ext uri="{BB962C8B-B14F-4D97-AF65-F5344CB8AC3E}">
        <p14:creationId xmlns:p14="http://schemas.microsoft.com/office/powerpoint/2010/main" val="309939889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73F70D4-A5A2-3D28-5613-559F730F1EE2}"/>
              </a:ext>
            </a:extLst>
          </p:cNvPr>
          <p:cNvPicPr>
            <a:picLocks noChangeAspect="1"/>
          </p:cNvPicPr>
          <p:nvPr/>
        </p:nvPicPr>
        <p:blipFill>
          <a:blip r:embed="rId2"/>
          <a:stretch>
            <a:fillRect/>
          </a:stretch>
        </p:blipFill>
        <p:spPr>
          <a:xfrm>
            <a:off x="458642" y="1595281"/>
            <a:ext cx="6897501" cy="3258005"/>
          </a:xfrm>
          <a:prstGeom prst="rect">
            <a:avLst/>
          </a:prstGeom>
        </p:spPr>
      </p:pic>
      <p:sp>
        <p:nvSpPr>
          <p:cNvPr id="4" name="TextBox 3">
            <a:extLst>
              <a:ext uri="{FF2B5EF4-FFF2-40B4-BE49-F238E27FC236}">
                <a16:creationId xmlns:a16="http://schemas.microsoft.com/office/drawing/2014/main" id="{54158435-A449-0CEA-8E70-6BF6540148E8}"/>
              </a:ext>
            </a:extLst>
          </p:cNvPr>
          <p:cNvSpPr txBox="1"/>
          <p:nvPr/>
        </p:nvSpPr>
        <p:spPr>
          <a:xfrm>
            <a:off x="832513" y="641445"/>
            <a:ext cx="5063320" cy="369332"/>
          </a:xfrm>
          <a:prstGeom prst="rect">
            <a:avLst/>
          </a:prstGeom>
          <a:noFill/>
        </p:spPr>
        <p:txBody>
          <a:bodyPr wrap="square" rtlCol="0">
            <a:spAutoFit/>
          </a:bodyPr>
          <a:lstStyle/>
          <a:p>
            <a:r>
              <a:rPr lang="en-US" b="1" dirty="0"/>
              <a:t>4</a:t>
            </a:r>
            <a:r>
              <a:rPr lang="en-US" b="1" baseline="30000" dirty="0"/>
              <a:t>th</a:t>
            </a:r>
            <a:r>
              <a:rPr lang="en-US" b="1" dirty="0"/>
              <a:t>  floor result, verification, and implementation</a:t>
            </a:r>
          </a:p>
        </p:txBody>
      </p:sp>
      <p:sp>
        <p:nvSpPr>
          <p:cNvPr id="7" name="TextBox 6">
            <a:extLst>
              <a:ext uri="{FF2B5EF4-FFF2-40B4-BE49-F238E27FC236}">
                <a16:creationId xmlns:a16="http://schemas.microsoft.com/office/drawing/2014/main" id="{F1C5310E-E6E9-E268-9479-7D47BF893427}"/>
              </a:ext>
            </a:extLst>
          </p:cNvPr>
          <p:cNvSpPr txBox="1"/>
          <p:nvPr/>
        </p:nvSpPr>
        <p:spPr>
          <a:xfrm>
            <a:off x="1965277" y="4848722"/>
            <a:ext cx="4585648" cy="369332"/>
          </a:xfrm>
          <a:prstGeom prst="rect">
            <a:avLst/>
          </a:prstGeom>
          <a:noFill/>
        </p:spPr>
        <p:txBody>
          <a:bodyPr wrap="square" rtlCol="0">
            <a:spAutoFit/>
          </a:bodyPr>
          <a:lstStyle/>
          <a:p>
            <a:r>
              <a:rPr lang="en-US" b="1" dirty="0"/>
              <a:t>4</a:t>
            </a:r>
            <a:r>
              <a:rPr lang="en-US" b="1" baseline="30000" dirty="0"/>
              <a:t>th</a:t>
            </a:r>
            <a:r>
              <a:rPr lang="en-US" b="1" dirty="0"/>
              <a:t>  floor cad drawing</a:t>
            </a:r>
          </a:p>
        </p:txBody>
      </p:sp>
      <p:sp>
        <p:nvSpPr>
          <p:cNvPr id="8" name="TextBox 7">
            <a:extLst>
              <a:ext uri="{FF2B5EF4-FFF2-40B4-BE49-F238E27FC236}">
                <a16:creationId xmlns:a16="http://schemas.microsoft.com/office/drawing/2014/main" id="{13356C2C-DC8C-69F0-FC2A-CF5FDDC4C9B9}"/>
              </a:ext>
            </a:extLst>
          </p:cNvPr>
          <p:cNvSpPr txBox="1"/>
          <p:nvPr/>
        </p:nvSpPr>
        <p:spPr>
          <a:xfrm>
            <a:off x="7178722" y="5459104"/>
            <a:ext cx="3507475" cy="369332"/>
          </a:xfrm>
          <a:prstGeom prst="rect">
            <a:avLst/>
          </a:prstGeom>
          <a:noFill/>
        </p:spPr>
        <p:txBody>
          <a:bodyPr wrap="square" rtlCol="0">
            <a:spAutoFit/>
          </a:bodyPr>
          <a:lstStyle/>
          <a:p>
            <a:r>
              <a:rPr lang="en-US" b="1" dirty="0"/>
              <a:t>Walk testing result of 4</a:t>
            </a:r>
            <a:r>
              <a:rPr lang="en-US" b="1" baseline="30000" dirty="0"/>
              <a:t>th</a:t>
            </a:r>
            <a:r>
              <a:rPr lang="en-US" b="1" dirty="0"/>
              <a:t> floor</a:t>
            </a:r>
          </a:p>
        </p:txBody>
      </p:sp>
      <p:pic>
        <p:nvPicPr>
          <p:cNvPr id="10" name="Picture 9">
            <a:extLst>
              <a:ext uri="{FF2B5EF4-FFF2-40B4-BE49-F238E27FC236}">
                <a16:creationId xmlns:a16="http://schemas.microsoft.com/office/drawing/2014/main" id="{B99FB60E-F7CD-15D8-FAB3-0F7550FA7249}"/>
              </a:ext>
            </a:extLst>
          </p:cNvPr>
          <p:cNvPicPr>
            <a:picLocks noChangeAspect="1"/>
          </p:cNvPicPr>
          <p:nvPr/>
        </p:nvPicPr>
        <p:blipFill>
          <a:blip r:embed="rId3"/>
          <a:stretch>
            <a:fillRect/>
          </a:stretch>
        </p:blipFill>
        <p:spPr>
          <a:xfrm>
            <a:off x="7571456" y="350100"/>
            <a:ext cx="2972215" cy="4867954"/>
          </a:xfrm>
          <a:prstGeom prst="rect">
            <a:avLst/>
          </a:prstGeom>
        </p:spPr>
      </p:pic>
    </p:spTree>
    <p:extLst>
      <p:ext uri="{BB962C8B-B14F-4D97-AF65-F5344CB8AC3E}">
        <p14:creationId xmlns:p14="http://schemas.microsoft.com/office/powerpoint/2010/main" val="128671493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B8BA75E7-5411-2AEA-D7E6-5A6442A32294}"/>
              </a:ext>
            </a:extLst>
          </p:cNvPr>
          <p:cNvPicPr>
            <a:picLocks noChangeAspect="1"/>
          </p:cNvPicPr>
          <p:nvPr/>
        </p:nvPicPr>
        <p:blipFill>
          <a:blip r:embed="rId2"/>
          <a:stretch>
            <a:fillRect/>
          </a:stretch>
        </p:blipFill>
        <p:spPr>
          <a:xfrm>
            <a:off x="304843" y="683381"/>
            <a:ext cx="5572903" cy="2962688"/>
          </a:xfrm>
          <a:prstGeom prst="rect">
            <a:avLst/>
          </a:prstGeom>
        </p:spPr>
      </p:pic>
      <p:pic>
        <p:nvPicPr>
          <p:cNvPr id="7" name="Picture 6">
            <a:extLst>
              <a:ext uri="{FF2B5EF4-FFF2-40B4-BE49-F238E27FC236}">
                <a16:creationId xmlns:a16="http://schemas.microsoft.com/office/drawing/2014/main" id="{1DE15D70-6D9B-EA85-5BFB-4F8EFC4C456A}"/>
              </a:ext>
            </a:extLst>
          </p:cNvPr>
          <p:cNvPicPr>
            <a:picLocks noChangeAspect="1"/>
          </p:cNvPicPr>
          <p:nvPr/>
        </p:nvPicPr>
        <p:blipFill>
          <a:blip r:embed="rId3"/>
          <a:stretch>
            <a:fillRect/>
          </a:stretch>
        </p:blipFill>
        <p:spPr>
          <a:xfrm>
            <a:off x="6314256" y="750064"/>
            <a:ext cx="5877744" cy="3589923"/>
          </a:xfrm>
          <a:prstGeom prst="rect">
            <a:avLst/>
          </a:prstGeom>
        </p:spPr>
      </p:pic>
      <p:sp>
        <p:nvSpPr>
          <p:cNvPr id="8" name="Right Brace 7">
            <a:extLst>
              <a:ext uri="{FF2B5EF4-FFF2-40B4-BE49-F238E27FC236}">
                <a16:creationId xmlns:a16="http://schemas.microsoft.com/office/drawing/2014/main" id="{28C3CF7D-7DC8-B3FA-F951-E7210E726505}"/>
              </a:ext>
            </a:extLst>
          </p:cNvPr>
          <p:cNvSpPr/>
          <p:nvPr/>
        </p:nvSpPr>
        <p:spPr>
          <a:xfrm rot="5400000">
            <a:off x="3940792" y="2726141"/>
            <a:ext cx="736979" cy="4251280"/>
          </a:xfrm>
          <a:prstGeom prst="rightBrace">
            <a:avLst/>
          </a:prstGeom>
        </p:spPr>
        <p:style>
          <a:lnRef idx="3">
            <a:schemeClr val="accent4"/>
          </a:lnRef>
          <a:fillRef idx="0">
            <a:schemeClr val="accent4"/>
          </a:fillRef>
          <a:effectRef idx="2">
            <a:schemeClr val="accent4"/>
          </a:effectRef>
          <a:fontRef idx="minor">
            <a:schemeClr val="tx1"/>
          </a:fontRef>
        </p:style>
        <p:txBody>
          <a:bodyPr rtlCol="0" anchor="ctr"/>
          <a:lstStyle/>
          <a:p>
            <a:pPr algn="ctr"/>
            <a:endParaRPr lang="en-US"/>
          </a:p>
        </p:txBody>
      </p:sp>
      <p:sp>
        <p:nvSpPr>
          <p:cNvPr id="9" name="TextBox 8">
            <a:extLst>
              <a:ext uri="{FF2B5EF4-FFF2-40B4-BE49-F238E27FC236}">
                <a16:creationId xmlns:a16="http://schemas.microsoft.com/office/drawing/2014/main" id="{E278CAD3-33DB-05DD-DDF4-001D41EFFBE7}"/>
              </a:ext>
            </a:extLst>
          </p:cNvPr>
          <p:cNvSpPr txBox="1"/>
          <p:nvPr/>
        </p:nvSpPr>
        <p:spPr>
          <a:xfrm>
            <a:off x="614149" y="5459104"/>
            <a:ext cx="8830102" cy="646331"/>
          </a:xfrm>
          <a:prstGeom prst="rect">
            <a:avLst/>
          </a:prstGeom>
          <a:noFill/>
        </p:spPr>
        <p:txBody>
          <a:bodyPr wrap="square" rtlCol="0">
            <a:spAutoFit/>
          </a:bodyPr>
          <a:lstStyle/>
          <a:p>
            <a:r>
              <a:rPr lang="en-US" b="1" dirty="0"/>
              <a:t>(</a:t>
            </a:r>
            <a:r>
              <a:rPr lang="en-US" b="1" dirty="0" err="1"/>
              <a:t>Matlab</a:t>
            </a:r>
            <a:r>
              <a:rPr lang="en-US" b="1" dirty="0"/>
              <a:t>)Overall, the signal strength appears weak based on the RSRP and SNR values. You're likely to experience frequent call drops and slow data speeds on the 4th floor</a:t>
            </a:r>
          </a:p>
        </p:txBody>
      </p:sp>
    </p:spTree>
    <p:extLst>
      <p:ext uri="{BB962C8B-B14F-4D97-AF65-F5344CB8AC3E}">
        <p14:creationId xmlns:p14="http://schemas.microsoft.com/office/powerpoint/2010/main" val="37609068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67F8AAD-8982-400C-2174-1FA8CA953D0C}"/>
              </a:ext>
            </a:extLst>
          </p:cNvPr>
          <p:cNvSpPr txBox="1"/>
          <p:nvPr/>
        </p:nvSpPr>
        <p:spPr>
          <a:xfrm>
            <a:off x="358254" y="409011"/>
            <a:ext cx="6093724" cy="923330"/>
          </a:xfrm>
          <a:prstGeom prst="rect">
            <a:avLst/>
          </a:prstGeom>
          <a:noFill/>
        </p:spPr>
        <p:txBody>
          <a:bodyPr wrap="square">
            <a:spAutoFit/>
          </a:bodyPr>
          <a:lstStyle/>
          <a:p>
            <a:r>
              <a:rPr lang="en-US" b="1" dirty="0"/>
              <a:t>5th  floor result, verification, and implementation</a:t>
            </a:r>
          </a:p>
          <a:p>
            <a:endParaRPr lang="en-US" b="1" dirty="0"/>
          </a:p>
          <a:p>
            <a:endParaRPr lang="en-US" b="1" dirty="0"/>
          </a:p>
        </p:txBody>
      </p:sp>
      <p:pic>
        <p:nvPicPr>
          <p:cNvPr id="5" name="Picture 4">
            <a:extLst>
              <a:ext uri="{FF2B5EF4-FFF2-40B4-BE49-F238E27FC236}">
                <a16:creationId xmlns:a16="http://schemas.microsoft.com/office/drawing/2014/main" id="{B7739A35-8509-A1F9-A4FC-E1E600FBA708}"/>
              </a:ext>
            </a:extLst>
          </p:cNvPr>
          <p:cNvPicPr>
            <a:picLocks noChangeAspect="1"/>
          </p:cNvPicPr>
          <p:nvPr/>
        </p:nvPicPr>
        <p:blipFill>
          <a:blip r:embed="rId2"/>
          <a:stretch>
            <a:fillRect/>
          </a:stretch>
        </p:blipFill>
        <p:spPr>
          <a:xfrm>
            <a:off x="0" y="1018396"/>
            <a:ext cx="6823881" cy="4029637"/>
          </a:xfrm>
          <a:prstGeom prst="rect">
            <a:avLst/>
          </a:prstGeom>
        </p:spPr>
      </p:pic>
      <p:pic>
        <p:nvPicPr>
          <p:cNvPr id="7" name="Picture 6">
            <a:extLst>
              <a:ext uri="{FF2B5EF4-FFF2-40B4-BE49-F238E27FC236}">
                <a16:creationId xmlns:a16="http://schemas.microsoft.com/office/drawing/2014/main" id="{34B24503-D2B6-CF6B-0919-292254BB9977}"/>
              </a:ext>
            </a:extLst>
          </p:cNvPr>
          <p:cNvPicPr>
            <a:picLocks noChangeAspect="1"/>
          </p:cNvPicPr>
          <p:nvPr/>
        </p:nvPicPr>
        <p:blipFill>
          <a:blip r:embed="rId3"/>
          <a:stretch>
            <a:fillRect/>
          </a:stretch>
        </p:blipFill>
        <p:spPr>
          <a:xfrm>
            <a:off x="7182135" y="772737"/>
            <a:ext cx="3820478" cy="4275296"/>
          </a:xfrm>
          <a:prstGeom prst="rect">
            <a:avLst/>
          </a:prstGeom>
        </p:spPr>
      </p:pic>
      <p:sp>
        <p:nvSpPr>
          <p:cNvPr id="8" name="TextBox 7">
            <a:extLst>
              <a:ext uri="{FF2B5EF4-FFF2-40B4-BE49-F238E27FC236}">
                <a16:creationId xmlns:a16="http://schemas.microsoft.com/office/drawing/2014/main" id="{34340D27-A2A7-A56A-C7B1-4A990C261171}"/>
              </a:ext>
            </a:extLst>
          </p:cNvPr>
          <p:cNvSpPr txBox="1"/>
          <p:nvPr/>
        </p:nvSpPr>
        <p:spPr>
          <a:xfrm>
            <a:off x="1596788" y="5105106"/>
            <a:ext cx="4312692" cy="369332"/>
          </a:xfrm>
          <a:prstGeom prst="rect">
            <a:avLst/>
          </a:prstGeom>
          <a:noFill/>
        </p:spPr>
        <p:txBody>
          <a:bodyPr wrap="square" rtlCol="0">
            <a:spAutoFit/>
          </a:bodyPr>
          <a:lstStyle/>
          <a:p>
            <a:r>
              <a:rPr lang="en-US" b="1" dirty="0"/>
              <a:t>Cad drawing of the 5</a:t>
            </a:r>
            <a:r>
              <a:rPr lang="en-US" b="1" baseline="30000" dirty="0"/>
              <a:t>th</a:t>
            </a:r>
            <a:r>
              <a:rPr lang="en-US" b="1" dirty="0"/>
              <a:t> floor</a:t>
            </a:r>
          </a:p>
        </p:txBody>
      </p:sp>
      <p:sp>
        <p:nvSpPr>
          <p:cNvPr id="9" name="TextBox 8">
            <a:extLst>
              <a:ext uri="{FF2B5EF4-FFF2-40B4-BE49-F238E27FC236}">
                <a16:creationId xmlns:a16="http://schemas.microsoft.com/office/drawing/2014/main" id="{9B15545D-C51E-0B80-1361-F185DA0BC21D}"/>
              </a:ext>
            </a:extLst>
          </p:cNvPr>
          <p:cNvSpPr txBox="1"/>
          <p:nvPr/>
        </p:nvSpPr>
        <p:spPr>
          <a:xfrm>
            <a:off x="7997588" y="5291458"/>
            <a:ext cx="3357349" cy="369332"/>
          </a:xfrm>
          <a:prstGeom prst="rect">
            <a:avLst/>
          </a:prstGeom>
          <a:noFill/>
        </p:spPr>
        <p:txBody>
          <a:bodyPr wrap="square" rtlCol="0">
            <a:spAutoFit/>
          </a:bodyPr>
          <a:lstStyle/>
          <a:p>
            <a:r>
              <a:rPr lang="en-US" b="1" dirty="0"/>
              <a:t>Walk testing</a:t>
            </a:r>
          </a:p>
        </p:txBody>
      </p:sp>
    </p:spTree>
    <p:extLst>
      <p:ext uri="{BB962C8B-B14F-4D97-AF65-F5344CB8AC3E}">
        <p14:creationId xmlns:p14="http://schemas.microsoft.com/office/powerpoint/2010/main" val="111049155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92FEE88-1762-87AB-139D-180F55A4B244}"/>
              </a:ext>
            </a:extLst>
          </p:cNvPr>
          <p:cNvPicPr>
            <a:picLocks noChangeAspect="1"/>
          </p:cNvPicPr>
          <p:nvPr/>
        </p:nvPicPr>
        <p:blipFill>
          <a:blip r:embed="rId2"/>
          <a:stretch>
            <a:fillRect/>
          </a:stretch>
        </p:blipFill>
        <p:spPr>
          <a:xfrm>
            <a:off x="634587" y="371048"/>
            <a:ext cx="6437209" cy="3532212"/>
          </a:xfrm>
          <a:prstGeom prst="rect">
            <a:avLst/>
          </a:prstGeom>
        </p:spPr>
      </p:pic>
      <p:pic>
        <p:nvPicPr>
          <p:cNvPr id="5" name="Picture 4">
            <a:extLst>
              <a:ext uri="{FF2B5EF4-FFF2-40B4-BE49-F238E27FC236}">
                <a16:creationId xmlns:a16="http://schemas.microsoft.com/office/drawing/2014/main" id="{DB1DD7C1-8FEC-5452-1F25-D6C1681457C9}"/>
              </a:ext>
            </a:extLst>
          </p:cNvPr>
          <p:cNvPicPr>
            <a:picLocks noChangeAspect="1"/>
          </p:cNvPicPr>
          <p:nvPr/>
        </p:nvPicPr>
        <p:blipFill>
          <a:blip r:embed="rId3"/>
          <a:stretch>
            <a:fillRect/>
          </a:stretch>
        </p:blipFill>
        <p:spPr>
          <a:xfrm>
            <a:off x="616390" y="4067107"/>
            <a:ext cx="6753401" cy="2632681"/>
          </a:xfrm>
          <a:prstGeom prst="rect">
            <a:avLst/>
          </a:prstGeom>
        </p:spPr>
      </p:pic>
      <p:sp>
        <p:nvSpPr>
          <p:cNvPr id="6" name="Right Brace 5">
            <a:extLst>
              <a:ext uri="{FF2B5EF4-FFF2-40B4-BE49-F238E27FC236}">
                <a16:creationId xmlns:a16="http://schemas.microsoft.com/office/drawing/2014/main" id="{29F0BDBD-5AF5-B106-D76B-94F7BDF6EA71}"/>
              </a:ext>
            </a:extLst>
          </p:cNvPr>
          <p:cNvSpPr/>
          <p:nvPr/>
        </p:nvSpPr>
        <p:spPr>
          <a:xfrm>
            <a:off x="7724633" y="1105469"/>
            <a:ext cx="1255594" cy="4490113"/>
          </a:xfrm>
          <a:prstGeom prst="rightBrace">
            <a:avLst/>
          </a:prstGeom>
        </p:spPr>
        <p:style>
          <a:lnRef idx="3">
            <a:schemeClr val="accent4"/>
          </a:lnRef>
          <a:fillRef idx="0">
            <a:schemeClr val="accent4"/>
          </a:fillRef>
          <a:effectRef idx="2">
            <a:schemeClr val="accent4"/>
          </a:effectRef>
          <a:fontRef idx="minor">
            <a:schemeClr val="tx1"/>
          </a:fontRef>
        </p:style>
        <p:txBody>
          <a:bodyPr rtlCol="0" anchor="ctr"/>
          <a:lstStyle/>
          <a:p>
            <a:pPr algn="ctr"/>
            <a:endParaRPr lang="en-US"/>
          </a:p>
        </p:txBody>
      </p:sp>
      <p:sp>
        <p:nvSpPr>
          <p:cNvPr id="7" name="TextBox 6">
            <a:extLst>
              <a:ext uri="{FF2B5EF4-FFF2-40B4-BE49-F238E27FC236}">
                <a16:creationId xmlns:a16="http://schemas.microsoft.com/office/drawing/2014/main" id="{4C9ACEEC-6138-1655-5DE3-1BE0050B7643}"/>
              </a:ext>
            </a:extLst>
          </p:cNvPr>
          <p:cNvSpPr txBox="1"/>
          <p:nvPr/>
        </p:nvSpPr>
        <p:spPr>
          <a:xfrm>
            <a:off x="9335069" y="1228299"/>
            <a:ext cx="1869743" cy="3139321"/>
          </a:xfrm>
          <a:prstGeom prst="rect">
            <a:avLst/>
          </a:prstGeom>
          <a:noFill/>
          <a:ln>
            <a:solidFill>
              <a:srgbClr val="002060"/>
            </a:solidFill>
          </a:ln>
        </p:spPr>
        <p:txBody>
          <a:bodyPr wrap="square" rtlCol="0">
            <a:spAutoFit/>
          </a:bodyPr>
          <a:lstStyle/>
          <a:p>
            <a:r>
              <a:rPr lang="en-US" b="1" dirty="0"/>
              <a:t>Overall, the signal strength on the 5th floor appears good based on the RSRP, RSRQ, and SNR </a:t>
            </a:r>
          </a:p>
          <a:p>
            <a:r>
              <a:rPr lang="en-US" b="1" dirty="0"/>
              <a:t>values. Experience good call quality and data speeds.</a:t>
            </a:r>
          </a:p>
        </p:txBody>
      </p:sp>
    </p:spTree>
    <p:extLst>
      <p:ext uri="{BB962C8B-B14F-4D97-AF65-F5344CB8AC3E}">
        <p14:creationId xmlns:p14="http://schemas.microsoft.com/office/powerpoint/2010/main" val="313242652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CDB07DC-7694-B863-EC02-78D485E60067}"/>
              </a:ext>
            </a:extLst>
          </p:cNvPr>
          <p:cNvSpPr txBox="1"/>
          <p:nvPr/>
        </p:nvSpPr>
        <p:spPr>
          <a:xfrm>
            <a:off x="1323833" y="532263"/>
            <a:ext cx="8871045" cy="646331"/>
          </a:xfrm>
          <a:prstGeom prst="rect">
            <a:avLst/>
          </a:prstGeom>
          <a:noFill/>
        </p:spPr>
        <p:txBody>
          <a:bodyPr wrap="square" rtlCol="0">
            <a:spAutoFit/>
          </a:bodyPr>
          <a:lstStyle/>
          <a:p>
            <a:r>
              <a:rPr lang="en-US" sz="3600" b="1" dirty="0"/>
              <a:t>Conclusion</a:t>
            </a:r>
          </a:p>
        </p:txBody>
      </p:sp>
      <p:sp>
        <p:nvSpPr>
          <p:cNvPr id="5" name="TextBox 4">
            <a:extLst>
              <a:ext uri="{FF2B5EF4-FFF2-40B4-BE49-F238E27FC236}">
                <a16:creationId xmlns:a16="http://schemas.microsoft.com/office/drawing/2014/main" id="{77663FB4-4096-130C-80B6-BE2FD04BE3EC}"/>
              </a:ext>
            </a:extLst>
          </p:cNvPr>
          <p:cNvSpPr txBox="1"/>
          <p:nvPr/>
        </p:nvSpPr>
        <p:spPr>
          <a:xfrm>
            <a:off x="1978925" y="1514901"/>
            <a:ext cx="7342496" cy="3139321"/>
          </a:xfrm>
          <a:prstGeom prst="rect">
            <a:avLst/>
          </a:prstGeom>
          <a:noFill/>
        </p:spPr>
        <p:txBody>
          <a:bodyPr wrap="square" rtlCol="0">
            <a:spAutoFit/>
          </a:bodyPr>
          <a:lstStyle/>
          <a:p>
            <a:r>
              <a:rPr lang="en-US" b="1" dirty="0"/>
              <a:t>Improved User Experience</a:t>
            </a:r>
            <a:r>
              <a:rPr lang="en-US" dirty="0"/>
              <a:t>: By identifying and addressing weak reception areas, the project will significantly enhance cellular connectivity for occupants within the Zenith building.</a:t>
            </a:r>
          </a:p>
          <a:p>
            <a:endParaRPr lang="en-US" dirty="0"/>
          </a:p>
          <a:p>
            <a:r>
              <a:rPr lang="en-US" b="1" dirty="0"/>
              <a:t>Enhanced Campus Infrastructure</a:t>
            </a:r>
            <a:r>
              <a:rPr lang="en-US" dirty="0"/>
              <a:t>: Implementing the model ensures reliable cellular service throughout the building, benefiting both occupants and stakeholders on campus.</a:t>
            </a:r>
          </a:p>
          <a:p>
            <a:endParaRPr lang="en-US" dirty="0"/>
          </a:p>
          <a:p>
            <a:r>
              <a:rPr lang="en-US" b="1" dirty="0"/>
              <a:t>Advancement in In-Building Communication</a:t>
            </a:r>
            <a:r>
              <a:rPr lang="en-US" dirty="0"/>
              <a:t>: This project serves as a testament to the team's dedication to improving indoor cellular communication systems</a:t>
            </a:r>
          </a:p>
        </p:txBody>
      </p:sp>
    </p:spTree>
    <p:extLst>
      <p:ext uri="{BB962C8B-B14F-4D97-AF65-F5344CB8AC3E}">
        <p14:creationId xmlns:p14="http://schemas.microsoft.com/office/powerpoint/2010/main" val="13267760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150</TotalTime>
  <Words>1052</Words>
  <Application>Microsoft Office PowerPoint</Application>
  <PresentationFormat>Widescreen</PresentationFormat>
  <Paragraphs>125</Paragraphs>
  <Slides>21</Slides>
  <Notes>0</Notes>
  <HiddenSlides>0</HiddenSlides>
  <MMClips>0</MMClips>
  <ScaleCrop>false</ScaleCrop>
  <HeadingPairs>
    <vt:vector size="6" baseType="variant">
      <vt:variant>
        <vt:lpstr>Fonts Used</vt:lpstr>
      </vt:variant>
      <vt:variant>
        <vt:i4>4</vt:i4>
      </vt:variant>
      <vt:variant>
        <vt:lpstr>Theme</vt:lpstr>
      </vt:variant>
      <vt:variant>
        <vt:i4>2</vt:i4>
      </vt:variant>
      <vt:variant>
        <vt:lpstr>Slide Titles</vt:lpstr>
      </vt:variant>
      <vt:variant>
        <vt:i4>21</vt:i4>
      </vt:variant>
    </vt:vector>
  </HeadingPairs>
  <TitlesOfParts>
    <vt:vector size="27" baseType="lpstr">
      <vt:lpstr>Arial</vt:lpstr>
      <vt:lpstr>Arial MT</vt:lpstr>
      <vt:lpstr>Calibri</vt:lpstr>
      <vt:lpstr>Calibri Light</vt:lpstr>
      <vt:lpstr>Office Theme</vt:lpstr>
      <vt:lpstr>1_Office Theme</vt:lpstr>
      <vt:lpstr>Determination and verification  of cellular  mobile reception indoor terrain model for zenith building cinec campus</vt:lpstr>
      <vt:lpstr>Introduction, Objective, Gap, Novelty</vt:lpstr>
      <vt:lpstr>Deliverables</vt:lpstr>
      <vt:lpstr>PROJECT METHODOLOGY</vt:lpstr>
      <vt:lpstr>PROJECT METHODOLOGY</vt:lpstr>
      <vt:lpstr>PROJECT METHODOLOGY</vt:lpstr>
      <vt:lpstr>       Solution _(Install DAS Repeater System)</vt:lpstr>
      <vt:lpstr>PowerPoint Presentation</vt:lpstr>
      <vt:lpstr>Results and discussion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Determination and verification  of cellular  mobile reception indoor terrain model for zenith building cinec campus</dc:title>
  <dc:creator>Minal Parinda</dc:creator>
  <cp:lastModifiedBy>Akilaa Shashiduni</cp:lastModifiedBy>
  <cp:revision>4</cp:revision>
  <dcterms:created xsi:type="dcterms:W3CDTF">2024-05-15T06:53:23Z</dcterms:created>
  <dcterms:modified xsi:type="dcterms:W3CDTF">2024-05-15T14:06:42Z</dcterms:modified>
</cp:coreProperties>
</file>